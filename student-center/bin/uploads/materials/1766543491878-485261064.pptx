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Override1.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475" r:id="rId1"/>
  </p:sldMasterIdLst>
  <p:notesMasterIdLst>
    <p:notesMasterId r:id="rId41"/>
  </p:notesMasterIdLst>
  <p:sldIdLst>
    <p:sldId id="952" r:id="rId2"/>
    <p:sldId id="953" r:id="rId3"/>
    <p:sldId id="954" r:id="rId4"/>
    <p:sldId id="955" r:id="rId5"/>
    <p:sldId id="956" r:id="rId6"/>
    <p:sldId id="957" r:id="rId7"/>
    <p:sldId id="1046" r:id="rId8"/>
    <p:sldId id="959" r:id="rId9"/>
    <p:sldId id="960" r:id="rId10"/>
    <p:sldId id="961" r:id="rId11"/>
    <p:sldId id="963" r:id="rId12"/>
    <p:sldId id="1047" r:id="rId13"/>
    <p:sldId id="965" r:id="rId14"/>
    <p:sldId id="966" r:id="rId15"/>
    <p:sldId id="1048" r:id="rId16"/>
    <p:sldId id="1049" r:id="rId17"/>
    <p:sldId id="969" r:id="rId18"/>
    <p:sldId id="1050" r:id="rId19"/>
    <p:sldId id="971" r:id="rId20"/>
    <p:sldId id="972" r:id="rId21"/>
    <p:sldId id="1114" r:id="rId22"/>
    <p:sldId id="1115" r:id="rId23"/>
    <p:sldId id="1164" r:id="rId24"/>
    <p:sldId id="1163" r:id="rId25"/>
    <p:sldId id="974" r:id="rId26"/>
    <p:sldId id="975" r:id="rId27"/>
    <p:sldId id="976" r:id="rId28"/>
    <p:sldId id="977" r:id="rId29"/>
    <p:sldId id="978" r:id="rId30"/>
    <p:sldId id="1052" r:id="rId31"/>
    <p:sldId id="1120" r:id="rId32"/>
    <p:sldId id="1121" r:id="rId33"/>
    <p:sldId id="1124" r:id="rId34"/>
    <p:sldId id="1122" r:id="rId35"/>
    <p:sldId id="1125" r:id="rId36"/>
    <p:sldId id="1126" r:id="rId37"/>
    <p:sldId id="1129" r:id="rId38"/>
    <p:sldId id="984" r:id="rId39"/>
    <p:sldId id="1279" r:id="rId40"/>
  </p:sldIdLst>
  <p:sldSz cx="9144000" cy="5143500" type="screen16x9"/>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itchFamily="34" charset="0"/>
        <a:ea typeface="+mn-ea"/>
        <a:cs typeface="+mn-cs"/>
      </a:defRPr>
    </a:lvl5pPr>
    <a:lvl6pPr marL="2286000" algn="l" defTabSz="914400" rtl="0" eaLnBrk="1" latinLnBrk="0" hangingPunct="1">
      <a:defRPr sz="2400" kern="1200">
        <a:solidFill>
          <a:schemeClr val="tx1"/>
        </a:solidFill>
        <a:latin typeface="Arial" pitchFamily="34" charset="0"/>
        <a:ea typeface="+mn-ea"/>
        <a:cs typeface="+mn-cs"/>
      </a:defRPr>
    </a:lvl6pPr>
    <a:lvl7pPr marL="2743200" algn="l" defTabSz="914400" rtl="0" eaLnBrk="1" latinLnBrk="0" hangingPunct="1">
      <a:defRPr sz="2400" kern="1200">
        <a:solidFill>
          <a:schemeClr val="tx1"/>
        </a:solidFill>
        <a:latin typeface="Arial" pitchFamily="34" charset="0"/>
        <a:ea typeface="+mn-ea"/>
        <a:cs typeface="+mn-cs"/>
      </a:defRPr>
    </a:lvl7pPr>
    <a:lvl8pPr marL="3200400" algn="l" defTabSz="914400" rtl="0" eaLnBrk="1" latinLnBrk="0" hangingPunct="1">
      <a:defRPr sz="2400" kern="1200">
        <a:solidFill>
          <a:schemeClr val="tx1"/>
        </a:solidFill>
        <a:latin typeface="Arial" pitchFamily="34" charset="0"/>
        <a:ea typeface="+mn-ea"/>
        <a:cs typeface="+mn-cs"/>
      </a:defRPr>
    </a:lvl8pPr>
    <a:lvl9pPr marL="3657600" algn="l" defTabSz="914400" rtl="0" eaLnBrk="1" latinLnBrk="0" hangingPunct="1">
      <a:defRPr sz="2400"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FF"/>
    <a:srgbClr val="003399"/>
    <a:srgbClr val="FF0000"/>
    <a:srgbClr val="EEF4BA"/>
    <a:srgbClr val="FF3399"/>
    <a:srgbClr val="0066FF"/>
    <a:srgbClr val="000066"/>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344" autoAdjust="0"/>
    <p:restoredTop sz="95284" autoAdjust="0"/>
  </p:normalViewPr>
  <p:slideViewPr>
    <p:cSldViewPr>
      <p:cViewPr varScale="1">
        <p:scale>
          <a:sx n="84" d="100"/>
          <a:sy n="84" d="100"/>
        </p:scale>
        <p:origin x="1056" y="52"/>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093"/>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19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Arial" charset="0"/>
              </a:defRPr>
            </a:lvl1pPr>
          </a:lstStyle>
          <a:p>
            <a:pPr>
              <a:defRPr/>
            </a:pPr>
            <a:endParaRPr lang="en-US"/>
          </a:p>
        </p:txBody>
      </p:sp>
      <p:sp>
        <p:nvSpPr>
          <p:cNvPr id="21197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30720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1973" name="Rectangle 5"/>
          <p:cNvSpPr>
            <a:spLocks noGrp="1" noChangeArrowheads="1"/>
          </p:cNvSpPr>
          <p:nvPr>
            <p:ph type="body" sz="quarter" idx="3"/>
          </p:nvPr>
        </p:nvSpPr>
        <p:spPr bwMode="auto">
          <a:xfrm>
            <a:off x="685800" y="4341813"/>
            <a:ext cx="5486400" cy="41163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197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US"/>
          </a:p>
        </p:txBody>
      </p:sp>
      <p:sp>
        <p:nvSpPr>
          <p:cNvPr id="21197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charset="0"/>
              </a:defRPr>
            </a:lvl1pPr>
          </a:lstStyle>
          <a:p>
            <a:pPr>
              <a:defRPr/>
            </a:pPr>
            <a:fld id="{86670204-95E3-4F1E-8986-1E95194BB1E8}" type="slidenum">
              <a:rPr lang="en-US" altLang="en-US"/>
              <a:pPr>
                <a:defRPr/>
              </a:pPr>
              <a:t>‹#›</a:t>
            </a:fld>
            <a:endParaRPr lang="en-US" altLang="en-US"/>
          </a:p>
        </p:txBody>
      </p:sp>
    </p:spTree>
    <p:extLst>
      <p:ext uri="{BB962C8B-B14F-4D97-AF65-F5344CB8AC3E}">
        <p14:creationId xmlns:p14="http://schemas.microsoft.com/office/powerpoint/2010/main" val="40082583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en.wikipedia.org/wiki/Pseudocode"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www.atlassian.com/it-unplugged/devops" TargetMode="External"/><Relationship Id="rId2" Type="http://schemas.openxmlformats.org/officeDocument/2006/relationships/slide" Target="../slides/slide32.xml"/><Relationship Id="rId1" Type="http://schemas.openxmlformats.org/officeDocument/2006/relationships/notesMaster" Target="../notesMasters/notesMaster1.xml"/><Relationship Id="rId5" Type="http://schemas.openxmlformats.org/officeDocument/2006/relationships/hyperlink" Target="http://www.jedi.be/blog/2009/12/22/charting-out-devops-ideas/" TargetMode="External"/><Relationship Id="rId4" Type="http://schemas.openxmlformats.org/officeDocument/2006/relationships/hyperlink" Target="https://www.atlassian.com/agile/devops" TargetMode="Externa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07F84932-6019-4CFD-BC60-CB43F9870EA7}" type="slidenum">
              <a:rPr lang="en-US" altLang="en-US" sz="1200" smtClean="0"/>
              <a:pPr/>
              <a:t>1</a:t>
            </a:fld>
            <a:endParaRPr lang="en-US" altLang="en-US" sz="1200"/>
          </a:p>
        </p:txBody>
      </p:sp>
      <p:sp>
        <p:nvSpPr>
          <p:cNvPr id="308227" name="Rectangle 2"/>
          <p:cNvSpPr>
            <a:spLocks noGrp="1" noRot="1" noChangeAspect="1" noChangeArrowheads="1" noTextEdit="1"/>
          </p:cNvSpPr>
          <p:nvPr>
            <p:ph type="sldImg"/>
          </p:nvPr>
        </p:nvSpPr>
        <p:spPr>
          <a:ln/>
        </p:spPr>
      </p:sp>
      <p:sp>
        <p:nvSpPr>
          <p:cNvPr id="308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FECD2739-E3D0-496B-BC1F-1A0FC3EABBF1}" type="slidenum">
              <a:rPr lang="en-US" altLang="en-US" sz="1200" smtClean="0"/>
              <a:pPr/>
              <a:t>2</a:t>
            </a:fld>
            <a:endParaRPr lang="en-US" altLang="en-US" sz="1200"/>
          </a:p>
        </p:txBody>
      </p:sp>
      <p:sp>
        <p:nvSpPr>
          <p:cNvPr id="309251" name="Rectangle 2"/>
          <p:cNvSpPr>
            <a:spLocks noGrp="1" noRot="1" noChangeAspect="1" noChangeArrowheads="1" noTextEdit="1"/>
          </p:cNvSpPr>
          <p:nvPr>
            <p:ph type="sldImg"/>
          </p:nvPr>
        </p:nvSpPr>
        <p:spPr>
          <a:ln/>
        </p:spPr>
      </p:sp>
      <p:sp>
        <p:nvSpPr>
          <p:cNvPr id="309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37FAB174-03A2-4B6F-984E-73D2FE5B2E01}" type="slidenum">
              <a:rPr lang="en-US" altLang="en-US" sz="1200" smtClean="0"/>
              <a:pPr/>
              <a:t>3</a:t>
            </a:fld>
            <a:endParaRPr lang="en-US" altLang="en-US" sz="1200"/>
          </a:p>
        </p:txBody>
      </p:sp>
      <p:sp>
        <p:nvSpPr>
          <p:cNvPr id="310275" name="Rectangle 2"/>
          <p:cNvSpPr>
            <a:spLocks noGrp="1" noRot="1" noChangeAspect="1" noChangeArrowheads="1" noTextEdit="1"/>
          </p:cNvSpPr>
          <p:nvPr>
            <p:ph type="sldImg"/>
          </p:nvPr>
        </p:nvSpPr>
        <p:spPr>
          <a:ln/>
        </p:spPr>
      </p:sp>
      <p:sp>
        <p:nvSpPr>
          <p:cNvPr id="310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BF7291DE-E540-45AC-AD11-A5E9FA5627A4}" type="slidenum">
              <a:rPr lang="en-US" altLang="en-US" sz="1200" smtClean="0"/>
              <a:pPr/>
              <a:t>4</a:t>
            </a:fld>
            <a:endParaRPr lang="en-US" altLang="en-US" sz="1200"/>
          </a:p>
        </p:txBody>
      </p:sp>
      <p:sp>
        <p:nvSpPr>
          <p:cNvPr id="311299" name="Rectangle 2"/>
          <p:cNvSpPr>
            <a:spLocks noGrp="1" noRot="1" noChangeAspect="1" noChangeArrowheads="1" noTextEdit="1"/>
          </p:cNvSpPr>
          <p:nvPr>
            <p:ph type="sldImg"/>
          </p:nvPr>
        </p:nvSpPr>
        <p:spPr>
          <a:xfrm>
            <a:off x="384175" y="685800"/>
            <a:ext cx="6094413" cy="3429000"/>
          </a:xfrm>
          <a:ln/>
        </p:spPr>
      </p:sp>
      <p:sp>
        <p:nvSpPr>
          <p:cNvPr id="311300" name="Rectangle 3"/>
          <p:cNvSpPr>
            <a:spLocks noGrp="1" noChangeArrowheads="1"/>
          </p:cNvSpPr>
          <p:nvPr>
            <p:ph type="body" idx="1"/>
          </p:nvPr>
        </p:nvSpPr>
        <p:spPr>
          <a:xfrm>
            <a:off x="914400" y="4341813"/>
            <a:ext cx="5029200" cy="41163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Arial" pitchFamily="34" charset="0"/>
              </a:rPr>
              <a:t> In this chapter, we want to give an overview of various software development life cycles (SDLC). This is essential to software testing because with each type of SDLC comes with a different style of how software is developed. With each style, it requires different method of communication and documentation. Therefore, it will affect the software testing activities, when what test activities will begin.</a:t>
            </a:r>
          </a:p>
          <a:p>
            <a:pPr eaLnBrk="1" hangingPunct="1">
              <a:buFontTx/>
              <a:buChar char="•"/>
            </a:pPr>
            <a:r>
              <a:rPr lang="en-US" altLang="en-US">
                <a:latin typeface="Arial" pitchFamily="34" charset="0"/>
              </a:rPr>
              <a:t> Another very essential concept in this chapter is how test phases and milestone are defined and enforced. If the phases and milestone not well defined and rigorously enforced, then the SDLC is meaningless. More will be discussed later.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CE046472-59F0-41DB-AF9B-5B80F941A94D}" type="slidenum">
              <a:rPr lang="en-US" altLang="en-US" sz="1200" smtClean="0"/>
              <a:pPr/>
              <a:t>5</a:t>
            </a:fld>
            <a:endParaRPr lang="en-US" altLang="en-US" sz="1200"/>
          </a:p>
        </p:txBody>
      </p:sp>
      <p:sp>
        <p:nvSpPr>
          <p:cNvPr id="312323" name="Rectangle 2"/>
          <p:cNvSpPr>
            <a:spLocks noGrp="1" noRot="1" noChangeAspect="1" noChangeArrowheads="1" noTextEdit="1"/>
          </p:cNvSpPr>
          <p:nvPr>
            <p:ph type="sldImg"/>
          </p:nvPr>
        </p:nvSpPr>
        <p:spPr>
          <a:ln/>
        </p:spPr>
      </p:sp>
      <p:sp>
        <p:nvSpPr>
          <p:cNvPr id="312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Arial" pitchFamily="34" charset="0"/>
              </a:rPr>
              <a:t> The objectives in this slide speak for themselves. Not only we will describe each SDLC but we will also stress how software testing fits in each development style.</a:t>
            </a:r>
          </a:p>
          <a:p>
            <a:pPr eaLnBrk="1" hangingPunct="1">
              <a:buFontTx/>
              <a:buChar char="•"/>
            </a:pPr>
            <a:r>
              <a:rPr lang="en-US" altLang="en-US">
                <a:latin typeface="Arial" pitchFamily="34" charset="0"/>
              </a:rPr>
              <a:t> As indicated earlier, we have to clearly understand the phases and milestones concept (through clear and enforceable definitions). From there, we will institute checkpoints to qualify that the software is indeed reaches or passes the predefined phases and/or milestone.</a:t>
            </a:r>
          </a:p>
          <a:p>
            <a:pPr eaLnBrk="1" hangingPunct="1">
              <a:buFontTx/>
              <a:buChar char="•"/>
            </a:pPr>
            <a:r>
              <a:rPr lang="en-US" altLang="en-US">
                <a:latin typeface="Arial" pitchFamily="34" charset="0"/>
              </a:rPr>
              <a:t> Then we will discuss the implication on each SDLC on software testing activities.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D53562B5-89F3-418A-8E20-1A2E1E2C94CF}" type="slidenum">
              <a:rPr lang="en-US" altLang="en-US" sz="1200" smtClean="0"/>
              <a:pPr/>
              <a:t>6</a:t>
            </a:fld>
            <a:endParaRPr lang="en-US" altLang="en-US" sz="1200"/>
          </a:p>
        </p:txBody>
      </p:sp>
      <p:sp>
        <p:nvSpPr>
          <p:cNvPr id="313347" name="Rectangle 2"/>
          <p:cNvSpPr>
            <a:spLocks noGrp="1" noRot="1" noChangeAspect="1" noChangeArrowheads="1" noTextEdit="1"/>
          </p:cNvSpPr>
          <p:nvPr>
            <p:ph type="sldImg"/>
          </p:nvPr>
        </p:nvSpPr>
        <p:spPr>
          <a:ln/>
        </p:spPr>
      </p:sp>
      <p:sp>
        <p:nvSpPr>
          <p:cNvPr id="313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itchFamily="34" charset="0"/>
              </a:rPr>
              <a:t>Khi phát triển phần mềm, người ta cần làm theo một life cycle cụ thể vì:</a:t>
            </a:r>
          </a:p>
          <a:p>
            <a:pPr eaLnBrk="1" hangingPunct="1"/>
            <a:r>
              <a:rPr lang="en-US" altLang="en-US">
                <a:latin typeface="Arial" pitchFamily="34" charset="0"/>
              </a:rPr>
              <a:t>Một ứng dụng phần mềm rất lớn (nhiều source code), hay 1 software application cũng có thể integrate với nhiều application khác =&gt; việc xây dựng và quản lý phần mềm trở nên rất phức tạp</a:t>
            </a:r>
          </a:p>
          <a:p>
            <a:pPr eaLnBrk="1" hangingPunct="1">
              <a:buFont typeface="Symbol" pitchFamily="18" charset="2"/>
              <a:buNone/>
            </a:pPr>
            <a:r>
              <a:rPr lang="en-US" altLang="en-US">
                <a:latin typeface="Arial" pitchFamily="34" charset="0"/>
              </a:rPr>
              <a:t>Mô hình phát triển phần mềm được dùng để quản lý các tài nguyên và con người (mọi người tham gia xây dựng phần mềm biết mình đang ở đâu, cần làm gì trong quá trình phát triển phần mềm)</a:t>
            </a:r>
          </a:p>
          <a:p>
            <a:pPr eaLnBrk="1" hangingPunct="1">
              <a:buFont typeface="Symbol" pitchFamily="18" charset="2"/>
              <a:buNone/>
            </a:pPr>
            <a:endParaRPr lang="en-US" altLang="en-US">
              <a:latin typeface="Arial" pitchFamily="34" charset="0"/>
            </a:endParaRPr>
          </a:p>
          <a:p>
            <a:pPr eaLnBrk="1" hangingPunct="1">
              <a:buFont typeface="Symbol" pitchFamily="18" charset="2"/>
              <a:buNone/>
            </a:pPr>
            <a:r>
              <a:rPr lang="en-US" altLang="en-US">
                <a:latin typeface="Arial" pitchFamily="34" charset="0"/>
              </a:rPr>
              <a:t>Mỗi loại life cycle có một đặc điểm riêng, việc kiểm thử phần mềm trong các life cycle vì thế cũng khác nhau.</a:t>
            </a:r>
          </a:p>
          <a:p>
            <a:pPr eaLnBrk="1" hangingPunct="1">
              <a:buFont typeface="Symbol" pitchFamily="18" charset="2"/>
              <a:buNone/>
            </a:pPr>
            <a:endParaRPr lang="en-US" altLang="en-US">
              <a:latin typeface="Arial" pitchFamily="34" charset="0"/>
            </a:endParaRPr>
          </a:p>
          <a:p>
            <a:pPr eaLnBrk="1" hangingPunct="1">
              <a:buFont typeface="Symbol" pitchFamily="18" charset="2"/>
              <a:buNone/>
            </a:pPr>
            <a:r>
              <a:rPr lang="en-US" altLang="en-US">
                <a:latin typeface="Arial" pitchFamily="34" charset="0"/>
              </a:rPr>
              <a:t>Ở các slide sau, chúng ta sẽ tìm hiểu việc kiểm thử phần mềm trong các các dự án dùng life cycles khác nhau thì khác nhau như thế nào.</a:t>
            </a:r>
          </a:p>
          <a:p>
            <a:pPr eaLnBrk="1" hangingPunct="1"/>
            <a:endParaRPr lang="en-US" altLang="en-US">
              <a:latin typeface="Arial"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5784CD67-ABDB-42C1-BC74-C6322B89000E}" type="slidenum">
              <a:rPr lang="en-US" altLang="en-US" sz="1200" smtClean="0"/>
              <a:pPr/>
              <a:t>7</a:t>
            </a:fld>
            <a:endParaRPr lang="en-US" altLang="en-US" sz="1200"/>
          </a:p>
        </p:txBody>
      </p:sp>
      <p:sp>
        <p:nvSpPr>
          <p:cNvPr id="314371" name="Rectangle 2"/>
          <p:cNvSpPr>
            <a:spLocks noGrp="1" noRot="1" noChangeAspect="1" noChangeArrowheads="1" noTextEdit="1"/>
          </p:cNvSpPr>
          <p:nvPr>
            <p:ph type="sldImg"/>
          </p:nvPr>
        </p:nvSpPr>
        <p:spPr>
          <a:ln/>
        </p:spPr>
      </p:sp>
      <p:sp>
        <p:nvSpPr>
          <p:cNvPr id="314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itchFamily="34" charset="0"/>
              </a:rPr>
              <a:t>Khi phát triển phần mềm, người ta cần làm theo một life cycle cụ thể vì:</a:t>
            </a:r>
          </a:p>
          <a:p>
            <a:pPr eaLnBrk="1" hangingPunct="1"/>
            <a:r>
              <a:rPr lang="en-US" altLang="en-US">
                <a:latin typeface="Arial" pitchFamily="34" charset="0"/>
              </a:rPr>
              <a:t>Một ứng dụng phần mềm rất lớn (nhiều source code), hay 1 software application cũng có thể integrate với nhiều application khác =&gt; việc xây dựng và quản lý phần mềm trở nên rất phức tạp</a:t>
            </a:r>
          </a:p>
          <a:p>
            <a:pPr eaLnBrk="1" hangingPunct="1">
              <a:buFont typeface="Symbol" pitchFamily="18" charset="2"/>
              <a:buNone/>
            </a:pPr>
            <a:r>
              <a:rPr lang="en-US" altLang="en-US">
                <a:latin typeface="Arial" pitchFamily="34" charset="0"/>
              </a:rPr>
              <a:t>Mô hình phát triển phần mềm được dùng để quản lý các tài nguyên và con người (mọi người tham gia xây dựng phần mềm biết mình đang ở đâu, cần làm gì trong quá trình phát triển phần mềm)</a:t>
            </a:r>
          </a:p>
          <a:p>
            <a:pPr eaLnBrk="1" hangingPunct="1">
              <a:buFont typeface="Symbol" pitchFamily="18" charset="2"/>
              <a:buNone/>
            </a:pPr>
            <a:endParaRPr lang="en-US" altLang="en-US">
              <a:latin typeface="Arial" pitchFamily="34" charset="0"/>
            </a:endParaRPr>
          </a:p>
          <a:p>
            <a:pPr eaLnBrk="1" hangingPunct="1">
              <a:buFont typeface="Symbol" pitchFamily="18" charset="2"/>
              <a:buNone/>
            </a:pPr>
            <a:r>
              <a:rPr lang="en-US" altLang="en-US">
                <a:latin typeface="Arial" pitchFamily="34" charset="0"/>
              </a:rPr>
              <a:t>Mỗi loại life cycle có một đặc điểm riêng, việc kiểm thử phần mềm trong các life cycle vì thế cũng khác nhau.</a:t>
            </a:r>
          </a:p>
          <a:p>
            <a:pPr eaLnBrk="1" hangingPunct="1">
              <a:buFont typeface="Symbol" pitchFamily="18" charset="2"/>
              <a:buNone/>
            </a:pPr>
            <a:endParaRPr lang="en-US" altLang="en-US">
              <a:latin typeface="Arial" pitchFamily="34" charset="0"/>
            </a:endParaRPr>
          </a:p>
          <a:p>
            <a:pPr eaLnBrk="1" hangingPunct="1">
              <a:buFont typeface="Symbol" pitchFamily="18" charset="2"/>
              <a:buNone/>
            </a:pPr>
            <a:r>
              <a:rPr lang="en-US" altLang="en-US">
                <a:latin typeface="Arial" pitchFamily="34" charset="0"/>
              </a:rPr>
              <a:t>Ở các slide sau, chúng ta sẽ tìm hiểu việc kiểm thử phần mềm trong các các dự án dùng life cycles khác nhau thì khác nhau như thế nào.</a:t>
            </a:r>
          </a:p>
          <a:p>
            <a:pPr eaLnBrk="1" hangingPunct="1"/>
            <a:endParaRPr lang="en-US" altLang="en-US">
              <a:latin typeface="Arial"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FDA3B116-971C-40BC-BDB2-7D5D75A33E68}" type="slidenum">
              <a:rPr lang="en-US" altLang="en-US" sz="1200" smtClean="0"/>
              <a:pPr/>
              <a:t>8</a:t>
            </a:fld>
            <a:endParaRPr lang="en-US" altLang="en-US" sz="1200"/>
          </a:p>
        </p:txBody>
      </p:sp>
      <p:sp>
        <p:nvSpPr>
          <p:cNvPr id="315395" name="Rectangle 2"/>
          <p:cNvSpPr>
            <a:spLocks noGrp="1" noRot="1" noChangeAspect="1" noChangeArrowheads="1" noTextEdit="1"/>
          </p:cNvSpPr>
          <p:nvPr>
            <p:ph type="sldImg"/>
          </p:nvPr>
        </p:nvSpPr>
        <p:spPr>
          <a:ln/>
        </p:spPr>
      </p:sp>
      <p:sp>
        <p:nvSpPr>
          <p:cNvPr id="315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Symbol" pitchFamily="18" charset="2"/>
              <a:buNone/>
            </a:pPr>
            <a:r>
              <a:rPr lang="en-US" altLang="en-US">
                <a:latin typeface="Arial" pitchFamily="34" charset="0"/>
              </a:rPr>
              <a:t>Trong phần này chúng ta sẽ tìm hiểu sự cần thiết của việc kiểm thử phần mềm và cách kiểm thử phần mềm trong các dự án dùng mô hình waterfall</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5D4CB13F-29E6-4DEE-89B5-BB90E9C00176}" type="slidenum">
              <a:rPr lang="en-US" altLang="en-US" sz="1200" smtClean="0"/>
              <a:pPr/>
              <a:t>9</a:t>
            </a:fld>
            <a:endParaRPr lang="en-US" altLang="en-US" sz="1200"/>
          </a:p>
        </p:txBody>
      </p:sp>
      <p:sp>
        <p:nvSpPr>
          <p:cNvPr id="316419" name="Rectangle 2"/>
          <p:cNvSpPr>
            <a:spLocks noGrp="1" noRot="1" noChangeAspect="1" noChangeArrowheads="1" noTextEdit="1"/>
          </p:cNvSpPr>
          <p:nvPr>
            <p:ph type="sldImg"/>
          </p:nvPr>
        </p:nvSpPr>
        <p:spPr>
          <a:ln/>
        </p:spPr>
      </p:sp>
      <p:sp>
        <p:nvSpPr>
          <p:cNvPr id="316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b="1">
                <a:latin typeface="Arial" pitchFamily="34" charset="0"/>
              </a:rPr>
              <a:t>REMINDING:</a:t>
            </a:r>
          </a:p>
          <a:p>
            <a:pPr eaLnBrk="1" hangingPunct="1"/>
            <a:r>
              <a:rPr lang="en-US" altLang="en-US" b="1">
                <a:latin typeface="Arial" pitchFamily="34" charset="0"/>
              </a:rPr>
              <a:t>What is waterfall model?</a:t>
            </a:r>
            <a:r>
              <a:rPr lang="en-US" altLang="en-US">
                <a:latin typeface="Arial" pitchFamily="34" charset="0"/>
              </a:rPr>
              <a:t> The waterfall model is a sequential software development model which no overlapping phases. One phase does not start until the previous phase is completed and documents are stored in document control. </a:t>
            </a:r>
          </a:p>
          <a:p>
            <a:pPr eaLnBrk="1" hangingPunct="1"/>
            <a:r>
              <a:rPr lang="en-US" altLang="en-US" b="1">
                <a:latin typeface="Arial" pitchFamily="34" charset="0"/>
              </a:rPr>
              <a:t>How does it make transition between phases?</a:t>
            </a:r>
            <a:r>
              <a:rPr lang="en-US" altLang="en-US">
                <a:latin typeface="Arial" pitchFamily="34" charset="0"/>
              </a:rPr>
              <a:t> Transition between phases is done by a formal review. When a phase is done, it cannot be modified anymore.</a:t>
            </a:r>
          </a:p>
          <a:p>
            <a:pPr eaLnBrk="1" hangingPunct="1"/>
            <a:r>
              <a:rPr lang="en-US" altLang="en-US" b="1">
                <a:latin typeface="Arial" pitchFamily="34" charset="0"/>
              </a:rPr>
              <a:t>What is the purpose of checkpoints?</a:t>
            </a:r>
            <a:r>
              <a:rPr lang="en-US" altLang="en-US">
                <a:latin typeface="Arial" pitchFamily="34" charset="0"/>
              </a:rPr>
              <a:t> The review is a checkpoint to see that you are on the right track</a:t>
            </a:r>
          </a:p>
          <a:p>
            <a:pPr eaLnBrk="1" hangingPunct="1"/>
            <a:endParaRPr lang="en-US" altLang="en-US">
              <a:latin typeface="Arial" pitchFamily="34" charset="0"/>
            </a:endParaRPr>
          </a:p>
          <a:p>
            <a:pPr eaLnBrk="1" hangingPunct="1">
              <a:buFont typeface="Symbol" pitchFamily="18" charset="2"/>
              <a:buNone/>
            </a:pPr>
            <a:endParaRPr lang="en-US" altLang="en-US">
              <a:latin typeface="Arial" pitchFamily="34" charset="0"/>
            </a:endParaRPr>
          </a:p>
          <a:p>
            <a:pPr eaLnBrk="1" hangingPunct="1"/>
            <a:endParaRPr lang="en-US" altLang="en-US">
              <a:latin typeface="Arial" pitchFamily="34" charset="0"/>
            </a:endParaRPr>
          </a:p>
          <a:p>
            <a:pPr eaLnBrk="1" hangingPunct="1">
              <a:buFont typeface="Symbol" pitchFamily="18" charset="2"/>
              <a:buNone/>
            </a:pPr>
            <a:endParaRPr lang="en-US" altLang="en-US">
              <a:latin typeface="Arial"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CA5987D8-82F9-4852-B64B-143D96D74DE7}" type="slidenum">
              <a:rPr lang="en-US" altLang="en-US" sz="1200" smtClean="0"/>
              <a:pPr/>
              <a:t>10</a:t>
            </a:fld>
            <a:endParaRPr lang="en-US" altLang="en-US" sz="1200"/>
          </a:p>
        </p:txBody>
      </p:sp>
      <p:sp>
        <p:nvSpPr>
          <p:cNvPr id="317443" name="Rectangle 2"/>
          <p:cNvSpPr>
            <a:spLocks noGrp="1" noRot="1" noChangeAspect="1" noChangeArrowheads="1" noTextEdit="1"/>
          </p:cNvSpPr>
          <p:nvPr>
            <p:ph type="sldImg"/>
          </p:nvPr>
        </p:nvSpPr>
        <p:spPr>
          <a:ln/>
        </p:spPr>
      </p:sp>
      <p:sp>
        <p:nvSpPr>
          <p:cNvPr id="317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b="1">
                <a:latin typeface="Arial" pitchFamily="34" charset="0"/>
              </a:rPr>
              <a:t>Where does testing involve?</a:t>
            </a:r>
          </a:p>
          <a:p>
            <a:pPr eaLnBrk="1" hangingPunct="1"/>
            <a:r>
              <a:rPr lang="en-US" altLang="en-US">
                <a:latin typeface="Arial" pitchFamily="34" charset="0"/>
              </a:rPr>
              <a:t>Testing phase is related with Coding and Deployment phases. The testing phase starts after code generation phase. As a tester in this phase, you use several testing methods and testing types to test the software and report your working progress to your QA</a:t>
            </a:r>
          </a:p>
          <a:p>
            <a:pPr eaLnBrk="1" hangingPunct="1"/>
            <a:endParaRPr lang="en-US" altLang="en-US">
              <a:latin typeface="Arial" pitchFamily="34" charset="0"/>
            </a:endParaRPr>
          </a:p>
          <a:p>
            <a:pPr eaLnBrk="1" hangingPunct="1"/>
            <a:r>
              <a:rPr lang="en-US" altLang="en-US">
                <a:latin typeface="Arial" pitchFamily="34" charset="0"/>
              </a:rPr>
              <a:t>When a new version is released, the testing phase finds bugs of this version. This task is repeated with all versions until the application comes into deployment phase.</a:t>
            </a:r>
          </a:p>
          <a:p>
            <a:pPr eaLnBrk="1" hangingPunct="1"/>
            <a:r>
              <a:rPr lang="en-US" altLang="en-US">
                <a:latin typeface="Arial" pitchFamily="34" charset="0"/>
              </a:rPr>
              <a:t>Testing also takes care the application when it comes into the deployment phase by user acceptance testing, testing the product system and maintenance.</a:t>
            </a:r>
          </a:p>
          <a:p>
            <a:pPr eaLnBrk="1" hangingPunct="1"/>
            <a:r>
              <a:rPr lang="en-US" altLang="en-US">
                <a:latin typeface="Arial" pitchFamily="34" charset="0"/>
              </a:rPr>
              <a:t>We will learn more about these in later slides.</a:t>
            </a:r>
          </a:p>
          <a:p>
            <a:pPr eaLnBrk="1" hangingPunct="1"/>
            <a:endParaRPr lang="en-US" altLang="en-US">
              <a:latin typeface="Arial" pitchFamily="34" charset="0"/>
            </a:endParaRPr>
          </a:p>
          <a:p>
            <a:pPr eaLnBrk="1" hangingPunct="1"/>
            <a:r>
              <a:rPr lang="en-US" altLang="en-US">
                <a:latin typeface="Arial" pitchFamily="34" charset="0"/>
              </a:rPr>
              <a:t>Actually in waterfall there is no feedback that is why it is theory and not done.</a:t>
            </a:r>
          </a:p>
          <a:p>
            <a:pPr eaLnBrk="1" hangingPunct="1"/>
            <a:r>
              <a:rPr lang="en-US" altLang="en-US">
                <a:latin typeface="Arial" pitchFamily="34" charset="0"/>
              </a:rPr>
              <a:t>Document heavy process. It the SDLC is waterfall style, all/most testing is verification directly from documentation. Common- especially in companies tied to test director/quality center. </a:t>
            </a:r>
          </a:p>
          <a:p>
            <a:pPr eaLnBrk="1" hangingPunct="1"/>
            <a:r>
              <a:rPr lang="en-US" altLang="en-US">
                <a:latin typeface="Arial" pitchFamily="34" charset="0"/>
              </a:rPr>
              <a:t>Waterfall is back end testing. Expensive. Change is very risky. “test in quality” is bad. Build in Quality is good.</a:t>
            </a:r>
          </a:p>
          <a:p>
            <a:pPr eaLnBrk="1" hangingPunct="1"/>
            <a:endParaRPr lang="en-US" altLang="en-US">
              <a:latin typeface="Arial" pitchFamily="34" charset="0"/>
            </a:endParaRPr>
          </a:p>
          <a:p>
            <a:pPr eaLnBrk="1" hangingPunct="1">
              <a:buFont typeface="Symbol" pitchFamily="18" charset="2"/>
              <a:buNone/>
            </a:pPr>
            <a:r>
              <a:rPr lang="en-US" altLang="en-US" b="1">
                <a:latin typeface="Arial" pitchFamily="34" charset="0"/>
              </a:rPr>
              <a:t>WHY IS TESTING NECESSARY IN WATERFALL MODEL?</a:t>
            </a:r>
          </a:p>
          <a:p>
            <a:pPr eaLnBrk="1" hangingPunct="1">
              <a:buFont typeface="Symbol" pitchFamily="18" charset="2"/>
              <a:buNone/>
            </a:pPr>
            <a:r>
              <a:rPr lang="en-US" altLang="en-US">
                <a:latin typeface="Arial" pitchFamily="34" charset="0"/>
              </a:rPr>
              <a:t>Các phase trong waterfall do nhiều người đảm nhận và hoạt động gần như độc lập với nhau</a:t>
            </a:r>
          </a:p>
          <a:p>
            <a:pPr eaLnBrk="1" hangingPunct="1">
              <a:buFont typeface="Symbol" pitchFamily="18" charset="2"/>
              <a:buNone/>
            </a:pPr>
            <a:r>
              <a:rPr lang="en-US" altLang="en-US">
                <a:latin typeface="Arial" pitchFamily="34" charset="0"/>
              </a:rPr>
              <a:t>Khi một phase kết thúc, phase sau sẽ lấy kết quả của phase trước để làm tiếp. Nếu phase trước làm sai, việc sửa chữa gần như là không thể</a:t>
            </a:r>
          </a:p>
          <a:p>
            <a:pPr eaLnBrk="1" hangingPunct="1">
              <a:buFont typeface="Symbol" pitchFamily="18" charset="2"/>
              <a:buChar char="Þ"/>
            </a:pPr>
            <a:r>
              <a:rPr lang="en-US" altLang="en-US">
                <a:latin typeface="Arial" pitchFamily="34" charset="0"/>
              </a:rPr>
              <a:t>Ở waterfall, việc testing được thực hiện ở một phase sau khi code, việc phát hiện bug ở giai đoạn này là khá trễ và vì thế sửa rất tốn kém</a:t>
            </a:r>
          </a:p>
          <a:p>
            <a:pPr eaLnBrk="1" hangingPunct="1">
              <a:buFont typeface="Symbol" pitchFamily="18" charset="2"/>
              <a:buChar char="Þ"/>
            </a:pPr>
            <a:r>
              <a:rPr lang="en-US" altLang="en-US">
                <a:latin typeface="Arial" pitchFamily="34" charset="0"/>
              </a:rPr>
              <a:t>Ngày nay, waterfall không được áp dụng rộng rãi trong việc phát triển phần mềm vì không phù hợp với bản chất của việc xây dựng phần mềm vốn nhiều bug, bug có thể xảy ra ở mọi nơi và cần được test càng sớm càng tốt.</a:t>
            </a:r>
          </a:p>
          <a:p>
            <a:pPr eaLnBrk="1" hangingPunct="1">
              <a:buFont typeface="Symbol" pitchFamily="18" charset="2"/>
              <a:buChar char="Þ"/>
            </a:pPr>
            <a:r>
              <a:rPr lang="en-US" altLang="en-US">
                <a:latin typeface="Arial" pitchFamily="34" charset="0"/>
              </a:rPr>
              <a:t>Waterfall thích hợp với việc sản xuất hardware hơn do tính chất của việc sản xuất hardware đòi hỏi tính chính xác cao và khó sửa lỗi</a:t>
            </a:r>
          </a:p>
          <a:p>
            <a:pPr eaLnBrk="1" hangingPunct="1"/>
            <a:endParaRPr lang="en-US" altLang="en-US">
              <a:latin typeface="Arial" pitchFamily="34" charset="0"/>
            </a:endParaRPr>
          </a:p>
          <a:p>
            <a:pPr eaLnBrk="1" hangingPunct="1">
              <a:buFont typeface="Symbol" pitchFamily="18" charset="2"/>
              <a:buNone/>
            </a:pPr>
            <a:r>
              <a:rPr lang="en-US" altLang="en-US">
                <a:latin typeface="Arial" pitchFamily="34" charset="0"/>
              </a:rPr>
              <a:t>Ngày nay, khi sử dụng waterfall, người ta cải tiến nó (cũng như cải tiến các loại mô hình khác) bằng cách thêm vào sự xuất hiện của QA. QA sẽ quản lý toàn bộ quy trình phát triển phần mềm về mặt chất lượng, đảm bảo từng phase trong mô hình làm đúng chức năng đã đề ra nhằm đạt được mục tiêu cao nhất là sản xuất được phần mềm đúng với yêu cầu, chất lượng cao thỏa mãn đông đảo người dùng.</a:t>
            </a:r>
          </a:p>
          <a:p>
            <a:pPr eaLnBrk="1" hangingPunct="1">
              <a:buFont typeface="Symbol" pitchFamily="18" charset="2"/>
              <a:buNone/>
            </a:pPr>
            <a:endParaRPr lang="en-US" altLang="en-US">
              <a:latin typeface="Arial" pitchFamily="34" charset="0"/>
            </a:endParaRPr>
          </a:p>
          <a:p>
            <a:pPr eaLnBrk="1" hangingPunct="1">
              <a:buFont typeface="Symbol" pitchFamily="18" charset="2"/>
              <a:buNone/>
            </a:pPr>
            <a:r>
              <a:rPr lang="en-US" altLang="en-US">
                <a:latin typeface="Arial" pitchFamily="34" charset="0"/>
              </a:rPr>
              <a:t>QA làm việc chặt chẽ với những người tham gia trong từng phase. </a:t>
            </a:r>
          </a:p>
          <a:p>
            <a:pPr eaLnBrk="1" hangingPunct="1"/>
            <a:endParaRPr lang="en-US" altLang="en-US">
              <a:latin typeface="Arial" pitchFamily="34" charset="0"/>
            </a:endParaRPr>
          </a:p>
          <a:p>
            <a:pPr eaLnBrk="1" hangingPunct="1"/>
            <a:r>
              <a:rPr lang="en-US" altLang="en-US">
                <a:latin typeface="Arial" pitchFamily="34" charset="0"/>
              </a:rPr>
              <a:t>Ngày nay, người ta cải tiến sự hạn chế của waterfall (thiếu sự liên lạc giữa các phase và ít test tại các phase đầu tiên) để có thể sử dụng nó hiệu quả hơn. </a:t>
            </a:r>
            <a:r>
              <a:rPr lang="en-GB" altLang="en-US">
                <a:latin typeface="Arial" pitchFamily="34" charset="0"/>
              </a:rPr>
              <a:t>QA does the </a:t>
            </a:r>
            <a:r>
              <a:rPr lang="en-US" altLang="en-US">
                <a:latin typeface="Arial" pitchFamily="34" charset="0"/>
              </a:rPr>
              <a:t>constant testing from the design, implementation and verification phases is required to validate the phases preceding them.</a:t>
            </a:r>
          </a:p>
          <a:p>
            <a:pPr eaLnBrk="1" hangingPunct="1"/>
            <a:endParaRPr lang="en-US" altLang="en-US">
              <a:latin typeface="Arial" pitchFamily="34" charset="0"/>
            </a:endParaRPr>
          </a:p>
          <a:p>
            <a:pPr eaLnBrk="1" hangingPunct="1"/>
            <a:r>
              <a:rPr lang="en-US" altLang="en-US">
                <a:latin typeface="Arial" pitchFamily="34" charset="0"/>
              </a:rPr>
              <a:t>General opinions:</a:t>
            </a:r>
          </a:p>
          <a:p>
            <a:pPr eaLnBrk="1" hangingPunct="1">
              <a:buFontTx/>
              <a:buChar char="•"/>
            </a:pPr>
            <a:r>
              <a:rPr lang="en-US" altLang="en-US">
                <a:latin typeface="Arial" pitchFamily="34" charset="0"/>
              </a:rPr>
              <a:t> Advantages: The SDLC appears to be very structured. In theory, it will be easily manage through a lot of documentations and checkpoints. You cannot start the next phase until the current phase is complete.</a:t>
            </a:r>
          </a:p>
          <a:p>
            <a:pPr eaLnBrk="1" hangingPunct="1">
              <a:buFontTx/>
              <a:buChar char="•"/>
            </a:pPr>
            <a:r>
              <a:rPr lang="en-US" altLang="en-US">
                <a:latin typeface="Arial" pitchFamily="34" charset="0"/>
              </a:rPr>
              <a:t> Disadvantages: This style requires a lot of documentation up front. The more time you do documentation the less time you have for design, code and testing. It is also very critical to changes while we known that software will change, the design will changes, and coding will change as we learn more about the software while we progress through each step of the way.</a:t>
            </a:r>
          </a:p>
          <a:p>
            <a:pPr eaLnBrk="1" hangingPunct="1"/>
            <a:endParaRPr lang="en-US" altLang="en-US">
              <a:latin typeface="Arial" pitchFamily="34" charset="0"/>
            </a:endParaRPr>
          </a:p>
          <a:p>
            <a:pPr eaLnBrk="1" hangingPunct="1"/>
            <a:endParaRPr lang="en-US" altLang="en-US">
              <a:latin typeface="Arial"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9FDFD15D-FD92-439C-B351-ADCF54768257}" type="slidenum">
              <a:rPr lang="en-US" altLang="en-US" sz="1200" smtClean="0"/>
              <a:pPr/>
              <a:t>11</a:t>
            </a:fld>
            <a:endParaRPr lang="en-US" altLang="en-US" sz="1200"/>
          </a:p>
        </p:txBody>
      </p:sp>
      <p:sp>
        <p:nvSpPr>
          <p:cNvPr id="318467" name="Rectangle 2"/>
          <p:cNvSpPr>
            <a:spLocks noGrp="1" noRot="1" noChangeAspect="1" noChangeArrowheads="1" noTextEdit="1"/>
          </p:cNvSpPr>
          <p:nvPr>
            <p:ph type="sldImg"/>
          </p:nvPr>
        </p:nvSpPr>
        <p:spPr>
          <a:ln/>
        </p:spPr>
      </p:sp>
      <p:sp>
        <p:nvSpPr>
          <p:cNvPr id="318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42E34FA4-2D39-4C88-B11A-276866311BDF}" type="slidenum">
              <a:rPr lang="en-US" altLang="en-US" sz="1200" smtClean="0"/>
              <a:pPr/>
              <a:t>12</a:t>
            </a:fld>
            <a:endParaRPr lang="en-US" altLang="en-US" sz="1200"/>
          </a:p>
        </p:txBody>
      </p:sp>
      <p:sp>
        <p:nvSpPr>
          <p:cNvPr id="319491" name="Rectangle 2"/>
          <p:cNvSpPr>
            <a:spLocks noGrp="1" noRot="1" noChangeAspect="1" noChangeArrowheads="1" noTextEdit="1"/>
          </p:cNvSpPr>
          <p:nvPr>
            <p:ph type="sldImg"/>
          </p:nvPr>
        </p:nvSpPr>
        <p:spPr>
          <a:ln/>
        </p:spPr>
      </p:sp>
      <p:sp>
        <p:nvSpPr>
          <p:cNvPr id="319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pPr>
            <a:r>
              <a:rPr lang="en-US" altLang="en-US" sz="800" b="1">
                <a:latin typeface="Arial" pitchFamily="34" charset="0"/>
              </a:rPr>
              <a:t>REMINDING: </a:t>
            </a:r>
          </a:p>
          <a:p>
            <a:pPr eaLnBrk="1" hangingPunct="1">
              <a:lnSpc>
                <a:spcPct val="80000"/>
              </a:lnSpc>
            </a:pPr>
            <a:r>
              <a:rPr lang="en-US" altLang="en-US" sz="800">
                <a:latin typeface="Arial" pitchFamily="34" charset="0"/>
              </a:rPr>
              <a:t>The </a:t>
            </a:r>
            <a:r>
              <a:rPr lang="en-US" altLang="en-US" sz="800" b="1">
                <a:latin typeface="Arial" pitchFamily="34" charset="0"/>
              </a:rPr>
              <a:t>spiral model</a:t>
            </a:r>
            <a:r>
              <a:rPr lang="en-US" altLang="en-US" sz="800">
                <a:latin typeface="Arial" pitchFamily="34" charset="0"/>
              </a:rPr>
              <a:t> is a software development process combining elements of both design and prototyping-in-stages, in an effort to combine advantages of top-down and bottom-up concepts.</a:t>
            </a:r>
          </a:p>
          <a:p>
            <a:pPr eaLnBrk="1" hangingPunct="1">
              <a:lnSpc>
                <a:spcPct val="80000"/>
              </a:lnSpc>
            </a:pPr>
            <a:r>
              <a:rPr lang="en-US" altLang="en-US" sz="800">
                <a:latin typeface="Arial" pitchFamily="34" charset="0"/>
              </a:rPr>
              <a:t>Each cycle is completed by a review. This review covers all products developed during the previous cycle, including the plans for the next cycle and the resources required to carry them out. The review’s major objective is to ensure that all concerned parties are mutually committed to the approach for the next phase.</a:t>
            </a:r>
          </a:p>
          <a:p>
            <a:pPr eaLnBrk="1" hangingPunct="1">
              <a:lnSpc>
                <a:spcPct val="80000"/>
              </a:lnSpc>
            </a:pPr>
            <a:endParaRPr lang="en-US" altLang="en-US" sz="800">
              <a:latin typeface="Arial" pitchFamily="34" charset="0"/>
            </a:endParaRPr>
          </a:p>
          <a:p>
            <a:pPr eaLnBrk="1" hangingPunct="1">
              <a:lnSpc>
                <a:spcPct val="80000"/>
              </a:lnSpc>
            </a:pPr>
            <a:r>
              <a:rPr lang="en-US" altLang="en-US" sz="800" b="1">
                <a:latin typeface="Arial" pitchFamily="34" charset="0"/>
              </a:rPr>
              <a:t>Notes: </a:t>
            </a:r>
            <a:r>
              <a:rPr lang="en-US" altLang="en-US" sz="800">
                <a:latin typeface="Arial" pitchFamily="34" charset="0"/>
              </a:rPr>
              <a:t>This model of development combines the features of the prototyping model and the waterfall model. The spiral model is intended for large, expensive and complicated projects.</a:t>
            </a:r>
          </a:p>
          <a:p>
            <a:pPr eaLnBrk="1" hangingPunct="1">
              <a:lnSpc>
                <a:spcPct val="80000"/>
              </a:lnSpc>
            </a:pPr>
            <a:endParaRPr lang="en-US" altLang="en-US" sz="800">
              <a:latin typeface="Arial" pitchFamily="34" charset="0"/>
            </a:endParaRPr>
          </a:p>
          <a:p>
            <a:pPr eaLnBrk="1" hangingPunct="1">
              <a:lnSpc>
                <a:spcPct val="80000"/>
              </a:lnSpc>
            </a:pPr>
            <a:r>
              <a:rPr lang="en-US" altLang="en-US" sz="800" b="1">
                <a:latin typeface="Arial" pitchFamily="34" charset="0"/>
              </a:rPr>
              <a:t>A typical cycle of the spiral</a:t>
            </a:r>
            <a:endParaRPr lang="en-US" altLang="en-US" sz="800">
              <a:latin typeface="Arial" pitchFamily="34" charset="0"/>
            </a:endParaRPr>
          </a:p>
          <a:p>
            <a:pPr eaLnBrk="1" hangingPunct="1">
              <a:lnSpc>
                <a:spcPct val="80000"/>
              </a:lnSpc>
            </a:pPr>
            <a:r>
              <a:rPr lang="en-US" altLang="en-US" sz="800">
                <a:latin typeface="Arial" pitchFamily="34" charset="0"/>
              </a:rPr>
              <a:t>Each cycle of the spiral begins with the identification of:</a:t>
            </a:r>
          </a:p>
          <a:p>
            <a:pPr eaLnBrk="1" hangingPunct="1">
              <a:lnSpc>
                <a:spcPct val="80000"/>
              </a:lnSpc>
            </a:pPr>
            <a:r>
              <a:rPr lang="en-US" altLang="en-US" sz="800">
                <a:latin typeface="Arial" pitchFamily="34" charset="0"/>
              </a:rPr>
              <a:t>1. the objectives of the portion of the product being elaborated (performance, functionality, ability to accommodate change, etc.);</a:t>
            </a:r>
          </a:p>
          <a:p>
            <a:pPr eaLnBrk="1" hangingPunct="1">
              <a:lnSpc>
                <a:spcPct val="80000"/>
              </a:lnSpc>
            </a:pPr>
            <a:r>
              <a:rPr lang="en-US" altLang="en-US" sz="800">
                <a:latin typeface="Arial" pitchFamily="34" charset="0"/>
              </a:rPr>
              <a:t>2. the alternative means of implementing this portion of the product (design A, design B, reuse, buy, etc.); and</a:t>
            </a:r>
          </a:p>
          <a:p>
            <a:pPr eaLnBrk="1" hangingPunct="1">
              <a:lnSpc>
                <a:spcPct val="80000"/>
              </a:lnSpc>
            </a:pPr>
            <a:r>
              <a:rPr lang="en-US" altLang="en-US" sz="800">
                <a:latin typeface="Arial" pitchFamily="34" charset="0"/>
              </a:rPr>
              <a:t>3. the constraints imposed on the application of the alternatives (cost, schedule, interface, etc.).</a:t>
            </a:r>
          </a:p>
          <a:p>
            <a:pPr eaLnBrk="1" hangingPunct="1">
              <a:lnSpc>
                <a:spcPct val="80000"/>
              </a:lnSpc>
            </a:pPr>
            <a:endParaRPr lang="en-US" altLang="en-US" sz="800" b="1">
              <a:latin typeface="Arial" pitchFamily="34" charset="0"/>
            </a:endParaRPr>
          </a:p>
          <a:p>
            <a:pPr eaLnBrk="1" hangingPunct="1">
              <a:lnSpc>
                <a:spcPct val="80000"/>
              </a:lnSpc>
            </a:pPr>
            <a:r>
              <a:rPr lang="en-US" altLang="en-US" sz="800">
                <a:latin typeface="Arial" pitchFamily="34" charset="0"/>
              </a:rPr>
              <a:t>Each cycle is completed by a review. This review covers all products developed during the previous cycle, including the plans for the next cycle and the resources required to carry them out. The review’s major objective is to ensure that all concerned parties are mutually committed to the approach for the next phase  </a:t>
            </a:r>
          </a:p>
          <a:p>
            <a:pPr eaLnBrk="1" hangingPunct="1">
              <a:lnSpc>
                <a:spcPct val="80000"/>
              </a:lnSpc>
            </a:pPr>
            <a:endParaRPr lang="en-US" altLang="en-US" sz="800">
              <a:latin typeface="Arial" pitchFamily="34" charset="0"/>
            </a:endParaRPr>
          </a:p>
          <a:p>
            <a:pPr eaLnBrk="1" hangingPunct="1">
              <a:lnSpc>
                <a:spcPct val="80000"/>
              </a:lnSpc>
            </a:pPr>
            <a:r>
              <a:rPr lang="en-US" altLang="en-US" sz="800" b="1">
                <a:latin typeface="Arial" pitchFamily="34" charset="0"/>
              </a:rPr>
              <a:t>The steps in the spiral model can be generalized as follows:</a:t>
            </a:r>
          </a:p>
          <a:p>
            <a:pPr eaLnBrk="1" hangingPunct="1">
              <a:lnSpc>
                <a:spcPct val="80000"/>
              </a:lnSpc>
            </a:pPr>
            <a:r>
              <a:rPr lang="en-US" altLang="en-US" sz="800">
                <a:latin typeface="Arial" pitchFamily="34" charset="0"/>
              </a:rPr>
              <a:t>1. The new system requirements are defined in as much detail as possible. This usually involves interviewing a number of users representing all the external or internal users and other aspects of the existing system. </a:t>
            </a:r>
          </a:p>
          <a:p>
            <a:pPr eaLnBrk="1" hangingPunct="1">
              <a:lnSpc>
                <a:spcPct val="80000"/>
              </a:lnSpc>
            </a:pPr>
            <a:r>
              <a:rPr lang="en-US" altLang="en-US" sz="800">
                <a:latin typeface="Arial" pitchFamily="34" charset="0"/>
              </a:rPr>
              <a:t>2. A preliminary design is created for the new system. </a:t>
            </a:r>
          </a:p>
          <a:p>
            <a:pPr eaLnBrk="1" hangingPunct="1">
              <a:lnSpc>
                <a:spcPct val="80000"/>
              </a:lnSpc>
            </a:pPr>
            <a:r>
              <a:rPr lang="en-US" altLang="en-US" sz="800">
                <a:latin typeface="Arial" pitchFamily="34" charset="0"/>
              </a:rPr>
              <a:t>3. A first prototype of the new system is constructed from the preliminary design. This is usually a scaled-down system, and represents an approximation of the characteristics of the final product. </a:t>
            </a:r>
          </a:p>
          <a:p>
            <a:pPr eaLnBrk="1" hangingPunct="1">
              <a:lnSpc>
                <a:spcPct val="80000"/>
              </a:lnSpc>
            </a:pPr>
            <a:r>
              <a:rPr lang="en-US" altLang="en-US" sz="800">
                <a:latin typeface="Arial" pitchFamily="34" charset="0"/>
              </a:rPr>
              <a:t>4. A second prototype is evolved by a fourfold procedure: </a:t>
            </a:r>
          </a:p>
          <a:p>
            <a:pPr marL="742950" lvl="1" indent="-285750" eaLnBrk="1" hangingPunct="1">
              <a:lnSpc>
                <a:spcPct val="80000"/>
              </a:lnSpc>
            </a:pPr>
            <a:r>
              <a:rPr lang="en-US" altLang="en-US" sz="800">
                <a:latin typeface="Arial" pitchFamily="34" charset="0"/>
              </a:rPr>
              <a:t>- evaluating the first prototype in terms of its strengths, weaknesses, and risks; </a:t>
            </a:r>
          </a:p>
          <a:p>
            <a:pPr marL="742950" lvl="1" indent="-285750" eaLnBrk="1" hangingPunct="1">
              <a:lnSpc>
                <a:spcPct val="80000"/>
              </a:lnSpc>
            </a:pPr>
            <a:r>
              <a:rPr lang="en-US" altLang="en-US" sz="800">
                <a:latin typeface="Arial" pitchFamily="34" charset="0"/>
              </a:rPr>
              <a:t>- defining the requirements of the second prototype; </a:t>
            </a:r>
          </a:p>
          <a:p>
            <a:pPr marL="742950" lvl="1" indent="-285750" eaLnBrk="1" hangingPunct="1">
              <a:lnSpc>
                <a:spcPct val="80000"/>
              </a:lnSpc>
            </a:pPr>
            <a:r>
              <a:rPr lang="en-US" altLang="en-US" sz="800">
                <a:latin typeface="Arial" pitchFamily="34" charset="0"/>
              </a:rPr>
              <a:t>- planning and designing the second prototype; </a:t>
            </a:r>
          </a:p>
          <a:p>
            <a:pPr marL="742950" lvl="1" indent="-285750" eaLnBrk="1" hangingPunct="1">
              <a:lnSpc>
                <a:spcPct val="80000"/>
              </a:lnSpc>
            </a:pPr>
            <a:r>
              <a:rPr lang="en-US" altLang="en-US" sz="800">
                <a:latin typeface="Arial" pitchFamily="34" charset="0"/>
              </a:rPr>
              <a:t>- constructing and testing the second prototype. </a:t>
            </a:r>
          </a:p>
          <a:p>
            <a:pPr eaLnBrk="1" hangingPunct="1">
              <a:lnSpc>
                <a:spcPct val="80000"/>
              </a:lnSpc>
            </a:pPr>
            <a:r>
              <a:rPr lang="en-US" altLang="en-US" sz="800" b="1">
                <a:latin typeface="Arial" pitchFamily="34" charset="0"/>
              </a:rPr>
              <a:t>Advantages: </a:t>
            </a:r>
            <a:r>
              <a:rPr lang="en-US" altLang="en-US" sz="800">
                <a:latin typeface="Arial" pitchFamily="34" charset="0"/>
              </a:rPr>
              <a:t>The spiral model promotes quality assurance through prototyping at each stage in systems development. This is a improved version of waterfall that allows iterations of smaller phases.</a:t>
            </a:r>
          </a:p>
          <a:p>
            <a:pPr eaLnBrk="1" hangingPunct="1">
              <a:lnSpc>
                <a:spcPct val="80000"/>
              </a:lnSpc>
            </a:pPr>
            <a:r>
              <a:rPr lang="en-US" altLang="en-US" sz="800" b="1">
                <a:latin typeface="Arial" pitchFamily="34" charset="0"/>
              </a:rPr>
              <a:t>Disadvantages: </a:t>
            </a:r>
            <a:r>
              <a:rPr lang="en-US" altLang="en-US" sz="800">
                <a:latin typeface="Arial" pitchFamily="34" charset="0"/>
              </a:rPr>
              <a:t>Documentation is still heavily required in this style.</a:t>
            </a:r>
            <a:endParaRPr lang="en-US" altLang="en-US" sz="800" b="1">
              <a:latin typeface="Arial" pitchFamily="34" charset="0"/>
            </a:endParaRPr>
          </a:p>
          <a:p>
            <a:pPr eaLnBrk="1" hangingPunct="1">
              <a:lnSpc>
                <a:spcPct val="80000"/>
              </a:lnSpc>
            </a:pPr>
            <a:endParaRPr lang="en-US" altLang="en-US" sz="800">
              <a:latin typeface="Arial" pitchFamily="34" charset="0"/>
            </a:endParaRPr>
          </a:p>
          <a:p>
            <a:pPr eaLnBrk="1" hangingPunct="1"/>
            <a:endParaRPr lang="en-US" altLang="en-US">
              <a:latin typeface="Arial"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44BDADDC-5CD8-4A07-9512-48BA0F0A3B4D}" type="slidenum">
              <a:rPr lang="en-US" altLang="en-US" sz="1200" smtClean="0"/>
              <a:pPr/>
              <a:t>13</a:t>
            </a:fld>
            <a:endParaRPr lang="en-US" altLang="en-US" sz="1200"/>
          </a:p>
        </p:txBody>
      </p:sp>
      <p:sp>
        <p:nvSpPr>
          <p:cNvPr id="320515" name="Rectangle 2"/>
          <p:cNvSpPr>
            <a:spLocks noGrp="1" noRot="1" noChangeAspect="1" noChangeArrowheads="1" noTextEdit="1"/>
          </p:cNvSpPr>
          <p:nvPr>
            <p:ph type="sldImg"/>
          </p:nvPr>
        </p:nvSpPr>
        <p:spPr>
          <a:ln/>
        </p:spPr>
      </p:sp>
      <p:sp>
        <p:nvSpPr>
          <p:cNvPr id="320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Tx/>
              <a:buChar char="•"/>
            </a:pPr>
            <a:r>
              <a:rPr lang="en-US" altLang="en-US">
                <a:latin typeface="Arial" pitchFamily="34" charset="0"/>
              </a:rPr>
              <a:t>Notice of the point that testing phases are defined. This is essential to testing time as indicated earlier.</a:t>
            </a:r>
          </a:p>
          <a:p>
            <a:pPr marL="228600" indent="-228600" eaLnBrk="1" hangingPunct="1">
              <a:buFontTx/>
              <a:buChar char="•"/>
            </a:pPr>
            <a:r>
              <a:rPr lang="en-US" altLang="en-US">
                <a:latin typeface="Arial" pitchFamily="34" charset="0"/>
              </a:rPr>
              <a:t>Also notice that as we progress through test testing phase, not only that we run new tests but we also have to rerun old tests. Rerun old tests by definition is regression testing.</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6FF3C95D-8E9C-4A37-86F9-E59685DEFE5A}" type="slidenum">
              <a:rPr lang="en-US" altLang="en-US" sz="1200" smtClean="0"/>
              <a:pPr/>
              <a:t>14</a:t>
            </a:fld>
            <a:endParaRPr lang="en-US" altLang="en-US" sz="1200"/>
          </a:p>
        </p:txBody>
      </p:sp>
      <p:sp>
        <p:nvSpPr>
          <p:cNvPr id="321539" name="Rectangle 2"/>
          <p:cNvSpPr>
            <a:spLocks noGrp="1" noRot="1" noChangeAspect="1" noChangeArrowheads="1" noTextEdit="1"/>
          </p:cNvSpPr>
          <p:nvPr>
            <p:ph type="sldImg"/>
          </p:nvPr>
        </p:nvSpPr>
        <p:spPr>
          <a:ln/>
        </p:spPr>
      </p:sp>
      <p:sp>
        <p:nvSpPr>
          <p:cNvPr id="321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9656BCAE-1E53-414D-B865-2D9607586C1F}" type="slidenum">
              <a:rPr lang="en-US" altLang="en-US" sz="1200" smtClean="0"/>
              <a:pPr/>
              <a:t>15</a:t>
            </a:fld>
            <a:endParaRPr lang="en-US" altLang="en-US" sz="1200"/>
          </a:p>
        </p:txBody>
      </p:sp>
      <p:sp>
        <p:nvSpPr>
          <p:cNvPr id="322563" name="Rectangle 2"/>
          <p:cNvSpPr>
            <a:spLocks noGrp="1" noRot="1" noChangeAspect="1" noChangeArrowheads="1" noTextEdit="1"/>
          </p:cNvSpPr>
          <p:nvPr>
            <p:ph type="sldImg"/>
          </p:nvPr>
        </p:nvSpPr>
        <p:spPr>
          <a:ln/>
        </p:spPr>
      </p:sp>
      <p:sp>
        <p:nvSpPr>
          <p:cNvPr id="322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b="1">
                <a:latin typeface="Arial" pitchFamily="34" charset="0"/>
              </a:rPr>
              <a:t>REMINDING:</a:t>
            </a:r>
          </a:p>
          <a:p>
            <a:pPr eaLnBrk="1" hangingPunct="1"/>
            <a:r>
              <a:rPr lang="en-US" altLang="en-US" b="1">
                <a:latin typeface="Arial" pitchFamily="34" charset="0"/>
              </a:rPr>
              <a:t>V-model</a:t>
            </a:r>
            <a:r>
              <a:rPr lang="en-US" altLang="en-US">
                <a:latin typeface="Arial" pitchFamily="34" charset="0"/>
              </a:rPr>
              <a:t> is a software development process which can be presumed to be the extension of the waterfall model. Instead of moving down in a linear way, the process steps are bent upwards after the coding phase, to form the typical V shape. The V-Model demonstrates the relationships between each phase of the development life cycle and its associated phase of testing. </a:t>
            </a:r>
          </a:p>
          <a:p>
            <a:pPr eaLnBrk="1" hangingPunct="1"/>
            <a:endParaRPr lang="en-US" altLang="en-US">
              <a:latin typeface="Arial" pitchFamily="34" charset="0"/>
            </a:endParaRPr>
          </a:p>
          <a:p>
            <a:pPr eaLnBrk="1" hangingPunct="1"/>
            <a:r>
              <a:rPr lang="en-US" altLang="en-US">
                <a:latin typeface="Arial" pitchFamily="34" charset="0"/>
              </a:rPr>
              <a:t>The V-model deploys a well-structured method in which each phase can be implemented by the detailed documentation of the previous phase. Testing activities like test designing start at the beginning of the project well before coding and therefore saves a huge amount of the project time.</a:t>
            </a:r>
          </a:p>
          <a:p>
            <a:pPr eaLnBrk="1" hangingPunct="1"/>
            <a:endParaRPr lang="en-US" altLang="en-US">
              <a:latin typeface="Arial" pitchFamily="34" charset="0"/>
            </a:endParaRPr>
          </a:p>
          <a:p>
            <a:pPr eaLnBrk="1" hangingPunct="1"/>
            <a:r>
              <a:rPr lang="en-US" altLang="en-US">
                <a:latin typeface="Arial" pitchFamily="34" charset="0"/>
              </a:rPr>
              <a:t>Note:</a:t>
            </a:r>
          </a:p>
          <a:p>
            <a:pPr eaLnBrk="1" hangingPunct="1"/>
            <a:r>
              <a:rPr lang="en-US" altLang="en-US">
                <a:latin typeface="Arial" pitchFamily="34" charset="0"/>
              </a:rPr>
              <a:t>While this style is another improved version of waterfall, it brings in the clarity of Verification and Validation, both are quality engineering activities including testing.</a:t>
            </a:r>
          </a:p>
          <a:p>
            <a:pPr eaLnBrk="1" hangingPunct="1"/>
            <a:endParaRPr lang="en-US" altLang="en-US">
              <a:latin typeface="Arial"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D31FEBAD-35E8-4522-8301-043D14F9437E}" type="slidenum">
              <a:rPr lang="en-US" altLang="en-US" sz="1200" smtClean="0"/>
              <a:pPr/>
              <a:t>16</a:t>
            </a:fld>
            <a:endParaRPr lang="en-US" altLang="en-US" sz="1200"/>
          </a:p>
        </p:txBody>
      </p:sp>
      <p:sp>
        <p:nvSpPr>
          <p:cNvPr id="323587" name="Rectangle 2"/>
          <p:cNvSpPr>
            <a:spLocks noGrp="1" noRot="1" noChangeAspect="1" noChangeArrowheads="1" noTextEdit="1"/>
          </p:cNvSpPr>
          <p:nvPr>
            <p:ph type="sldImg"/>
          </p:nvPr>
        </p:nvSpPr>
        <p:spPr>
          <a:ln/>
        </p:spPr>
      </p:sp>
      <p:sp>
        <p:nvSpPr>
          <p:cNvPr id="323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b="1">
                <a:latin typeface="Arial" pitchFamily="34" charset="0"/>
              </a:rPr>
              <a:t>Khác nhau giữa verification and validation:</a:t>
            </a:r>
          </a:p>
          <a:p>
            <a:pPr eaLnBrk="1" hangingPunct="1"/>
            <a:r>
              <a:rPr lang="en-US" altLang="en-US">
                <a:latin typeface="Arial" pitchFamily="34" charset="0"/>
              </a:rPr>
              <a:t>VD: Khi đặt hàng, nhận hàng sẽ kiểm:</a:t>
            </a:r>
          </a:p>
          <a:p>
            <a:pPr eaLnBrk="1" hangingPunct="1">
              <a:buFontTx/>
              <a:buChar char="-"/>
            </a:pPr>
            <a:r>
              <a:rPr lang="en-US" altLang="en-US">
                <a:latin typeface="Arial" pitchFamily="34" charset="0"/>
              </a:rPr>
              <a:t>Đúng hàng không (verification) – the right product is built</a:t>
            </a:r>
          </a:p>
          <a:p>
            <a:pPr eaLnBrk="1" hangingPunct="1">
              <a:buFontTx/>
              <a:buChar char="-"/>
            </a:pPr>
            <a:r>
              <a:rPr lang="en-US" altLang="en-US">
                <a:latin typeface="Arial" pitchFamily="34" charset="0"/>
              </a:rPr>
              <a:t>Hàng có được làm đúng cách hay không (validation) – the (right) feature is working correctly or not (finding bug)</a:t>
            </a:r>
          </a:p>
          <a:p>
            <a:pPr eaLnBrk="1" hangingPunct="1"/>
            <a:endParaRPr lang="en-US" altLang="en-US">
              <a:latin typeface="Arial" pitchFamily="34" charset="0"/>
            </a:endParaRPr>
          </a:p>
          <a:p>
            <a:pPr eaLnBrk="1" hangingPunct="1"/>
            <a:r>
              <a:rPr lang="en-US" altLang="en-US" b="1">
                <a:latin typeface="Arial" pitchFamily="34" charset="0"/>
              </a:rPr>
              <a:t>I. Verification Phase</a:t>
            </a:r>
          </a:p>
          <a:p>
            <a:pPr eaLnBrk="1" hangingPunct="1"/>
            <a:r>
              <a:rPr lang="en-US" altLang="en-US" b="1">
                <a:latin typeface="Arial" pitchFamily="34" charset="0"/>
              </a:rPr>
              <a:t>1. Requirements analysis</a:t>
            </a:r>
          </a:p>
          <a:p>
            <a:pPr eaLnBrk="1" hangingPunct="1"/>
            <a:r>
              <a:rPr lang="en-US" altLang="en-US">
                <a:latin typeface="Arial" pitchFamily="34" charset="0"/>
              </a:rPr>
              <a:t>In the Requirements analysis phase, the requirements of the proposed system are collected by analyzing the needs of the user(s). This phase is concerned about establishing what the ideal system has to perform. However it does not determine how the software will be designed or built. Usually, the users are interviewed and a document called the user requirements document is generated.</a:t>
            </a:r>
          </a:p>
          <a:p>
            <a:pPr eaLnBrk="1" hangingPunct="1"/>
            <a:r>
              <a:rPr lang="en-US" altLang="en-US">
                <a:latin typeface="Arial" pitchFamily="34" charset="0"/>
              </a:rPr>
              <a:t>The user requirements document will typically describe the system’s functional, physical, interface, performance, data, security requirements etc as expected by the user. It is one which the business analysts use to communicate their understanding of the system back to the users. The users carefully review this document as this document would serve as the guideline for the system designers in the system design phase. The user acceptance tests are designed in this phase. See also Functional requirements, and Non-functional requirements</a:t>
            </a:r>
            <a:endParaRPr lang="en-US" altLang="en-US" b="1">
              <a:latin typeface="Arial" pitchFamily="34" charset="0"/>
            </a:endParaRPr>
          </a:p>
          <a:p>
            <a:pPr eaLnBrk="1" hangingPunct="1"/>
            <a:r>
              <a:rPr lang="en-US" altLang="en-US" b="1">
                <a:latin typeface="Arial" pitchFamily="34" charset="0"/>
              </a:rPr>
              <a:t>2. System Design</a:t>
            </a:r>
          </a:p>
          <a:p>
            <a:pPr eaLnBrk="1" hangingPunct="1"/>
            <a:r>
              <a:rPr lang="en-US" altLang="en-US">
                <a:latin typeface="Arial" pitchFamily="34" charset="0"/>
              </a:rPr>
              <a:t>Systems design is the phase where system engineers analyze and understand the business of the proposed system by studying the user requirements document. They figure out possibilities and techniques by which the user requirements can be implemented. If any of the requirements are not feasible, the user is informed of the issue. A resolution is found and the user requirement document is edited accordingly.</a:t>
            </a:r>
          </a:p>
          <a:p>
            <a:pPr eaLnBrk="1" hangingPunct="1"/>
            <a:r>
              <a:rPr lang="en-US" altLang="en-US">
                <a:latin typeface="Arial" pitchFamily="34" charset="0"/>
              </a:rPr>
              <a:t>The software specification document which serves as a blueprint for the development phase is generated. This document contains the general system organization, menu structures, data structures etc. It may also hold example business scenarios, sample windows, reports for the better understanding. Other technical documentation like entity diagrams, data dictionary will also be produced in this phase. The documents for system testing is prepared in this phase.</a:t>
            </a:r>
            <a:endParaRPr lang="en-US" altLang="en-US" b="1">
              <a:latin typeface="Arial" pitchFamily="34" charset="0"/>
            </a:endParaRPr>
          </a:p>
          <a:p>
            <a:pPr eaLnBrk="1" hangingPunct="1"/>
            <a:r>
              <a:rPr lang="en-US" altLang="en-US" b="1">
                <a:latin typeface="Arial" pitchFamily="34" charset="0"/>
              </a:rPr>
              <a:t>3. Architecture Design</a:t>
            </a:r>
          </a:p>
          <a:p>
            <a:pPr eaLnBrk="1" hangingPunct="1"/>
            <a:r>
              <a:rPr lang="en-US" altLang="en-US">
                <a:latin typeface="Arial" pitchFamily="34" charset="0"/>
              </a:rPr>
              <a:t>The phase of the design of computer architecture and software architecture can also be referred to as high-level design. The baseline in selecting the architecture is that it should realize all which typically consists of the list of modules, brief functionality of each module, their interface relationships, dependencies, database tables, architecture diagrams, technology details etc. The integration testing design is carried out in this phase.</a:t>
            </a:r>
            <a:endParaRPr lang="en-US" altLang="en-US" b="1">
              <a:latin typeface="Arial" pitchFamily="34" charset="0"/>
            </a:endParaRPr>
          </a:p>
          <a:p>
            <a:pPr eaLnBrk="1" hangingPunct="1"/>
            <a:r>
              <a:rPr lang="en-US" altLang="en-US" b="1">
                <a:latin typeface="Arial" pitchFamily="34" charset="0"/>
              </a:rPr>
              <a:t>4. Module Design</a:t>
            </a:r>
          </a:p>
          <a:p>
            <a:pPr eaLnBrk="1" hangingPunct="1"/>
            <a:r>
              <a:rPr lang="en-US" altLang="en-US">
                <a:latin typeface="Arial" pitchFamily="34" charset="0"/>
              </a:rPr>
              <a:t>The module design phase can also be referred to as low-level design. The designed system is broken up in to smaller units or modules and each of them is explained so that the programmer can start coding directly. The low level design document or program specifications will contain a detailed functional logic of the module, in </a:t>
            </a:r>
            <a:r>
              <a:rPr lang="en-US" altLang="en-US">
                <a:latin typeface="Arial" pitchFamily="34" charset="0"/>
                <a:hlinkClick r:id="rId3" tooltip="Pseudocode"/>
              </a:rPr>
              <a:t>pseudocode</a:t>
            </a:r>
            <a:r>
              <a:rPr lang="en-US" altLang="en-US">
                <a:latin typeface="Arial" pitchFamily="34" charset="0"/>
              </a:rPr>
              <a:t> - database tables, with all elements, including their type and size - all interface details with complete API references- all dependency issues- error message listings- complete input and outputs for a module. The unit test design is developed in this stage.</a:t>
            </a:r>
            <a:endParaRPr lang="en-US" altLang="en-US" b="1">
              <a:latin typeface="Arial" pitchFamily="34" charset="0"/>
            </a:endParaRPr>
          </a:p>
          <a:p>
            <a:pPr eaLnBrk="1" hangingPunct="1"/>
            <a:r>
              <a:rPr lang="en-US" altLang="en-US" b="1">
                <a:latin typeface="Arial" pitchFamily="34" charset="0"/>
              </a:rPr>
              <a:t>II. Validation Phases</a:t>
            </a:r>
          </a:p>
          <a:p>
            <a:pPr eaLnBrk="1" hangingPunct="1"/>
            <a:r>
              <a:rPr lang="en-US" altLang="en-US" b="1">
                <a:latin typeface="Arial" pitchFamily="34" charset="0"/>
              </a:rPr>
              <a:t>1. Unit Testing</a:t>
            </a:r>
          </a:p>
          <a:p>
            <a:pPr eaLnBrk="1" hangingPunct="1"/>
            <a:r>
              <a:rPr lang="en-US" altLang="en-US">
                <a:latin typeface="Arial" pitchFamily="34" charset="0"/>
              </a:rPr>
              <a:t>In the V-model of software development, unit testing implies the first stage of dynamic testing process. According to software development expert Barry Boehm, a fault discovered and corrected in the unit testing phase is more than a hundred times cheaper than if it is done after delivery to the customer.</a:t>
            </a:r>
          </a:p>
          <a:p>
            <a:pPr eaLnBrk="1" hangingPunct="1"/>
            <a:r>
              <a:rPr lang="en-US" altLang="en-US">
                <a:latin typeface="Arial" pitchFamily="34" charset="0"/>
              </a:rPr>
              <a:t>It involves analysis of the written code with the intention of eliminating errors. It also verifies that the codes are efficient and adheres to the adopted coding standards. Testing is usually white box. It is done using the Unit test design prepared during the module design phase. This may be carried out by software testers, software developers or both.</a:t>
            </a:r>
            <a:endParaRPr lang="en-US" altLang="en-US" b="1">
              <a:latin typeface="Arial" pitchFamily="34" charset="0"/>
            </a:endParaRPr>
          </a:p>
          <a:p>
            <a:pPr eaLnBrk="1" hangingPunct="1"/>
            <a:r>
              <a:rPr lang="en-US" altLang="en-US" b="1">
                <a:latin typeface="Arial" pitchFamily="34" charset="0"/>
              </a:rPr>
              <a:t>2. Integration Testing</a:t>
            </a:r>
          </a:p>
          <a:p>
            <a:pPr eaLnBrk="1" hangingPunct="1"/>
            <a:r>
              <a:rPr lang="en-US" altLang="en-US">
                <a:latin typeface="Arial" pitchFamily="34" charset="0"/>
              </a:rPr>
              <a:t>In integration testing the separate modules will be tested together to expose faults in the interfaces and in the interaction between integrated components. Testing is usually black box as the code is not directly checked for errors. It is done using the integration test design prepared during the architecture design phase. Integration testing is generally conducted by software testers.</a:t>
            </a:r>
            <a:endParaRPr lang="en-US" altLang="en-US" b="1">
              <a:latin typeface="Arial" pitchFamily="34" charset="0"/>
            </a:endParaRPr>
          </a:p>
          <a:p>
            <a:pPr eaLnBrk="1" hangingPunct="1"/>
            <a:r>
              <a:rPr lang="en-US" altLang="en-US" b="1">
                <a:latin typeface="Arial" pitchFamily="34" charset="0"/>
              </a:rPr>
              <a:t>3. System Testing</a:t>
            </a:r>
          </a:p>
          <a:p>
            <a:pPr eaLnBrk="1" hangingPunct="1"/>
            <a:r>
              <a:rPr lang="en-US" altLang="en-US">
                <a:latin typeface="Arial" pitchFamily="34" charset="0"/>
              </a:rPr>
              <a:t>System testing will compare the system specifications against the actual system. The system test design is derived from the system design documents and is used in this phase. Sometimes system testing is automated using testing tools. Once all the modules are integrated several errors may arise. Testing done at this stage is called system testing.</a:t>
            </a:r>
          </a:p>
          <a:p>
            <a:pPr eaLnBrk="1" hangingPunct="1"/>
            <a:r>
              <a:rPr lang="en-US" altLang="en-US" b="1">
                <a:latin typeface="Arial" pitchFamily="34" charset="0"/>
              </a:rPr>
              <a:t>4. Final Implementation in Production</a:t>
            </a:r>
            <a:r>
              <a:rPr lang="en-US" altLang="en-US">
                <a:latin typeface="Arial" pitchFamily="34" charset="0"/>
              </a:rPr>
              <a:t> </a:t>
            </a:r>
          </a:p>
          <a:p>
            <a:pPr eaLnBrk="1" hangingPunct="1"/>
            <a:endParaRPr lang="en-US" altLang="en-US">
              <a:latin typeface="Arial"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0C141447-D357-44A4-BA19-FE5C0FEBDF08}" type="slidenum">
              <a:rPr lang="en-US" altLang="en-US" sz="1200" smtClean="0"/>
              <a:pPr/>
              <a:t>17</a:t>
            </a:fld>
            <a:endParaRPr lang="en-US" altLang="en-US" sz="1200"/>
          </a:p>
        </p:txBody>
      </p:sp>
      <p:sp>
        <p:nvSpPr>
          <p:cNvPr id="324611" name="Rectangle 2"/>
          <p:cNvSpPr>
            <a:spLocks noGrp="1" noRot="1" noChangeAspect="1" noChangeArrowheads="1" noTextEdit="1"/>
          </p:cNvSpPr>
          <p:nvPr>
            <p:ph type="sldImg"/>
          </p:nvPr>
        </p:nvSpPr>
        <p:spPr>
          <a:ln/>
        </p:spPr>
      </p:sp>
      <p:sp>
        <p:nvSpPr>
          <p:cNvPr id="324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BA50E3AD-AA77-47F7-A90E-9B4AB4D2BEB4}" type="slidenum">
              <a:rPr lang="en-US" altLang="en-US" sz="1200" smtClean="0"/>
              <a:pPr/>
              <a:t>18</a:t>
            </a:fld>
            <a:endParaRPr lang="en-US" altLang="en-US" sz="1200"/>
          </a:p>
        </p:txBody>
      </p:sp>
      <p:sp>
        <p:nvSpPr>
          <p:cNvPr id="325635" name="Rectangle 2"/>
          <p:cNvSpPr>
            <a:spLocks noGrp="1" noRot="1" noChangeAspect="1" noChangeArrowheads="1" noTextEdit="1"/>
          </p:cNvSpPr>
          <p:nvPr>
            <p:ph type="sldImg"/>
          </p:nvPr>
        </p:nvSpPr>
        <p:spPr>
          <a:ln/>
        </p:spPr>
      </p:sp>
      <p:sp>
        <p:nvSpPr>
          <p:cNvPr id="325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49325" eaLnBrk="1" hangingPunct="1"/>
            <a:r>
              <a:rPr lang="en-US" altLang="en-US" b="1">
                <a:latin typeface="Arial" pitchFamily="34" charset="0"/>
              </a:rPr>
              <a:t>REMINDING:</a:t>
            </a:r>
          </a:p>
          <a:p>
            <a:pPr defTabSz="949325" eaLnBrk="1" hangingPunct="1">
              <a:buFontTx/>
              <a:buChar char="-"/>
            </a:pPr>
            <a:r>
              <a:rPr lang="en-US" altLang="en-US">
                <a:latin typeface="Arial" pitchFamily="34" charset="0"/>
              </a:rPr>
              <a:t>The concurrent development model is also called as concurrent engineering.</a:t>
            </a:r>
          </a:p>
          <a:p>
            <a:pPr defTabSz="949325" eaLnBrk="1" hangingPunct="1">
              <a:buFontTx/>
              <a:buChar char="-"/>
            </a:pPr>
            <a:r>
              <a:rPr lang="en-US" altLang="en-US">
                <a:latin typeface="Arial" pitchFamily="34" charset="0"/>
              </a:rPr>
              <a:t>Concurrent process model can be represented schematically as a series of major technical activities, tasks and their associates states</a:t>
            </a:r>
          </a:p>
          <a:p>
            <a:pPr defTabSz="949325" eaLnBrk="1" hangingPunct="1">
              <a:buFontTx/>
              <a:buChar char="-"/>
            </a:pPr>
            <a:r>
              <a:rPr lang="en-US" altLang="en-US">
                <a:latin typeface="Arial" pitchFamily="34" charset="0"/>
              </a:rPr>
              <a:t>Concurrent process model defines a series of events that will trigger transactions from one state to another for each of the activities in s/w engineering.</a:t>
            </a:r>
          </a:p>
          <a:p>
            <a:pPr defTabSz="949325" eaLnBrk="1" hangingPunct="1">
              <a:buFontTx/>
              <a:buChar char="-"/>
            </a:pPr>
            <a:endParaRPr lang="en-US" altLang="en-US">
              <a:latin typeface="Arial" pitchFamily="34" charset="0"/>
            </a:endParaRPr>
          </a:p>
          <a:p>
            <a:pPr defTabSz="949325" eaLnBrk="1" hangingPunct="1"/>
            <a:r>
              <a:rPr lang="en-US" altLang="en-US">
                <a:latin typeface="Arial" pitchFamily="34" charset="0"/>
              </a:rPr>
              <a:t>Note:</a:t>
            </a:r>
          </a:p>
          <a:p>
            <a:pPr defTabSz="949325" eaLnBrk="1" hangingPunct="1"/>
            <a:r>
              <a:rPr lang="en-US" altLang="en-US">
                <a:latin typeface="Arial" pitchFamily="34" charset="0"/>
              </a:rPr>
              <a:t>This model or style is introduced for completeness of the overall SDLC concept. Many software development teams are, nowadays, move to Agile as an improvement of the concurrent model. There is no need to worry too about this model/style.</a:t>
            </a:r>
          </a:p>
          <a:p>
            <a:pPr defTabSz="949325" eaLnBrk="1" hangingPunct="1"/>
            <a:endParaRPr lang="en-US" altLang="en-US">
              <a:latin typeface="Arial" pitchFamily="34" charset="0"/>
            </a:endParaRPr>
          </a:p>
          <a:p>
            <a:pPr defTabSz="949325" eaLnBrk="1" hangingPunct="1"/>
            <a:endParaRPr lang="en-US" altLang="en-US">
              <a:latin typeface="Arial"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Slide Image Placeholder 1"/>
          <p:cNvSpPr>
            <a:spLocks noGrp="1" noRot="1" noChangeAspect="1" noTextEdit="1"/>
          </p:cNvSpPr>
          <p:nvPr>
            <p:ph type="sldImg"/>
          </p:nvPr>
        </p:nvSpPr>
        <p:spPr>
          <a:ln/>
        </p:spPr>
      </p:sp>
      <p:sp>
        <p:nvSpPr>
          <p:cNvPr id="3266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itchFamily="34" charset="0"/>
              </a:rPr>
              <a:t>Note:</a:t>
            </a:r>
          </a:p>
          <a:p>
            <a:pPr>
              <a:buFontTx/>
              <a:buChar char="•"/>
            </a:pPr>
            <a:r>
              <a:rPr lang="en-US" altLang="en-US">
                <a:latin typeface="Arial" pitchFamily="34" charset="0"/>
              </a:rPr>
              <a:t> Due to the dynamic nature of how the software is defined, designed and developed, it becomes a challenge for testing to effectively involve during the development cycle.</a:t>
            </a:r>
          </a:p>
          <a:p>
            <a:pPr>
              <a:buFontTx/>
              <a:buChar char="•"/>
            </a:pPr>
            <a:r>
              <a:rPr lang="en-US" altLang="en-US">
                <a:latin typeface="Arial" pitchFamily="34" charset="0"/>
              </a:rPr>
              <a:t> In this style, testing is often done at the backend as system testing.</a:t>
            </a:r>
          </a:p>
        </p:txBody>
      </p:sp>
      <p:sp>
        <p:nvSpPr>
          <p:cNvPr id="3266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7FE80A48-7D7F-447A-B21F-D99B6E5003C0}" type="slidenum">
              <a:rPr lang="en-US" altLang="en-US" sz="1200" smtClean="0"/>
              <a:pPr/>
              <a:t>19</a:t>
            </a:fld>
            <a:endParaRPr lang="en-US" altLang="en-US"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11B669DB-A238-44F6-9205-BB794DD8EC22}" type="slidenum">
              <a:rPr lang="en-US" altLang="en-US" sz="1200" smtClean="0"/>
              <a:pPr/>
              <a:t>20</a:t>
            </a:fld>
            <a:endParaRPr lang="en-US" altLang="en-US" sz="1200"/>
          </a:p>
        </p:txBody>
      </p:sp>
      <p:sp>
        <p:nvSpPr>
          <p:cNvPr id="327683" name="Rectangle 2"/>
          <p:cNvSpPr>
            <a:spLocks noGrp="1" noRot="1" noChangeAspect="1" noChangeArrowheads="1" noTextEdit="1"/>
          </p:cNvSpPr>
          <p:nvPr>
            <p:ph type="sldImg"/>
          </p:nvPr>
        </p:nvSpPr>
        <p:spPr>
          <a:ln/>
        </p:spPr>
      </p:sp>
      <p:sp>
        <p:nvSpPr>
          <p:cNvPr id="327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23F76BC3-2D04-4A3D-8367-872E3855ACB2}" type="slidenum">
              <a:rPr lang="en-US" altLang="en-US" sz="1200" smtClean="0"/>
              <a:pPr/>
              <a:t>21</a:t>
            </a:fld>
            <a:endParaRPr lang="en-US" altLang="en-US" sz="1200"/>
          </a:p>
        </p:txBody>
      </p:sp>
      <p:sp>
        <p:nvSpPr>
          <p:cNvPr id="328707" name="Rectangle 2"/>
          <p:cNvSpPr>
            <a:spLocks noGrp="1" noRot="1" noChangeAspect="1" noChangeArrowheads="1" noTextEdit="1"/>
          </p:cNvSpPr>
          <p:nvPr>
            <p:ph type="sldImg"/>
          </p:nvPr>
        </p:nvSpPr>
        <p:spPr>
          <a:ln/>
        </p:spPr>
      </p:sp>
      <p:sp>
        <p:nvSpPr>
          <p:cNvPr id="328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49325" eaLnBrk="1" hangingPunct="1"/>
            <a:endParaRPr lang="en-US" altLang="en-US">
              <a:latin typeface="Arial"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1A1CF330-15C1-4561-8393-19A433F8076A}" type="slidenum">
              <a:rPr lang="en-US" altLang="en-US" sz="1200" smtClean="0"/>
              <a:pPr/>
              <a:t>22</a:t>
            </a:fld>
            <a:endParaRPr lang="en-US" altLang="en-US" sz="1200"/>
          </a:p>
        </p:txBody>
      </p:sp>
      <p:sp>
        <p:nvSpPr>
          <p:cNvPr id="329731" name="Rectangle 2"/>
          <p:cNvSpPr>
            <a:spLocks noGrp="1" noRot="1" noChangeAspect="1" noChangeArrowheads="1" noTextEdit="1"/>
          </p:cNvSpPr>
          <p:nvPr>
            <p:ph type="sldImg"/>
          </p:nvPr>
        </p:nvSpPr>
        <p:spPr>
          <a:ln/>
        </p:spPr>
      </p:sp>
      <p:sp>
        <p:nvSpPr>
          <p:cNvPr id="329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49325" eaLnBrk="1" hangingPunct="1"/>
            <a:endParaRPr lang="en-US" altLang="en-US">
              <a:latin typeface="Arial"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r" eaLnBrk="1" hangingPunct="1"/>
            <a:fld id="{CE7EDB07-BAD1-40AE-8717-3A6F82440837}" type="slidenum">
              <a:rPr lang="en-US" altLang="en-US" sz="1200"/>
              <a:pPr algn="r" eaLnBrk="1" hangingPunct="1"/>
              <a:t>23</a:t>
            </a:fld>
            <a:endParaRPr lang="en-US" altLang="en-US" sz="1200"/>
          </a:p>
        </p:txBody>
      </p:sp>
      <p:sp>
        <p:nvSpPr>
          <p:cNvPr id="330755" name="Rectangle 2"/>
          <p:cNvSpPr>
            <a:spLocks noGrp="1" noRot="1" noChangeAspect="1" noChangeArrowheads="1" noTextEdit="1"/>
          </p:cNvSpPr>
          <p:nvPr>
            <p:ph type="sldImg"/>
          </p:nvPr>
        </p:nvSpPr>
        <p:spPr>
          <a:ln/>
        </p:spPr>
      </p:sp>
      <p:sp>
        <p:nvSpPr>
          <p:cNvPr id="330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49325" eaLnBrk="1" hangingPunct="1"/>
            <a:r>
              <a:rPr lang="en-US" altLang="en-US">
                <a:latin typeface="Arial" pitchFamily="34" charset="0"/>
              </a:rPr>
              <a:t>ALM Tool: Application Lifecycle Management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r" eaLnBrk="1" hangingPunct="1"/>
            <a:fld id="{232FED2F-0622-410E-9F9D-5720DA1FEC36}" type="slidenum">
              <a:rPr lang="en-US" altLang="en-US" sz="1200"/>
              <a:pPr algn="r" eaLnBrk="1" hangingPunct="1"/>
              <a:t>24</a:t>
            </a:fld>
            <a:endParaRPr lang="en-US" altLang="en-US" sz="1200"/>
          </a:p>
        </p:txBody>
      </p:sp>
      <p:sp>
        <p:nvSpPr>
          <p:cNvPr id="331779" name="Rectangle 2"/>
          <p:cNvSpPr>
            <a:spLocks noGrp="1" noRot="1" noChangeAspect="1" noChangeArrowheads="1" noTextEdit="1"/>
          </p:cNvSpPr>
          <p:nvPr>
            <p:ph type="sldImg"/>
          </p:nvPr>
        </p:nvSpPr>
        <p:spPr>
          <a:ln/>
        </p:spPr>
      </p:sp>
      <p:sp>
        <p:nvSpPr>
          <p:cNvPr id="331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49325" eaLnBrk="1" hangingPunct="1"/>
            <a:endParaRPr lang="en-US" altLang="en-US">
              <a:latin typeface="Arial"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Slide Image Placeholder 1"/>
          <p:cNvSpPr>
            <a:spLocks noGrp="1" noRot="1" noChangeAspect="1" noTextEdit="1"/>
          </p:cNvSpPr>
          <p:nvPr>
            <p:ph type="sldImg"/>
          </p:nvPr>
        </p:nvSpPr>
        <p:spPr>
          <a:ln/>
        </p:spPr>
      </p:sp>
      <p:sp>
        <p:nvSpPr>
          <p:cNvPr id="3328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itchFamily="34" charset="0"/>
              </a:rPr>
              <a:t>Note:</a:t>
            </a:r>
          </a:p>
          <a:p>
            <a:pPr>
              <a:buFontTx/>
              <a:buChar char="•"/>
            </a:pPr>
            <a:r>
              <a:rPr lang="en-US" altLang="en-US">
                <a:latin typeface="Arial" pitchFamily="34" charset="0"/>
              </a:rPr>
              <a:t> Do not confused developer-testing or unit testing as system testing. Developer-testing or unit testing is aimed to improve the quality of the code (at the coding level) delivered to QA. However, more testing must be done to validate the individual functionality as well as how the software works as a whole.</a:t>
            </a:r>
          </a:p>
          <a:p>
            <a:pPr>
              <a:buFontTx/>
              <a:buChar char="•"/>
            </a:pPr>
            <a:r>
              <a:rPr lang="en-US" altLang="en-US">
                <a:latin typeface="Arial" pitchFamily="34" charset="0"/>
              </a:rPr>
              <a:t> Test must be designed, often before the working functionalities are available for testing. Testing cycles are short.</a:t>
            </a:r>
          </a:p>
          <a:p>
            <a:pPr>
              <a:buFontTx/>
              <a:buChar char="•"/>
            </a:pPr>
            <a:r>
              <a:rPr lang="en-US" altLang="en-US">
                <a:latin typeface="Arial" pitchFamily="34" charset="0"/>
              </a:rPr>
              <a:t> While testing is exploratory or ad-hoc by nature, combining flexibility with structured testing and automation is essential.</a:t>
            </a:r>
          </a:p>
          <a:p>
            <a:pPr>
              <a:buFontTx/>
              <a:buChar char="•"/>
            </a:pPr>
            <a:r>
              <a:rPr lang="en-US" altLang="en-US">
                <a:latin typeface="Arial" pitchFamily="34" charset="0"/>
              </a:rPr>
              <a:t> (Automated) Regression testing is another essential element of testing in Agile style. Automated regression testing is implemented at two levels: Unit testing (designed and implemented by developers, run and rerun by developers as well as testers) and system testing (designed, implemented, run and rerun by testers).</a:t>
            </a:r>
          </a:p>
        </p:txBody>
      </p:sp>
      <p:sp>
        <p:nvSpPr>
          <p:cNvPr id="3328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DC6BBF1A-C24D-4FB4-A6D6-772BF964448B}" type="slidenum">
              <a:rPr lang="en-US" altLang="en-US" sz="1200" smtClean="0"/>
              <a:pPr/>
              <a:t>25</a:t>
            </a:fld>
            <a:endParaRPr lang="en-US" altLang="en-US"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090DFC96-0DE3-4A56-A6D3-553119291F83}" type="slidenum">
              <a:rPr lang="en-US" altLang="en-US" sz="1200" smtClean="0"/>
              <a:pPr/>
              <a:t>26</a:t>
            </a:fld>
            <a:endParaRPr lang="en-US" altLang="en-US" sz="1200"/>
          </a:p>
        </p:txBody>
      </p:sp>
      <p:sp>
        <p:nvSpPr>
          <p:cNvPr id="333827" name="Rectangle 2"/>
          <p:cNvSpPr>
            <a:spLocks noGrp="1" noRot="1" noChangeAspect="1" noChangeArrowheads="1" noTextEdit="1"/>
          </p:cNvSpPr>
          <p:nvPr>
            <p:ph type="sldImg"/>
          </p:nvPr>
        </p:nvSpPr>
        <p:spPr>
          <a:ln/>
        </p:spPr>
      </p:sp>
      <p:sp>
        <p:nvSpPr>
          <p:cNvPr id="333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9A17714A-DABD-4836-9F6F-1C2B42D2FC36}" type="slidenum">
              <a:rPr lang="en-US" altLang="en-US" sz="1200" smtClean="0"/>
              <a:pPr/>
              <a:t>27</a:t>
            </a:fld>
            <a:endParaRPr lang="en-US" altLang="en-US" sz="1200"/>
          </a:p>
        </p:txBody>
      </p:sp>
      <p:sp>
        <p:nvSpPr>
          <p:cNvPr id="334851" name="Rectangle 2"/>
          <p:cNvSpPr>
            <a:spLocks noGrp="1" noRot="1" noChangeAspect="1" noChangeArrowheads="1" noTextEdit="1"/>
          </p:cNvSpPr>
          <p:nvPr>
            <p:ph type="sldImg"/>
          </p:nvPr>
        </p:nvSpPr>
        <p:spPr>
          <a:ln/>
        </p:spPr>
      </p:sp>
      <p:sp>
        <p:nvSpPr>
          <p:cNvPr id="334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itchFamily="34" charset="0"/>
              </a:rPr>
              <a:t>Reality check:</a:t>
            </a:r>
          </a:p>
          <a:p>
            <a:pPr eaLnBrk="1" hangingPunct="1">
              <a:buFontTx/>
              <a:buChar char="•"/>
            </a:pPr>
            <a:r>
              <a:rPr lang="en-US" altLang="en-US">
                <a:latin typeface="Arial" pitchFamily="34" charset="0"/>
              </a:rPr>
              <a:t> As we are wrapping up the introduction of the SDLC models, it is essential to know that many software development organizations, they might say that the are applying certain model, in reality, they might be loosely apply the concept of that model. The most important fact is to determine how much time we have for testing, and when can we start doing what testing activities.</a:t>
            </a:r>
          </a:p>
          <a:p>
            <a:pPr eaLnBrk="1" hangingPunct="1">
              <a:buFontTx/>
              <a:buChar char="•"/>
            </a:pPr>
            <a:r>
              <a:rPr lang="en-US" altLang="en-US">
                <a:latin typeface="Arial" pitchFamily="34" charset="0"/>
              </a:rPr>
              <a:t> That brings us to the next topic which is the most important topic as it affect testing time in each SLDC model.</a:t>
            </a:r>
          </a:p>
          <a:p>
            <a:pPr eaLnBrk="1" hangingPunct="1">
              <a:buFontTx/>
              <a:buChar char="•"/>
            </a:pPr>
            <a:endParaRPr lang="en-US" altLang="en-US">
              <a:latin typeface="Arial" pitchFamily="34" charset="0"/>
            </a:endParaRPr>
          </a:p>
          <a:p>
            <a:pPr eaLnBrk="1" hangingPunct="1">
              <a:buFontTx/>
              <a:buChar char="•"/>
            </a:pPr>
            <a:r>
              <a:rPr lang="en-US" altLang="en-US">
                <a:latin typeface="Arial" pitchFamily="34" charset="0"/>
              </a:rPr>
              <a:t>LSD: https://en.wikipedia.org/wiki/Lean_software_development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4726669D-54AE-4447-8E27-6BC8D47BAAA4}" type="slidenum">
              <a:rPr lang="en-US" altLang="en-US" sz="1200" smtClean="0"/>
              <a:pPr/>
              <a:t>28</a:t>
            </a:fld>
            <a:endParaRPr lang="en-US" altLang="en-US" sz="1200"/>
          </a:p>
        </p:txBody>
      </p:sp>
      <p:sp>
        <p:nvSpPr>
          <p:cNvPr id="335875" name="Rectangle 2"/>
          <p:cNvSpPr>
            <a:spLocks noGrp="1" noRot="1" noChangeAspect="1" noChangeArrowheads="1" noTextEdit="1"/>
          </p:cNvSpPr>
          <p:nvPr>
            <p:ph type="sldImg"/>
          </p:nvPr>
        </p:nvSpPr>
        <p:spPr>
          <a:ln/>
        </p:spPr>
      </p:sp>
      <p:sp>
        <p:nvSpPr>
          <p:cNvPr id="335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64D71C8A-9EC5-42F9-B901-0D097C379C8D}" type="slidenum">
              <a:rPr lang="en-US" altLang="en-US" sz="1200" smtClean="0"/>
              <a:pPr/>
              <a:t>29</a:t>
            </a:fld>
            <a:endParaRPr lang="en-US" altLang="en-US" sz="1200"/>
          </a:p>
        </p:txBody>
      </p:sp>
      <p:sp>
        <p:nvSpPr>
          <p:cNvPr id="336899" name="Rectangle 2"/>
          <p:cNvSpPr>
            <a:spLocks noGrp="1" noRot="1" noChangeAspect="1" noChangeArrowheads="1" noTextEdit="1"/>
          </p:cNvSpPr>
          <p:nvPr>
            <p:ph type="sldImg"/>
          </p:nvPr>
        </p:nvSpPr>
        <p:spPr>
          <a:ln/>
        </p:spPr>
      </p:sp>
      <p:sp>
        <p:nvSpPr>
          <p:cNvPr id="336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b="1">
                <a:latin typeface="Arial" pitchFamily="34" charset="0"/>
              </a:rPr>
              <a:t>REMINDING: Các giai đoạn và cột mốc trong quá trình phát triển phần mềm</a:t>
            </a:r>
          </a:p>
          <a:p>
            <a:pPr eaLnBrk="1" hangingPunct="1"/>
            <a:endParaRPr lang="en-US" altLang="en-US" b="1">
              <a:latin typeface="Arial" pitchFamily="34" charset="0"/>
            </a:endParaRPr>
          </a:p>
          <a:p>
            <a:pPr eaLnBrk="1" hangingPunct="1"/>
            <a:r>
              <a:rPr lang="en-US" altLang="en-US">
                <a:latin typeface="Arial" pitchFamily="34" charset="0"/>
              </a:rPr>
              <a:t>VD về 1 phase: Quá trình học đại học là 4 năm (1 SDLC), thì năm đầu tiên sẽ là 1</a:t>
            </a:r>
            <a:r>
              <a:rPr lang="en-US" altLang="en-US" baseline="30000">
                <a:latin typeface="Arial" pitchFamily="34" charset="0"/>
              </a:rPr>
              <a:t>st</a:t>
            </a:r>
            <a:r>
              <a:rPr lang="en-US" altLang="en-US">
                <a:latin typeface="Arial" pitchFamily="34" charset="0"/>
              </a:rPr>
              <a:t> phrase…Trong năm học đầu tiên đó bạn sẽ trải qua nhiều hoạt động ví dụ như nghe giảng bài, làm bài tập, nghiên cứu…để có thể thi đỗ kỳ thi kết thúc năm học thứ nhất. Cái mốc chuyển từ năm thứ nhất sang năm thứ 2 được xem như 1 milestone.</a:t>
            </a:r>
          </a:p>
          <a:p>
            <a:pPr eaLnBrk="1" hangingPunct="1"/>
            <a:endParaRPr lang="en-US" altLang="en-US">
              <a:latin typeface="Arial" pitchFamily="34" charset="0"/>
            </a:endParaRPr>
          </a:p>
          <a:p>
            <a:pPr eaLnBrk="1" hangingPunct="1"/>
            <a:r>
              <a:rPr lang="en-US" altLang="en-US">
                <a:latin typeface="Arial" pitchFamily="34" charset="0"/>
              </a:rPr>
              <a:t>Milestone giúp chúng ta quản lý các phases.</a:t>
            </a:r>
          </a:p>
          <a:p>
            <a:pPr eaLnBrk="1" hangingPunct="1"/>
            <a:endParaRPr lang="en-US" altLang="en-US">
              <a:latin typeface="Arial" pitchFamily="34" charset="0"/>
            </a:endParaRPr>
          </a:p>
          <a:p>
            <a:pPr eaLnBrk="1" hangingPunct="1"/>
            <a:r>
              <a:rPr lang="en-US" altLang="en-US">
                <a:latin typeface="Arial" pitchFamily="34" charset="0"/>
              </a:rPr>
              <a:t>Để pass được 1 milestone, phần mềm phải đạt một chuẩn nào đó, được gọi là criteria (Cũng như muốn kết thúc năm nhất, pass được qua năm thứ 2, sinh viên phải được trên 5 tất cả các môn thi chẳng hạn).</a:t>
            </a:r>
          </a:p>
          <a:p>
            <a:pPr eaLnBrk="1" hangingPunct="1"/>
            <a:endParaRPr lang="en-US" altLang="en-US">
              <a:latin typeface="Arial" pitchFamily="34" charset="0"/>
            </a:endParaRPr>
          </a:p>
          <a:p>
            <a:pPr eaLnBrk="1" hangingPunct="1"/>
            <a:endParaRPr lang="en-US" altLang="en-US">
              <a:latin typeface="Arial"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F0F0B2D4-CB6E-4B8B-B038-F58C5A263AFD}" type="slidenum">
              <a:rPr lang="en-US" altLang="en-US" sz="1200" smtClean="0"/>
              <a:pPr/>
              <a:t>30</a:t>
            </a:fld>
            <a:endParaRPr lang="en-US" altLang="en-US" sz="1200"/>
          </a:p>
        </p:txBody>
      </p:sp>
      <p:sp>
        <p:nvSpPr>
          <p:cNvPr id="337923" name="Rectangle 2"/>
          <p:cNvSpPr>
            <a:spLocks noGrp="1" noRot="1" noChangeAspect="1" noChangeArrowheads="1" noTextEdit="1"/>
          </p:cNvSpPr>
          <p:nvPr>
            <p:ph type="sldImg"/>
          </p:nvPr>
        </p:nvSpPr>
        <p:spPr>
          <a:ln/>
        </p:spPr>
      </p:sp>
      <p:sp>
        <p:nvSpPr>
          <p:cNvPr id="337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i="1">
              <a:latin typeface="Arial"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4D3280EE-C22D-49C4-BE5C-E7367B5A2191}" type="slidenum">
              <a:rPr lang="en-US" altLang="en-US" sz="1200" smtClean="0"/>
              <a:pPr/>
              <a:t>31</a:t>
            </a:fld>
            <a:endParaRPr lang="en-US" altLang="en-US" sz="1200"/>
          </a:p>
        </p:txBody>
      </p:sp>
      <p:sp>
        <p:nvSpPr>
          <p:cNvPr id="338947" name="Rectangle 2"/>
          <p:cNvSpPr>
            <a:spLocks noGrp="1" noRot="1" noChangeAspect="1" noChangeArrowheads="1" noTextEdit="1"/>
          </p:cNvSpPr>
          <p:nvPr>
            <p:ph type="sldImg"/>
          </p:nvPr>
        </p:nvSpPr>
        <p:spPr>
          <a:ln/>
        </p:spPr>
      </p:sp>
      <p:sp>
        <p:nvSpPr>
          <p:cNvPr id="338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80C76B63-9B92-49B8-BBFF-16DD1B4544E9}" type="slidenum">
              <a:rPr lang="en-US" altLang="en-US" sz="1200" smtClean="0"/>
              <a:pPr/>
              <a:t>32</a:t>
            </a:fld>
            <a:endParaRPr lang="en-US" altLang="en-US" sz="1200"/>
          </a:p>
        </p:txBody>
      </p:sp>
      <p:sp>
        <p:nvSpPr>
          <p:cNvPr id="339971" name="Rectangle 2"/>
          <p:cNvSpPr>
            <a:spLocks noGrp="1" noRot="1" noChangeAspect="1" noChangeArrowheads="1" noTextEdit="1"/>
          </p:cNvSpPr>
          <p:nvPr>
            <p:ph type="sldImg"/>
          </p:nvPr>
        </p:nvSpPr>
        <p:spPr>
          <a:ln/>
        </p:spPr>
      </p:sp>
      <p:sp>
        <p:nvSpPr>
          <p:cNvPr id="339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itchFamily="34" charset="0"/>
              </a:rPr>
              <a:t>The DevOps movement started to coalesce some time between 2007 and 2008, when IT operations and software development communities got vocal about what they felt was a fatal level of dysfunction in the industry.</a:t>
            </a:r>
          </a:p>
          <a:p>
            <a:r>
              <a:rPr lang="en-US" altLang="en-US">
                <a:latin typeface="Arial" pitchFamily="34" charset="0"/>
              </a:rPr>
              <a:t>They railed against the traditional software development model, which called for those who write the code to be organizationally and functionally apart from those who deploy and support that code.</a:t>
            </a:r>
          </a:p>
          <a:p>
            <a:r>
              <a:rPr lang="en-US" altLang="en-US">
                <a:latin typeface="Arial" pitchFamily="34" charset="0"/>
              </a:rPr>
              <a:t>Developers and </a:t>
            </a:r>
            <a:r>
              <a:rPr lang="en-US" altLang="en-US">
                <a:latin typeface="Arial" pitchFamily="34" charset="0"/>
                <a:hlinkClick r:id="rId3"/>
              </a:rPr>
              <a:t>IT/Ops professionals</a:t>
            </a:r>
            <a:r>
              <a:rPr lang="en-US" altLang="en-US">
                <a:latin typeface="Arial" pitchFamily="34" charset="0"/>
              </a:rPr>
              <a:t> had separate (and often competing) objectives, separate department leadership, separate key performance indicators by which they were judged, and often worked on separate floors or even separate buildings. The result was siloed teams concerned only with their own fiefdoms, long hours, botched releases, and unhappy customers.</a:t>
            </a:r>
          </a:p>
          <a:p>
            <a:r>
              <a:rPr lang="en-US" altLang="en-US">
                <a:latin typeface="Arial" pitchFamily="34" charset="0"/>
              </a:rPr>
              <a:t>Surely there’s a better way, they said. So the two communities got together and started talking – with people like Patrick Dubois, Gene Kim, and John Willis driving the conversation.</a:t>
            </a:r>
          </a:p>
          <a:p>
            <a:r>
              <a:rPr lang="en-US" altLang="en-US">
                <a:latin typeface="Arial" pitchFamily="34" charset="0"/>
              </a:rPr>
              <a:t>What began in online forums and local meet-ups is now a major theme in the software zeitgeist, which is probably what brought you here! You and your team are feeling the pain caused by siloed teams and broken lines of communication within your company.</a:t>
            </a:r>
          </a:p>
          <a:p>
            <a:r>
              <a:rPr lang="en-US" altLang="en-US">
                <a:latin typeface="Arial" pitchFamily="34" charset="0"/>
              </a:rPr>
              <a:t>You’re using </a:t>
            </a:r>
            <a:r>
              <a:rPr lang="en-US" altLang="en-US">
                <a:latin typeface="Arial" pitchFamily="34" charset="0"/>
                <a:hlinkClick r:id="rId4"/>
              </a:rPr>
              <a:t>agile methodologies for planning and development</a:t>
            </a:r>
            <a:r>
              <a:rPr lang="en-US" altLang="en-US">
                <a:latin typeface="Arial" pitchFamily="34" charset="0"/>
              </a:rPr>
              <a:t>, but still struggling to get that code out the door without a bunch of drama. You’ve heard a few things about DevOps and the seemingly magical effect it can have on teams and think “I want some of that magic.”</a:t>
            </a:r>
          </a:p>
          <a:p>
            <a:r>
              <a:rPr lang="en-US" altLang="en-US">
                <a:latin typeface="Arial" pitchFamily="34" charset="0"/>
              </a:rPr>
              <a:t>The bad news is that DevOps isn’t magic, and transformations don’t happen overnight. The good news is that you don’t have to wait for upper management to roll out a large-scale initiative. By understanding the value of DevOps and making small, incremental changes, your team can embark on the DevOps journey right away. Let’s look at each of these benefits in detail.</a:t>
            </a:r>
          </a:p>
          <a:p>
            <a:r>
              <a:rPr lang="en-US" altLang="en-US">
                <a:latin typeface="Arial" pitchFamily="34" charset="0"/>
              </a:rPr>
              <a:t>The DevOps movement started to coalesce some time between 2007 &amp; 2008.</a:t>
            </a:r>
          </a:p>
          <a:p>
            <a:r>
              <a:rPr lang="en-US" altLang="en-US">
                <a:latin typeface="Arial" pitchFamily="34" charset="0"/>
              </a:rPr>
              <a:t>The DevOps movement inherits from the Agile System Administration movement and the Enterprise Systems Management (ESM) movement.</a:t>
            </a:r>
          </a:p>
          <a:p>
            <a:r>
              <a:rPr lang="en-US" altLang="en-US">
                <a:latin typeface="Arial" pitchFamily="34" charset="0"/>
              </a:rPr>
              <a:t>in 2009, Patrick Debois from Belgium and Andrew “Clay” Shafer from the US met and </a:t>
            </a:r>
            <a:r>
              <a:rPr lang="en-US" altLang="en-US" u="sng">
                <a:latin typeface="Arial" pitchFamily="34" charset="0"/>
                <a:hlinkClick r:id="rId5"/>
              </a:rPr>
              <a:t>started talking up (and coined the term) DevOps</a:t>
            </a:r>
            <a:r>
              <a:rPr lang="en-US" altLang="en-US">
                <a:latin typeface="Arial" pitchFamily="34" charset="0"/>
              </a:rPr>
              <a:t>, and then Patrick held the first DevOpsDays event in Ghent that lit the fuse.</a:t>
            </a:r>
          </a:p>
          <a:p>
            <a:pPr eaLnBrk="1" hangingPunct="1"/>
            <a:endParaRPr lang="en-US" altLang="en-US">
              <a:latin typeface="Arial"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3712C445-B598-44FA-8C11-D78110759927}" type="slidenum">
              <a:rPr lang="en-US" altLang="en-US" sz="1200" smtClean="0"/>
              <a:pPr/>
              <a:t>33</a:t>
            </a:fld>
            <a:endParaRPr lang="en-US" altLang="en-US" sz="1200"/>
          </a:p>
        </p:txBody>
      </p:sp>
      <p:sp>
        <p:nvSpPr>
          <p:cNvPr id="340995" name="Rectangle 2"/>
          <p:cNvSpPr>
            <a:spLocks noGrp="1" noRot="1" noChangeAspect="1" noChangeArrowheads="1" noTextEdit="1"/>
          </p:cNvSpPr>
          <p:nvPr>
            <p:ph type="sldImg"/>
          </p:nvPr>
        </p:nvSpPr>
        <p:spPr>
          <a:ln/>
        </p:spPr>
      </p:sp>
      <p:sp>
        <p:nvSpPr>
          <p:cNvPr id="340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C4A4EDC7-D9C8-4156-9591-061112C323A3}" type="slidenum">
              <a:rPr lang="en-US" altLang="en-US" sz="1200" smtClean="0"/>
              <a:pPr/>
              <a:t>34</a:t>
            </a:fld>
            <a:endParaRPr lang="en-US" altLang="en-US" sz="1200"/>
          </a:p>
        </p:txBody>
      </p:sp>
      <p:sp>
        <p:nvSpPr>
          <p:cNvPr id="342019" name="Rectangle 2"/>
          <p:cNvSpPr>
            <a:spLocks noGrp="1" noRot="1" noChangeAspect="1" noChangeArrowheads="1" noTextEdit="1"/>
          </p:cNvSpPr>
          <p:nvPr>
            <p:ph type="sldImg"/>
          </p:nvPr>
        </p:nvSpPr>
        <p:spPr>
          <a:ln/>
        </p:spPr>
      </p:sp>
      <p:sp>
        <p:nvSpPr>
          <p:cNvPr id="342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14D31C39-F915-4115-AD05-D3DAF4246772}" type="slidenum">
              <a:rPr lang="en-US" altLang="en-US" sz="1200" smtClean="0"/>
              <a:pPr/>
              <a:t>35</a:t>
            </a:fld>
            <a:endParaRPr lang="en-US" altLang="en-US" sz="1200"/>
          </a:p>
        </p:txBody>
      </p:sp>
      <p:sp>
        <p:nvSpPr>
          <p:cNvPr id="344067" name="Rectangle 2"/>
          <p:cNvSpPr>
            <a:spLocks noGrp="1" noRot="1" noChangeAspect="1" noChangeArrowheads="1" noTextEdit="1"/>
          </p:cNvSpPr>
          <p:nvPr>
            <p:ph type="sldImg"/>
          </p:nvPr>
        </p:nvSpPr>
        <p:spPr>
          <a:ln/>
        </p:spPr>
      </p:sp>
      <p:sp>
        <p:nvSpPr>
          <p:cNvPr id="344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530E94F6-48A9-44B1-81BD-FE7635A4F7BC}" type="slidenum">
              <a:rPr lang="en-US" altLang="en-US" sz="1200" smtClean="0"/>
              <a:pPr/>
              <a:t>36</a:t>
            </a:fld>
            <a:endParaRPr lang="en-US" altLang="en-US" sz="1200"/>
          </a:p>
        </p:txBody>
      </p:sp>
      <p:sp>
        <p:nvSpPr>
          <p:cNvPr id="345091" name="Rectangle 2"/>
          <p:cNvSpPr>
            <a:spLocks noGrp="1" noRot="1" noChangeAspect="1" noChangeArrowheads="1" noTextEdit="1"/>
          </p:cNvSpPr>
          <p:nvPr>
            <p:ph type="sldImg"/>
          </p:nvPr>
        </p:nvSpPr>
        <p:spPr>
          <a:ln/>
        </p:spPr>
      </p:sp>
      <p:sp>
        <p:nvSpPr>
          <p:cNvPr id="345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itchFamily="34" charset="0"/>
              </a:rPr>
              <a:t>https://www.atlassian.com/continuous-delivery/ci-vs-ci-vs-cd</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1A068308-884A-406B-A687-2DB33C601A48}" type="slidenum">
              <a:rPr lang="en-US" altLang="en-US" sz="1200" smtClean="0"/>
              <a:pPr/>
              <a:t>37</a:t>
            </a:fld>
            <a:endParaRPr lang="en-US" altLang="en-US" sz="1200"/>
          </a:p>
        </p:txBody>
      </p:sp>
      <p:sp>
        <p:nvSpPr>
          <p:cNvPr id="349187" name="Rectangle 2"/>
          <p:cNvSpPr>
            <a:spLocks noGrp="1" noRot="1" noChangeAspect="1" noChangeArrowheads="1" noTextEdit="1"/>
          </p:cNvSpPr>
          <p:nvPr>
            <p:ph type="sldImg"/>
          </p:nvPr>
        </p:nvSpPr>
        <p:spPr>
          <a:ln/>
        </p:spPr>
      </p:sp>
      <p:sp>
        <p:nvSpPr>
          <p:cNvPr id="349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itchFamily="34" charset="0"/>
              </a:rPr>
              <a:t>https://www.atlassian.com/continuous-delivery/ci-vs-ci-vs-cd</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fld id="{3FFCB5BA-018D-4033-A51D-0DDB07CA6037}" type="slidenum">
              <a:rPr lang="en-US" altLang="en-US" sz="1200" smtClean="0"/>
              <a:pPr/>
              <a:t>38</a:t>
            </a:fld>
            <a:endParaRPr lang="en-US" altLang="en-US" sz="1200"/>
          </a:p>
        </p:txBody>
      </p:sp>
      <p:sp>
        <p:nvSpPr>
          <p:cNvPr id="350211" name="Rectangle 2"/>
          <p:cNvSpPr>
            <a:spLocks noGrp="1" noRot="1" noChangeAspect="1" noChangeArrowheads="1" noTextEdit="1"/>
          </p:cNvSpPr>
          <p:nvPr>
            <p:ph type="sldImg"/>
          </p:nvPr>
        </p:nvSpPr>
        <p:spPr>
          <a:ln/>
        </p:spPr>
      </p:sp>
      <p:sp>
        <p:nvSpPr>
          <p:cNvPr id="350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6737982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p:cNvSpPr/>
          <p:nvPr/>
        </p:nvSpPr>
        <p:spPr>
          <a:xfrm>
            <a:off x="955675" y="933450"/>
            <a:ext cx="815975" cy="65088"/>
          </a:xfrm>
          <a:prstGeom prst="rect">
            <a:avLst/>
          </a:prstGeom>
          <a:solidFill>
            <a:srgbClr val="00499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866216" y="249239"/>
            <a:ext cx="7401485" cy="530223"/>
          </a:xfrm>
        </p:spPr>
        <p:txBody>
          <a:bodyPr/>
          <a:lstStyle>
            <a:lvl1pPr>
              <a:defRPr b="1">
                <a:solidFill>
                  <a:srgbClr val="164D90"/>
                </a:solidFill>
              </a:defRPr>
            </a:lvl1pPr>
          </a:lstStyle>
          <a:p>
            <a:r>
              <a:rPr lang="en-US"/>
              <a:t>Click to edit Master title style</a:t>
            </a:r>
            <a:endParaRPr lang="en-US" dirty="0"/>
          </a:p>
        </p:txBody>
      </p:sp>
      <p:sp>
        <p:nvSpPr>
          <p:cNvPr id="3" name="Content Placeholder 2"/>
          <p:cNvSpPr>
            <a:spLocks noGrp="1"/>
          </p:cNvSpPr>
          <p:nvPr>
            <p:ph idx="1"/>
          </p:nvPr>
        </p:nvSpPr>
        <p:spPr>
          <a:xfrm>
            <a:off x="866217" y="1240631"/>
            <a:ext cx="7401484" cy="2562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845785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66216" y="1952626"/>
            <a:ext cx="3618869" cy="256222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6536" y="1952625"/>
            <a:ext cx="3618869" cy="256222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7988300" y="4795838"/>
            <a:ext cx="742950" cy="228600"/>
          </a:xfrm>
          <a:prstGeom prst="rect">
            <a:avLst/>
          </a:prstGeom>
        </p:spPr>
        <p:txBody>
          <a:bodyPr/>
          <a:lstStyle>
            <a:lvl1pPr>
              <a:defRPr>
                <a:latin typeface="Arial" charset="0"/>
              </a:defRPr>
            </a:lvl1pPr>
          </a:lstStyle>
          <a:p>
            <a:pPr>
              <a:defRPr/>
            </a:pPr>
            <a:endParaRPr lang="en-US"/>
          </a:p>
        </p:txBody>
      </p:sp>
      <p:sp>
        <p:nvSpPr>
          <p:cNvPr id="6" name="Slide Number Placeholder 6"/>
          <p:cNvSpPr>
            <a:spLocks noGrp="1"/>
          </p:cNvSpPr>
          <p:nvPr>
            <p:ph type="sldNum" sz="quarter" idx="11"/>
          </p:nvPr>
        </p:nvSpPr>
        <p:spPr>
          <a:xfrm>
            <a:off x="7764463" y="222250"/>
            <a:ext cx="628650" cy="574675"/>
          </a:xfrm>
          <a:prstGeom prst="rect">
            <a:avLst/>
          </a:prstGeom>
        </p:spPr>
        <p:txBody>
          <a:bodyPr/>
          <a:lstStyle>
            <a:lvl1pPr>
              <a:defRPr>
                <a:latin typeface="Arial" charset="0"/>
              </a:defRPr>
            </a:lvl1pPr>
          </a:lstStyle>
          <a:p>
            <a:pPr>
              <a:defRPr/>
            </a:pPr>
            <a:fld id="{BD839854-ECEE-466B-982F-ABA05B1691E6}" type="slidenum">
              <a:rPr lang="en-US" altLang="en-US"/>
              <a:pPr>
                <a:defRPr/>
              </a:pPr>
              <a:t>‹#›</a:t>
            </a:fld>
            <a:endParaRPr lang="en-US" altLang="en-US"/>
          </a:p>
        </p:txBody>
      </p:sp>
    </p:spTree>
    <p:extLst>
      <p:ext uri="{BB962C8B-B14F-4D97-AF65-F5344CB8AC3E}">
        <p14:creationId xmlns:p14="http://schemas.microsoft.com/office/powerpoint/2010/main" val="3662598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66216" y="1952625"/>
            <a:ext cx="3618868" cy="432197"/>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66216" y="2384823"/>
            <a:ext cx="3618869" cy="213002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56536" y="1952625"/>
            <a:ext cx="3618869" cy="432197"/>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56534" y="2384823"/>
            <a:ext cx="3618869" cy="213002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7988300" y="4795838"/>
            <a:ext cx="742950" cy="228600"/>
          </a:xfrm>
          <a:prstGeom prst="rect">
            <a:avLst/>
          </a:prstGeom>
        </p:spPr>
        <p:txBody>
          <a:bodyPr/>
          <a:lstStyle>
            <a:lvl1pPr>
              <a:defRPr>
                <a:latin typeface="Arial" charset="0"/>
              </a:defRPr>
            </a:lvl1pPr>
          </a:lstStyle>
          <a:p>
            <a:pPr>
              <a:defRPr/>
            </a:pPr>
            <a:endParaRPr lang="en-US"/>
          </a:p>
        </p:txBody>
      </p:sp>
      <p:sp>
        <p:nvSpPr>
          <p:cNvPr id="8" name="Footer Placeholder 7"/>
          <p:cNvSpPr>
            <a:spLocks noGrp="1"/>
          </p:cNvSpPr>
          <p:nvPr>
            <p:ph type="ftr" sz="quarter" idx="11"/>
          </p:nvPr>
        </p:nvSpPr>
        <p:spPr>
          <a:xfrm>
            <a:off x="396875" y="4794250"/>
            <a:ext cx="2894013" cy="228600"/>
          </a:xfrm>
          <a:prstGeom prst="rect">
            <a:avLst/>
          </a:prstGeom>
        </p:spPr>
        <p:txBody>
          <a:bodyPr/>
          <a:lstStyle>
            <a:lvl1pPr>
              <a:defRPr>
                <a:latin typeface="Arial" charset="0"/>
              </a:defRPr>
            </a:lvl1pPr>
          </a:lstStyle>
          <a:p>
            <a:pPr>
              <a:defRPr/>
            </a:pPr>
            <a:endParaRPr lang="en-US"/>
          </a:p>
        </p:txBody>
      </p:sp>
      <p:sp>
        <p:nvSpPr>
          <p:cNvPr id="9" name="Slide Number Placeholder 8"/>
          <p:cNvSpPr>
            <a:spLocks noGrp="1"/>
          </p:cNvSpPr>
          <p:nvPr>
            <p:ph type="sldNum" sz="quarter" idx="12"/>
          </p:nvPr>
        </p:nvSpPr>
        <p:spPr>
          <a:xfrm>
            <a:off x="7764463" y="222250"/>
            <a:ext cx="628650" cy="574675"/>
          </a:xfrm>
          <a:prstGeom prst="rect">
            <a:avLst/>
          </a:prstGeom>
        </p:spPr>
        <p:txBody>
          <a:bodyPr/>
          <a:lstStyle>
            <a:lvl1pPr>
              <a:defRPr>
                <a:latin typeface="Arial" charset="0"/>
              </a:defRPr>
            </a:lvl1pPr>
          </a:lstStyle>
          <a:p>
            <a:pPr>
              <a:defRPr/>
            </a:pPr>
            <a:fld id="{AFE240B6-D19B-4A66-8841-A60E17BFBE45}" type="slidenum">
              <a:rPr lang="en-US" altLang="en-US"/>
              <a:pPr>
                <a:defRPr/>
              </a:pPr>
              <a:t>‹#›</a:t>
            </a:fld>
            <a:endParaRPr lang="en-US" altLang="en-US"/>
          </a:p>
        </p:txBody>
      </p:sp>
    </p:spTree>
    <p:extLst>
      <p:ext uri="{BB962C8B-B14F-4D97-AF65-F5344CB8AC3E}">
        <p14:creationId xmlns:p14="http://schemas.microsoft.com/office/powerpoint/2010/main" val="3968849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7988300" y="4795838"/>
            <a:ext cx="742950" cy="228600"/>
          </a:xfrm>
          <a:prstGeom prst="rect">
            <a:avLst/>
          </a:prstGeom>
        </p:spPr>
        <p:txBody>
          <a:bodyPr/>
          <a:lstStyle>
            <a:lvl1pPr>
              <a:defRPr>
                <a:latin typeface="Arial" charset="0"/>
              </a:defRPr>
            </a:lvl1pPr>
          </a:lstStyle>
          <a:p>
            <a:pPr>
              <a:defRPr/>
            </a:pPr>
            <a:endParaRPr lang="en-US"/>
          </a:p>
        </p:txBody>
      </p:sp>
      <p:sp>
        <p:nvSpPr>
          <p:cNvPr id="4" name="Footer Placeholder 3"/>
          <p:cNvSpPr>
            <a:spLocks noGrp="1"/>
          </p:cNvSpPr>
          <p:nvPr>
            <p:ph type="ftr" sz="quarter" idx="11"/>
          </p:nvPr>
        </p:nvSpPr>
        <p:spPr>
          <a:xfrm>
            <a:off x="396875" y="4794250"/>
            <a:ext cx="2894013" cy="228600"/>
          </a:xfrm>
          <a:prstGeom prst="rect">
            <a:avLst/>
          </a:prstGeom>
        </p:spPr>
        <p:txBody>
          <a:bodyPr/>
          <a:lstStyle>
            <a:lvl1pPr>
              <a:defRPr>
                <a:latin typeface="Arial" charset="0"/>
              </a:defRPr>
            </a:lvl1pPr>
          </a:lstStyle>
          <a:p>
            <a:pPr>
              <a:defRPr/>
            </a:pPr>
            <a:endParaRPr lang="en-US"/>
          </a:p>
        </p:txBody>
      </p:sp>
      <p:sp>
        <p:nvSpPr>
          <p:cNvPr id="5" name="Slide Number Placeholder 4"/>
          <p:cNvSpPr>
            <a:spLocks noGrp="1"/>
          </p:cNvSpPr>
          <p:nvPr>
            <p:ph type="sldNum" sz="quarter" idx="12"/>
          </p:nvPr>
        </p:nvSpPr>
        <p:spPr>
          <a:xfrm>
            <a:off x="7764463" y="222250"/>
            <a:ext cx="628650" cy="574675"/>
          </a:xfrm>
          <a:prstGeom prst="rect">
            <a:avLst/>
          </a:prstGeom>
        </p:spPr>
        <p:txBody>
          <a:bodyPr/>
          <a:lstStyle>
            <a:lvl1pPr>
              <a:defRPr>
                <a:latin typeface="Arial" charset="0"/>
              </a:defRPr>
            </a:lvl1pPr>
          </a:lstStyle>
          <a:p>
            <a:pPr>
              <a:defRPr/>
            </a:pPr>
            <a:fld id="{1D4BFAC6-E598-4BD7-B23B-650577E065B2}" type="slidenum">
              <a:rPr lang="en-US" altLang="en-US"/>
              <a:pPr>
                <a:defRPr/>
              </a:pPr>
              <a:t>‹#›</a:t>
            </a:fld>
            <a:endParaRPr lang="en-US" altLang="en-US"/>
          </a:p>
        </p:txBody>
      </p:sp>
    </p:spTree>
    <p:extLst>
      <p:ext uri="{BB962C8B-B14F-4D97-AF65-F5344CB8AC3E}">
        <p14:creationId xmlns:p14="http://schemas.microsoft.com/office/powerpoint/2010/main" val="3525057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cxnSp>
        <p:nvCxnSpPr>
          <p:cNvPr id="9" name="Straight Connector 8"/>
          <p:cNvCxnSpPr/>
          <p:nvPr/>
        </p:nvCxnSpPr>
        <p:spPr>
          <a:xfrm>
            <a:off x="3303588" y="1927225"/>
            <a:ext cx="0" cy="2619375"/>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a:off x="5829300" y="1927225"/>
            <a:ext cx="0" cy="2619375"/>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866216" y="1962974"/>
            <a:ext cx="2346876" cy="432197"/>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866216" y="2395171"/>
            <a:ext cx="2346876" cy="212512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384542" y="1952626"/>
            <a:ext cx="2359035" cy="432197"/>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384542" y="2395172"/>
            <a:ext cx="2359035" cy="2125121"/>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15025" y="1962975"/>
            <a:ext cx="2370772" cy="43219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5915027" y="2395172"/>
            <a:ext cx="2373539" cy="212512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Date Placeholder 6"/>
          <p:cNvSpPr>
            <a:spLocks noGrp="1"/>
          </p:cNvSpPr>
          <p:nvPr>
            <p:ph type="dt" sz="half" idx="18"/>
          </p:nvPr>
        </p:nvSpPr>
        <p:spPr>
          <a:xfrm>
            <a:off x="7988300" y="4795838"/>
            <a:ext cx="742950" cy="228600"/>
          </a:xfrm>
          <a:prstGeom prst="rect">
            <a:avLst/>
          </a:prstGeom>
        </p:spPr>
        <p:txBody>
          <a:bodyPr/>
          <a:lstStyle>
            <a:lvl1pPr>
              <a:defRPr>
                <a:latin typeface="Arial" charset="0"/>
              </a:defRPr>
            </a:lvl1pPr>
          </a:lstStyle>
          <a:p>
            <a:pPr>
              <a:defRPr/>
            </a:pPr>
            <a:endParaRPr lang="en-US"/>
          </a:p>
        </p:txBody>
      </p:sp>
      <p:sp>
        <p:nvSpPr>
          <p:cNvPr id="12" name="Slide Number Placeholder 8"/>
          <p:cNvSpPr>
            <a:spLocks noGrp="1"/>
          </p:cNvSpPr>
          <p:nvPr>
            <p:ph type="sldNum" sz="quarter" idx="19"/>
          </p:nvPr>
        </p:nvSpPr>
        <p:spPr>
          <a:xfrm>
            <a:off x="7764463" y="222250"/>
            <a:ext cx="628650" cy="574675"/>
          </a:xfrm>
          <a:prstGeom prst="rect">
            <a:avLst/>
          </a:prstGeom>
        </p:spPr>
        <p:txBody>
          <a:bodyPr/>
          <a:lstStyle>
            <a:lvl1pPr>
              <a:defRPr>
                <a:latin typeface="Arial" charset="0"/>
              </a:defRPr>
            </a:lvl1pPr>
          </a:lstStyle>
          <a:p>
            <a:pPr>
              <a:defRPr/>
            </a:pPr>
            <a:fld id="{657B98C5-5CBD-408A-865F-535F304DFA49}" type="slidenum">
              <a:rPr lang="en-US" altLang="en-US"/>
              <a:pPr>
                <a:defRPr/>
              </a:pPr>
              <a:t>‹#›</a:t>
            </a:fld>
            <a:endParaRPr lang="en-US" altLang="en-US"/>
          </a:p>
        </p:txBody>
      </p:sp>
    </p:spTree>
    <p:extLst>
      <p:ext uri="{BB962C8B-B14F-4D97-AF65-F5344CB8AC3E}">
        <p14:creationId xmlns:p14="http://schemas.microsoft.com/office/powerpoint/2010/main" val="28349851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cxnSp>
        <p:nvCxnSpPr>
          <p:cNvPr id="12" name="Straight Connector 11"/>
          <p:cNvCxnSpPr/>
          <p:nvPr/>
        </p:nvCxnSpPr>
        <p:spPr>
          <a:xfrm>
            <a:off x="3290888" y="1952625"/>
            <a:ext cx="0" cy="2638425"/>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5851525" y="1952625"/>
            <a:ext cx="0" cy="2619375"/>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866216" y="3399634"/>
            <a:ext cx="2287829" cy="432197"/>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000914" y="1952625"/>
            <a:ext cx="2018432" cy="1193633"/>
          </a:xfrm>
          <a:prstGeom prst="roundRect">
            <a:avLst>
              <a:gd name="adj" fmla="val 1858"/>
            </a:avLst>
          </a:prstGeom>
          <a:effectLst>
            <a:outerShdw blurRad="50800" dist="50800" dir="5400000" algn="tl" rotWithShape="0">
              <a:srgbClr val="000000">
                <a:alpha val="43000"/>
              </a:srgbClr>
            </a:outerShdw>
          </a:effectLst>
        </p:spPr>
        <p:txBody>
          <a:bodyPr rtlCol="0">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a:t>Click icon to add picture</a:t>
            </a:r>
            <a:endParaRPr lang="en-US" noProof="0" dirty="0"/>
          </a:p>
        </p:txBody>
      </p:sp>
      <p:sp>
        <p:nvSpPr>
          <p:cNvPr id="22" name="Text Placeholder 3"/>
          <p:cNvSpPr>
            <a:spLocks noGrp="1"/>
          </p:cNvSpPr>
          <p:nvPr>
            <p:ph type="body" sz="half" idx="18"/>
          </p:nvPr>
        </p:nvSpPr>
        <p:spPr>
          <a:xfrm>
            <a:off x="866215" y="3831831"/>
            <a:ext cx="2287828" cy="68846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29404" y="3399635"/>
            <a:ext cx="2285075" cy="488367"/>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561349" y="1952625"/>
            <a:ext cx="2018431" cy="1193633"/>
          </a:xfrm>
          <a:prstGeom prst="roundRect">
            <a:avLst>
              <a:gd name="adj" fmla="val 1858"/>
            </a:avLst>
          </a:prstGeom>
          <a:effectLst>
            <a:outerShdw blurRad="50800" dist="50800" dir="5400000" algn="tl" rotWithShape="0">
              <a:srgbClr val="000000">
                <a:alpha val="43000"/>
              </a:srgbClr>
            </a:outerShdw>
          </a:effectLst>
        </p:spPr>
        <p:txBody>
          <a:bodyPr rtlCol="0">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a:t>Click icon to add picture</a:t>
            </a:r>
            <a:endParaRPr lang="en-US" noProof="0" dirty="0"/>
          </a:p>
        </p:txBody>
      </p:sp>
      <p:sp>
        <p:nvSpPr>
          <p:cNvPr id="23" name="Text Placeholder 3"/>
          <p:cNvSpPr>
            <a:spLocks noGrp="1"/>
          </p:cNvSpPr>
          <p:nvPr>
            <p:ph type="body" sz="half" idx="19"/>
          </p:nvPr>
        </p:nvSpPr>
        <p:spPr>
          <a:xfrm>
            <a:off x="3426650" y="3888002"/>
            <a:ext cx="2287829" cy="63229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87575" y="3399635"/>
            <a:ext cx="2287829" cy="48836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6122273" y="1952625"/>
            <a:ext cx="2018432" cy="1193633"/>
          </a:xfrm>
          <a:prstGeom prst="roundRect">
            <a:avLst>
              <a:gd name="adj" fmla="val 1858"/>
            </a:avLst>
          </a:prstGeom>
          <a:effectLst>
            <a:outerShdw blurRad="50800" dist="50800" dir="5400000" algn="tl" rotWithShape="0">
              <a:srgbClr val="000000">
                <a:alpha val="43000"/>
              </a:srgbClr>
            </a:outerShdw>
          </a:effectLst>
        </p:spPr>
        <p:txBody>
          <a:bodyPr rtlCol="0">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a:t>Click icon to add picture</a:t>
            </a:r>
            <a:endParaRPr lang="en-US" noProof="0" dirty="0"/>
          </a:p>
        </p:txBody>
      </p:sp>
      <p:sp>
        <p:nvSpPr>
          <p:cNvPr id="24" name="Text Placeholder 3"/>
          <p:cNvSpPr>
            <a:spLocks noGrp="1"/>
          </p:cNvSpPr>
          <p:nvPr>
            <p:ph type="body" sz="half" idx="20"/>
          </p:nvPr>
        </p:nvSpPr>
        <p:spPr>
          <a:xfrm>
            <a:off x="5987576" y="3888001"/>
            <a:ext cx="2287828" cy="632291"/>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5" name="Date Placeholder 6"/>
          <p:cNvSpPr>
            <a:spLocks noGrp="1"/>
          </p:cNvSpPr>
          <p:nvPr>
            <p:ph type="dt" sz="half" idx="23"/>
          </p:nvPr>
        </p:nvSpPr>
        <p:spPr>
          <a:xfrm>
            <a:off x="7988300" y="4795838"/>
            <a:ext cx="742950" cy="228600"/>
          </a:xfrm>
          <a:prstGeom prst="rect">
            <a:avLst/>
          </a:prstGeom>
        </p:spPr>
        <p:txBody>
          <a:bodyPr/>
          <a:lstStyle>
            <a:lvl1pPr>
              <a:defRPr>
                <a:latin typeface="Arial" charset="0"/>
              </a:defRPr>
            </a:lvl1pPr>
          </a:lstStyle>
          <a:p>
            <a:pPr>
              <a:defRPr/>
            </a:pPr>
            <a:endParaRPr lang="en-US"/>
          </a:p>
        </p:txBody>
      </p:sp>
      <p:sp>
        <p:nvSpPr>
          <p:cNvPr id="16" name="Slide Number Placeholder 8"/>
          <p:cNvSpPr>
            <a:spLocks noGrp="1"/>
          </p:cNvSpPr>
          <p:nvPr>
            <p:ph type="sldNum" sz="quarter" idx="24"/>
          </p:nvPr>
        </p:nvSpPr>
        <p:spPr>
          <a:xfrm>
            <a:off x="7764463" y="222250"/>
            <a:ext cx="628650" cy="574675"/>
          </a:xfrm>
          <a:prstGeom prst="rect">
            <a:avLst/>
          </a:prstGeom>
        </p:spPr>
        <p:txBody>
          <a:bodyPr/>
          <a:lstStyle>
            <a:lvl1pPr>
              <a:defRPr>
                <a:latin typeface="Arial" charset="0"/>
              </a:defRPr>
            </a:lvl1pPr>
          </a:lstStyle>
          <a:p>
            <a:pPr>
              <a:defRPr/>
            </a:pPr>
            <a:fld id="{B6149016-3F9C-47B7-95D8-9E18FCE25D39}" type="slidenum">
              <a:rPr lang="en-US" altLang="en-US"/>
              <a:pPr>
                <a:defRPr/>
              </a:pPr>
              <a:t>‹#›</a:t>
            </a:fld>
            <a:endParaRPr lang="en-US" altLang="en-US"/>
          </a:p>
        </p:txBody>
      </p:sp>
    </p:spTree>
    <p:extLst>
      <p:ext uri="{BB962C8B-B14F-4D97-AF65-F5344CB8AC3E}">
        <p14:creationId xmlns:p14="http://schemas.microsoft.com/office/powerpoint/2010/main" val="25357360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66216" y="730251"/>
            <a:ext cx="6619245" cy="530223"/>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988300" y="4795838"/>
            <a:ext cx="742950" cy="228600"/>
          </a:xfrm>
          <a:prstGeom prst="rect">
            <a:avLst/>
          </a:prstGeom>
        </p:spPr>
        <p:txBody>
          <a:bodyPr/>
          <a:lstStyle>
            <a:lvl1pPr>
              <a:defRPr>
                <a:latin typeface="Arial" charset="0"/>
              </a:defRPr>
            </a:lvl1pPr>
          </a:lstStyle>
          <a:p>
            <a:pPr>
              <a:defRPr/>
            </a:pPr>
            <a:endParaRPr lang="en-US"/>
          </a:p>
        </p:txBody>
      </p:sp>
      <p:sp>
        <p:nvSpPr>
          <p:cNvPr id="5" name="Slide Number Placeholder 5"/>
          <p:cNvSpPr>
            <a:spLocks noGrp="1"/>
          </p:cNvSpPr>
          <p:nvPr>
            <p:ph type="sldNum" sz="quarter" idx="11"/>
          </p:nvPr>
        </p:nvSpPr>
        <p:spPr>
          <a:xfrm>
            <a:off x="7764463" y="222250"/>
            <a:ext cx="628650" cy="574675"/>
          </a:xfrm>
          <a:prstGeom prst="rect">
            <a:avLst/>
          </a:prstGeom>
        </p:spPr>
        <p:txBody>
          <a:bodyPr/>
          <a:lstStyle>
            <a:lvl1pPr>
              <a:defRPr>
                <a:latin typeface="Arial" charset="0"/>
              </a:defRPr>
            </a:lvl1pPr>
          </a:lstStyle>
          <a:p>
            <a:pPr>
              <a:defRPr/>
            </a:pPr>
            <a:fld id="{B17615C8-5B72-41ED-9CAA-BDB8FA2ADEEF}" type="slidenum">
              <a:rPr lang="en-US" altLang="en-US"/>
              <a:pPr>
                <a:defRPr/>
              </a:pPr>
              <a:t>‹#›</a:t>
            </a:fld>
            <a:endParaRPr lang="en-US" altLang="en-US"/>
          </a:p>
        </p:txBody>
      </p:sp>
    </p:spTree>
    <p:extLst>
      <p:ext uri="{BB962C8B-B14F-4D97-AF65-F5344CB8AC3E}">
        <p14:creationId xmlns:p14="http://schemas.microsoft.com/office/powerpoint/2010/main" val="3646007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gray">
          <a:xfrm>
            <a:off x="866775" y="730250"/>
            <a:ext cx="6570663"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866775" y="1952625"/>
            <a:ext cx="7408863" cy="256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TextBox 29"/>
          <p:cNvSpPr txBox="1">
            <a:spLocks noChangeArrowheads="1"/>
          </p:cNvSpPr>
          <p:nvPr/>
        </p:nvSpPr>
        <p:spPr bwMode="auto">
          <a:xfrm>
            <a:off x="6824663" y="4816475"/>
            <a:ext cx="145097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r">
              <a:defRPr/>
            </a:pPr>
            <a:r>
              <a:rPr lang="en-US" altLang="en-US" sz="1000" i="1">
                <a:solidFill>
                  <a:srgbClr val="1E4C8F"/>
                </a:solidFill>
                <a:latin typeface="Century Gothic" pitchFamily="34" charset="0"/>
              </a:rPr>
              <a:t>logigear.com</a:t>
            </a:r>
          </a:p>
        </p:txBody>
      </p:sp>
      <p:pic>
        <p:nvPicPr>
          <p:cNvPr id="1029" name="Picture 21"/>
          <p:cNvPicPr>
            <a:picLocks noChangeAspect="1"/>
          </p:cNvPicPr>
          <p:nvPr/>
        </p:nvPicPr>
        <p:blipFill>
          <a:blip r:embed="rId10" cstate="print">
            <a:extLst>
              <a:ext uri="{28A0092B-C50C-407E-A947-70E740481C1C}">
                <a14:useLocalDpi xmlns:a14="http://schemas.microsoft.com/office/drawing/2010/main" val="0"/>
              </a:ext>
            </a:extLst>
          </a:blip>
          <a:srcRect b="25896"/>
          <a:stretch>
            <a:fillRect/>
          </a:stretch>
        </p:blipFill>
        <p:spPr bwMode="auto">
          <a:xfrm>
            <a:off x="866775" y="4789488"/>
            <a:ext cx="57150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TextBox 28"/>
          <p:cNvSpPr txBox="1">
            <a:spLocks noChangeArrowheads="1"/>
          </p:cNvSpPr>
          <p:nvPr/>
        </p:nvSpPr>
        <p:spPr bwMode="auto">
          <a:xfrm>
            <a:off x="3397250" y="4789488"/>
            <a:ext cx="2344738"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ctr">
              <a:defRPr/>
            </a:pPr>
            <a:r>
              <a:rPr lang="en-US" altLang="en-US" sz="1000" i="1">
                <a:solidFill>
                  <a:srgbClr val="1E4C8F"/>
                </a:solidFill>
                <a:latin typeface="Century Gothic" pitchFamily="34" charset="0"/>
              </a:rPr>
              <a:t>Sillicon Valley Testing Expertise</a:t>
            </a:r>
          </a:p>
        </p:txBody>
      </p:sp>
    </p:spTree>
  </p:cSld>
  <p:clrMap bg1="lt1" tx1="dk1" bg2="lt2" tx2="dk2" accent1="accent1" accent2="accent2" accent3="accent3" accent4="accent4" accent5="accent5" accent6="accent6" hlink="hlink" folHlink="folHlink"/>
  <p:sldLayoutIdLst>
    <p:sldLayoutId id="2147484508" r:id="rId1"/>
    <p:sldLayoutId id="2147484509" r:id="rId2"/>
    <p:sldLayoutId id="2147484510" r:id="rId3"/>
    <p:sldLayoutId id="2147484511" r:id="rId4"/>
    <p:sldLayoutId id="2147484512" r:id="rId5"/>
    <p:sldLayoutId id="2147484513" r:id="rId6"/>
    <p:sldLayoutId id="2147484514" r:id="rId7"/>
    <p:sldLayoutId id="2147484515" r:id="rId8"/>
  </p:sldLayoutIdLst>
  <p:hf hdr="0" ftr="0" dt="0"/>
  <p:txStyles>
    <p:titleStyle>
      <a:lvl1pPr algn="l" defTabSz="457200" rtl="0" eaLnBrk="0" fontAlgn="base" hangingPunct="0">
        <a:spcBef>
          <a:spcPct val="0"/>
        </a:spcBef>
        <a:spcAft>
          <a:spcPct val="0"/>
        </a:spcAft>
        <a:defRPr sz="3600" kern="1200">
          <a:solidFill>
            <a:schemeClr val="bg2"/>
          </a:solidFill>
          <a:latin typeface="+mj-lt"/>
          <a:ea typeface="+mj-ea"/>
          <a:cs typeface="+mj-cs"/>
        </a:defRPr>
      </a:lvl1pPr>
      <a:lvl2pPr algn="l" defTabSz="457200" rtl="0" eaLnBrk="0" fontAlgn="base" hangingPunct="0">
        <a:spcBef>
          <a:spcPct val="0"/>
        </a:spcBef>
        <a:spcAft>
          <a:spcPct val="0"/>
        </a:spcAft>
        <a:defRPr sz="3600">
          <a:solidFill>
            <a:schemeClr val="bg2"/>
          </a:solidFill>
          <a:latin typeface="Calibri" pitchFamily="34" charset="0"/>
        </a:defRPr>
      </a:lvl2pPr>
      <a:lvl3pPr algn="l" defTabSz="457200" rtl="0" eaLnBrk="0" fontAlgn="base" hangingPunct="0">
        <a:spcBef>
          <a:spcPct val="0"/>
        </a:spcBef>
        <a:spcAft>
          <a:spcPct val="0"/>
        </a:spcAft>
        <a:defRPr sz="3600">
          <a:solidFill>
            <a:schemeClr val="bg2"/>
          </a:solidFill>
          <a:latin typeface="Calibri" pitchFamily="34" charset="0"/>
        </a:defRPr>
      </a:lvl3pPr>
      <a:lvl4pPr algn="l" defTabSz="457200" rtl="0" eaLnBrk="0" fontAlgn="base" hangingPunct="0">
        <a:spcBef>
          <a:spcPct val="0"/>
        </a:spcBef>
        <a:spcAft>
          <a:spcPct val="0"/>
        </a:spcAft>
        <a:defRPr sz="3600">
          <a:solidFill>
            <a:schemeClr val="bg2"/>
          </a:solidFill>
          <a:latin typeface="Calibri" pitchFamily="34" charset="0"/>
        </a:defRPr>
      </a:lvl4pPr>
      <a:lvl5pPr algn="l" defTabSz="457200" rtl="0" eaLnBrk="0" fontAlgn="base" hangingPunct="0">
        <a:spcBef>
          <a:spcPct val="0"/>
        </a:spcBef>
        <a:spcAft>
          <a:spcPct val="0"/>
        </a:spcAft>
        <a:defRPr sz="3600">
          <a:solidFill>
            <a:schemeClr val="bg2"/>
          </a:solidFill>
          <a:latin typeface="Calibri"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0" fontAlgn="base" hangingPunct="0">
        <a:spcBef>
          <a:spcPts val="1000"/>
        </a:spcBef>
        <a:spcAft>
          <a:spcPct val="0"/>
        </a:spcAft>
        <a:buClr>
          <a:schemeClr val="accent1"/>
        </a:buClr>
        <a:buSzPct val="80000"/>
        <a:buFont typeface="Wingdings 3" pitchFamily="18" charset="2"/>
        <a:buChar char=""/>
        <a:defRPr kern="1200">
          <a:solidFill>
            <a:srgbClr val="404040"/>
          </a:solidFill>
          <a:latin typeface="+mn-lt"/>
          <a:ea typeface="+mn-ea"/>
          <a:cs typeface="+mn-cs"/>
        </a:defRPr>
      </a:lvl1pPr>
      <a:lvl2pPr marL="742950" indent="-285750" algn="l" defTabSz="457200" rtl="0" eaLnBrk="0" fontAlgn="base" hangingPunct="0">
        <a:spcBef>
          <a:spcPts val="1000"/>
        </a:spcBef>
        <a:spcAft>
          <a:spcPct val="0"/>
        </a:spcAft>
        <a:buClr>
          <a:schemeClr val="accent1"/>
        </a:buClr>
        <a:buSzPct val="80000"/>
        <a:buFont typeface="Wingdings 3" pitchFamily="18" charset="2"/>
        <a:buChar char=""/>
        <a:defRPr sz="1600" kern="1200">
          <a:solidFill>
            <a:srgbClr val="404040"/>
          </a:solidFill>
          <a:latin typeface="+mn-lt"/>
          <a:ea typeface="+mn-ea"/>
          <a:cs typeface="+mn-cs"/>
        </a:defRPr>
      </a:lvl2pPr>
      <a:lvl3pPr marL="1143000" indent="-228600" algn="l" defTabSz="457200" rtl="0" eaLnBrk="0" fontAlgn="base" hangingPunct="0">
        <a:spcBef>
          <a:spcPts val="1000"/>
        </a:spcBef>
        <a:spcAft>
          <a:spcPct val="0"/>
        </a:spcAft>
        <a:buClr>
          <a:schemeClr val="accent1"/>
        </a:buClr>
        <a:buSzPct val="80000"/>
        <a:buFont typeface="Wingdings 3" pitchFamily="18" charset="2"/>
        <a:buChar char=""/>
        <a:defRPr sz="1400" kern="1200">
          <a:solidFill>
            <a:srgbClr val="404040"/>
          </a:solidFill>
          <a:latin typeface="+mn-lt"/>
          <a:ea typeface="+mn-ea"/>
          <a:cs typeface="+mn-cs"/>
        </a:defRPr>
      </a:lvl3pPr>
      <a:lvl4pPr marL="1600200" indent="-228600" algn="l" defTabSz="457200" rtl="0" eaLnBrk="0" fontAlgn="base" hangingPunct="0">
        <a:spcBef>
          <a:spcPts val="1000"/>
        </a:spcBef>
        <a:spcAft>
          <a:spcPct val="0"/>
        </a:spcAft>
        <a:buClr>
          <a:schemeClr val="accent1"/>
        </a:buClr>
        <a:buSzPct val="80000"/>
        <a:buFont typeface="Wingdings 3" pitchFamily="18" charset="2"/>
        <a:buChar char=""/>
        <a:defRPr sz="1200" kern="1200">
          <a:solidFill>
            <a:srgbClr val="404040"/>
          </a:solidFill>
          <a:latin typeface="+mn-lt"/>
          <a:ea typeface="+mn-ea"/>
          <a:cs typeface="+mn-cs"/>
        </a:defRPr>
      </a:lvl4pPr>
      <a:lvl5pPr marL="2057400" indent="-228600" algn="l" defTabSz="457200" rtl="0" eaLnBrk="0" fontAlgn="base" hangingPunct="0">
        <a:spcBef>
          <a:spcPts val="1000"/>
        </a:spcBef>
        <a:spcAft>
          <a:spcPct val="0"/>
        </a:spcAft>
        <a:buClr>
          <a:schemeClr val="accent1"/>
        </a:buClr>
        <a:buSzPct val="80000"/>
        <a:buFont typeface="Wingdings 3" pitchFamily="18" charset="2"/>
        <a:buChar char=""/>
        <a:defRPr sz="1200" kern="1200">
          <a:solidFill>
            <a:srgbClr val="404040"/>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3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emf"/></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10242" name="TextBox 5"/>
          <p:cNvSpPr txBox="1">
            <a:spLocks noChangeArrowheads="1"/>
          </p:cNvSpPr>
          <p:nvPr/>
        </p:nvSpPr>
        <p:spPr bwMode="auto">
          <a:xfrm>
            <a:off x="2209800" y="1701800"/>
            <a:ext cx="4648200" cy="153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ctr">
              <a:spcBef>
                <a:spcPct val="0"/>
              </a:spcBef>
              <a:buClrTx/>
              <a:buSzTx/>
              <a:buFontTx/>
              <a:buNone/>
            </a:pPr>
            <a:r>
              <a:rPr lang="en-US" altLang="en-US" sz="1800" b="1">
                <a:solidFill>
                  <a:srgbClr val="164D90"/>
                </a:solidFill>
                <a:latin typeface="Open Sans"/>
                <a:ea typeface="Open Sans"/>
                <a:cs typeface="Open Sans"/>
              </a:rPr>
              <a:t>LOGIGEAR CERTIFIED TEST PROFESSIONAL I</a:t>
            </a:r>
          </a:p>
          <a:p>
            <a:pPr algn="ctr">
              <a:spcBef>
                <a:spcPct val="0"/>
              </a:spcBef>
              <a:buClrTx/>
              <a:buSzTx/>
              <a:buFontTx/>
              <a:buNone/>
            </a:pPr>
            <a:endParaRPr lang="en-US" altLang="en-US" sz="1000" b="1">
              <a:solidFill>
                <a:srgbClr val="164D90"/>
              </a:solidFill>
              <a:latin typeface="Open Sans"/>
              <a:ea typeface="Open Sans"/>
              <a:cs typeface="Open Sans"/>
            </a:endParaRPr>
          </a:p>
          <a:p>
            <a:pPr algn="ctr">
              <a:spcBef>
                <a:spcPct val="0"/>
              </a:spcBef>
              <a:buClrTx/>
              <a:buSzTx/>
              <a:buFontTx/>
              <a:buNone/>
            </a:pPr>
            <a:r>
              <a:rPr lang="en-US" altLang="en-US" sz="3200" b="1">
                <a:solidFill>
                  <a:srgbClr val="164D90"/>
                </a:solidFill>
                <a:latin typeface="Open Sans"/>
                <a:ea typeface="Open Sans"/>
                <a:cs typeface="Open Sans"/>
              </a:rPr>
              <a:t>BASIC SOFTWARE </a:t>
            </a:r>
            <a:br>
              <a:rPr lang="en-US" altLang="en-US" sz="3200" b="1">
                <a:solidFill>
                  <a:srgbClr val="164D90"/>
                </a:solidFill>
                <a:latin typeface="Open Sans"/>
                <a:ea typeface="Open Sans"/>
                <a:cs typeface="Open Sans"/>
              </a:rPr>
            </a:br>
            <a:r>
              <a:rPr lang="en-US" altLang="en-US" sz="3200" b="1">
                <a:solidFill>
                  <a:srgbClr val="164D90"/>
                </a:solidFill>
                <a:latin typeface="Open Sans"/>
                <a:ea typeface="Open Sans"/>
                <a:cs typeface="Open Sans"/>
              </a:rPr>
              <a:t>TESTING SKILLS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bwMode="auto">
          <a:xfrm>
            <a:off x="0" y="171450"/>
            <a:ext cx="9144000" cy="549275"/>
          </a:xfrm>
          <a:ln>
            <a:miter lim="800000"/>
            <a:headEnd/>
            <a:tailEnd/>
          </a:ln>
        </p:spPr>
        <p:txBody>
          <a:bodyPr rtlCol="0" anchor="t">
            <a:noAutofit/>
          </a:bodyPr>
          <a:lstStyle/>
          <a:p>
            <a:pPr eaLnBrk="1" fontAlgn="auto" hangingPunct="1">
              <a:spcAft>
                <a:spcPts val="0"/>
              </a:spcAft>
              <a:defRPr/>
            </a:pPr>
            <a:r>
              <a:rPr lang="en-US">
                <a:effectLst>
                  <a:outerShdw blurRad="38100" dist="38100" dir="2700000" algn="tl">
                    <a:srgbClr val="000000"/>
                  </a:outerShdw>
                </a:effectLst>
                <a:latin typeface="Verdana" pitchFamily="34" charset="0"/>
              </a:rPr>
              <a:t>   </a:t>
            </a:r>
            <a:r>
              <a:rPr lang="en-US" sz="3200">
                <a:latin typeface="Open Sans"/>
                <a:ea typeface="Open Sans"/>
                <a:cs typeface="Open Sans"/>
              </a:rPr>
              <a:t>Agenda </a:t>
            </a:r>
            <a:br>
              <a:rPr lang="en-US" sz="3200" dirty="0">
                <a:latin typeface="Open Sans"/>
                <a:ea typeface="Open Sans"/>
                <a:cs typeface="Open Sans"/>
              </a:rPr>
            </a:br>
            <a:endParaRPr lang="en-US" sz="3200" dirty="0">
              <a:latin typeface="Open Sans"/>
              <a:ea typeface="Open Sans"/>
              <a:cs typeface="Open Sans"/>
            </a:endParaRPr>
          </a:p>
        </p:txBody>
      </p:sp>
      <p:sp>
        <p:nvSpPr>
          <p:cNvPr id="12290" name="Rectangle 3"/>
          <p:cNvSpPr>
            <a:spLocks noGrp="1" noChangeArrowheads="1"/>
          </p:cNvSpPr>
          <p:nvPr>
            <p:ph idx="1"/>
          </p:nvPr>
        </p:nvSpPr>
        <p:spPr>
          <a:xfrm>
            <a:off x="838200" y="1123950"/>
            <a:ext cx="7924800" cy="3276600"/>
          </a:xfrm>
        </p:spPr>
        <p:txBody>
          <a:bodyPr rtlCol="0">
            <a:noAutofit/>
          </a:bodyPr>
          <a:lstStyle/>
          <a:p>
            <a:pPr marL="609600" indent="-609600" eaLnBrk="1" fontAlgn="auto" hangingPunct="1">
              <a:lnSpc>
                <a:spcPct val="90000"/>
              </a:lnSpc>
              <a:spcBef>
                <a:spcPts val="600"/>
              </a:spcBef>
              <a:spcAft>
                <a:spcPts val="600"/>
              </a:spcAft>
              <a:buFontTx/>
              <a:buNone/>
              <a:defRPr/>
            </a:pPr>
            <a:r>
              <a:rPr lang="en-US" altLang="en-US">
                <a:solidFill>
                  <a:schemeClr val="tx1"/>
                </a:solidFill>
                <a:latin typeface="Arial" charset="0"/>
                <a:cs typeface="Arial" charset="0"/>
              </a:rPr>
              <a:t>Chapter 1: Software Development Life Cycles and Testing</a:t>
            </a:r>
          </a:p>
          <a:p>
            <a:pPr marL="609600" indent="-609600" eaLnBrk="1" fontAlgn="auto" hangingPunct="1">
              <a:lnSpc>
                <a:spcPct val="90000"/>
              </a:lnSpc>
              <a:spcBef>
                <a:spcPts val="600"/>
              </a:spcBef>
              <a:spcAft>
                <a:spcPts val="600"/>
              </a:spcAft>
              <a:buFontTx/>
              <a:buNone/>
              <a:defRPr/>
            </a:pPr>
            <a:r>
              <a:rPr lang="en-US" altLang="en-US">
                <a:solidFill>
                  <a:schemeClr val="tx1"/>
                </a:solidFill>
                <a:latin typeface="Arial" charset="0"/>
                <a:cs typeface="Arial" charset="0"/>
              </a:rPr>
              <a:t>Chapter 2: Software Testing Overview</a:t>
            </a:r>
          </a:p>
          <a:p>
            <a:pPr marL="609600" indent="-609600" eaLnBrk="1" fontAlgn="auto" hangingPunct="1">
              <a:lnSpc>
                <a:spcPct val="90000"/>
              </a:lnSpc>
              <a:spcBef>
                <a:spcPts val="600"/>
              </a:spcBef>
              <a:spcAft>
                <a:spcPts val="600"/>
              </a:spcAft>
              <a:buFontTx/>
              <a:buNone/>
              <a:defRPr/>
            </a:pPr>
            <a:r>
              <a:rPr lang="en-US" altLang="en-US">
                <a:solidFill>
                  <a:schemeClr val="tx1"/>
                </a:solidFill>
                <a:latin typeface="Arial" charset="0"/>
                <a:cs typeface="Arial" charset="0"/>
              </a:rPr>
              <a:t>Chapter 3: Test Requirements</a:t>
            </a:r>
          </a:p>
          <a:p>
            <a:pPr marL="609600" indent="-609600" eaLnBrk="1" fontAlgn="auto" hangingPunct="1">
              <a:lnSpc>
                <a:spcPct val="90000"/>
              </a:lnSpc>
              <a:spcBef>
                <a:spcPts val="600"/>
              </a:spcBef>
              <a:spcAft>
                <a:spcPts val="600"/>
              </a:spcAft>
              <a:buFontTx/>
              <a:buNone/>
              <a:defRPr/>
            </a:pPr>
            <a:r>
              <a:rPr lang="en-US" altLang="en-US">
                <a:solidFill>
                  <a:schemeClr val="tx1"/>
                </a:solidFill>
                <a:latin typeface="Arial" charset="0"/>
                <a:cs typeface="Arial" charset="0"/>
              </a:rPr>
              <a:t>Chapter 4: Test Design Techniques</a:t>
            </a:r>
          </a:p>
          <a:p>
            <a:pPr marL="609600" indent="-609600" eaLnBrk="1" fontAlgn="auto" hangingPunct="1">
              <a:lnSpc>
                <a:spcPct val="90000"/>
              </a:lnSpc>
              <a:spcBef>
                <a:spcPts val="600"/>
              </a:spcBef>
              <a:spcAft>
                <a:spcPts val="600"/>
              </a:spcAft>
              <a:buFontTx/>
              <a:buNone/>
              <a:defRPr/>
            </a:pPr>
            <a:r>
              <a:rPr lang="en-US" altLang="en-US">
                <a:solidFill>
                  <a:schemeClr val="tx1"/>
                </a:solidFill>
                <a:latin typeface="Arial" charset="0"/>
                <a:cs typeface="Arial" charset="0"/>
              </a:rPr>
              <a:t>Chapter 5: Working with a Test Case Management System</a:t>
            </a:r>
          </a:p>
          <a:p>
            <a:pPr marL="609600" indent="-609600" eaLnBrk="1" fontAlgn="auto" hangingPunct="1">
              <a:lnSpc>
                <a:spcPct val="90000"/>
              </a:lnSpc>
              <a:spcBef>
                <a:spcPts val="600"/>
              </a:spcBef>
              <a:spcAft>
                <a:spcPts val="600"/>
              </a:spcAft>
              <a:buFontTx/>
              <a:buNone/>
              <a:defRPr/>
            </a:pPr>
            <a:r>
              <a:rPr lang="en-US" altLang="en-US">
                <a:solidFill>
                  <a:schemeClr val="tx1"/>
                </a:solidFill>
                <a:latin typeface="Arial" charset="0"/>
                <a:cs typeface="Arial" charset="0"/>
              </a:rPr>
              <a:t>Chapter 6: Software Error</a:t>
            </a:r>
          </a:p>
          <a:p>
            <a:pPr marL="609600" indent="-609600" eaLnBrk="1" fontAlgn="auto" hangingPunct="1">
              <a:lnSpc>
                <a:spcPct val="90000"/>
              </a:lnSpc>
              <a:spcBef>
                <a:spcPts val="600"/>
              </a:spcBef>
              <a:spcAft>
                <a:spcPts val="600"/>
              </a:spcAft>
              <a:buFontTx/>
              <a:buNone/>
              <a:defRPr/>
            </a:pPr>
            <a:r>
              <a:rPr lang="en-US" altLang="en-US">
                <a:solidFill>
                  <a:schemeClr val="tx1"/>
                </a:solidFill>
                <a:latin typeface="Arial" charset="0"/>
                <a:cs typeface="Arial" charset="0"/>
              </a:rPr>
              <a:t>Chapter 7: Working with a Bug Management System</a:t>
            </a:r>
          </a:p>
          <a:p>
            <a:pPr marL="609600" indent="-609600" eaLnBrk="1" fontAlgn="auto" hangingPunct="1">
              <a:lnSpc>
                <a:spcPct val="90000"/>
              </a:lnSpc>
              <a:spcBef>
                <a:spcPts val="600"/>
              </a:spcBef>
              <a:spcAft>
                <a:spcPts val="600"/>
              </a:spcAft>
              <a:buFontTx/>
              <a:buNone/>
              <a:defRPr/>
            </a:pPr>
            <a:r>
              <a:rPr lang="en-US" altLang="en-US">
                <a:solidFill>
                  <a:schemeClr val="tx1"/>
                </a:solidFill>
                <a:latin typeface="Arial" charset="0"/>
                <a:cs typeface="Arial" charset="0"/>
              </a:rPr>
              <a:t>Chapter 8: Reporting Progress: Status Report</a:t>
            </a:r>
          </a:p>
          <a:p>
            <a:pPr marL="609600" indent="-609600" eaLnBrk="1" fontAlgn="auto" hangingPunct="1">
              <a:lnSpc>
                <a:spcPct val="90000"/>
              </a:lnSpc>
              <a:spcBef>
                <a:spcPts val="600"/>
              </a:spcBef>
              <a:spcAft>
                <a:spcPts val="600"/>
              </a:spcAft>
              <a:buFontTx/>
              <a:buNone/>
              <a:defRPr/>
            </a:pPr>
            <a:r>
              <a:rPr lang="en-US" altLang="en-US">
                <a:solidFill>
                  <a:schemeClr val="tx1"/>
                </a:solidFill>
                <a:latin typeface="Arial" charset="0"/>
                <a:cs typeface="Arial" charset="0"/>
              </a:rPr>
              <a:t>Chapter 9: Introduction to Mobile Application Testing</a:t>
            </a:r>
          </a:p>
        </p:txBody>
      </p:sp>
      <p:sp>
        <p:nvSpPr>
          <p:cNvPr id="11268"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A919012E-4326-43D9-BCAA-A2B644581F01}" type="slidenum">
              <a:rPr lang="en-US" altLang="en-US" sz="1200">
                <a:solidFill>
                  <a:srgbClr val="A6A6A6"/>
                </a:solidFill>
              </a:rPr>
              <a:pPr algn="r" eaLnBrk="1" hangingPunct="1">
                <a:spcBef>
                  <a:spcPct val="0"/>
                </a:spcBef>
                <a:buClrTx/>
                <a:buSzTx/>
                <a:buFontTx/>
                <a:buNone/>
              </a:pPr>
              <a:t>2</a:t>
            </a:fld>
            <a:endParaRPr lang="en-US" altLang="en-US" sz="1200">
              <a:solidFill>
                <a:srgbClr val="A6A6A6"/>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12290" name="TextBox 5"/>
          <p:cNvSpPr txBox="1">
            <a:spLocks noChangeArrowheads="1"/>
          </p:cNvSpPr>
          <p:nvPr/>
        </p:nvSpPr>
        <p:spPr bwMode="auto">
          <a:xfrm>
            <a:off x="2209800" y="1657350"/>
            <a:ext cx="46482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ctr">
              <a:spcBef>
                <a:spcPct val="0"/>
              </a:spcBef>
              <a:buClrTx/>
              <a:buSzTx/>
              <a:buFontTx/>
              <a:buNone/>
            </a:pPr>
            <a:r>
              <a:rPr lang="en-US" altLang="en-US" sz="1800" b="1">
                <a:solidFill>
                  <a:srgbClr val="164D90"/>
                </a:solidFill>
                <a:latin typeface="Open Sans"/>
                <a:ea typeface="Open Sans"/>
                <a:cs typeface="Open Sans"/>
              </a:rPr>
              <a:t>CHAPTER 1</a:t>
            </a:r>
          </a:p>
          <a:p>
            <a:pPr algn="ctr">
              <a:spcBef>
                <a:spcPct val="0"/>
              </a:spcBef>
              <a:buClrTx/>
              <a:buSzTx/>
              <a:buFontTx/>
              <a:buNone/>
            </a:pPr>
            <a:endParaRPr lang="en-US" altLang="en-US" sz="1000" b="1">
              <a:solidFill>
                <a:srgbClr val="164D90"/>
              </a:solidFill>
              <a:latin typeface="Open Sans"/>
              <a:ea typeface="Open Sans"/>
              <a:cs typeface="Open Sans"/>
            </a:endParaRPr>
          </a:p>
          <a:p>
            <a:pPr algn="ctr">
              <a:spcBef>
                <a:spcPct val="0"/>
              </a:spcBef>
              <a:buClrTx/>
              <a:buSzTx/>
              <a:buFontTx/>
              <a:buNone/>
            </a:pPr>
            <a:r>
              <a:rPr lang="en-US" altLang="en-US" sz="2800" b="1">
                <a:solidFill>
                  <a:srgbClr val="164D90"/>
                </a:solidFill>
                <a:latin typeface="Open Sans"/>
                <a:ea typeface="Open Sans"/>
                <a:cs typeface="Open Sans"/>
              </a:rPr>
              <a:t>Software Development Lifecycles (SDLC) and Testing</a:t>
            </a:r>
          </a:p>
        </p:txBody>
      </p:sp>
      <p:sp>
        <p:nvSpPr>
          <p:cNvPr id="12291"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8F980A3B-482D-41F0-B2BE-AD46F11C94AC}" type="slidenum">
              <a:rPr lang="en-US" altLang="en-US" sz="1200">
                <a:solidFill>
                  <a:srgbClr val="A6A6A6"/>
                </a:solidFill>
              </a:rPr>
              <a:pPr algn="r" eaLnBrk="1" hangingPunct="1">
                <a:spcBef>
                  <a:spcPct val="0"/>
                </a:spcBef>
                <a:buClrTx/>
                <a:buSzTx/>
                <a:buFontTx/>
                <a:buNone/>
              </a:pPr>
              <a:t>3</a:t>
            </a:fld>
            <a:endParaRPr lang="en-US" altLang="en-US" sz="1200">
              <a:solidFill>
                <a:srgbClr val="A6A6A6"/>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p:cNvSpPr>
            <a:spLocks noGrp="1" noChangeArrowheads="1"/>
          </p:cNvSpPr>
          <p:nvPr>
            <p:ph type="title"/>
          </p:nvPr>
        </p:nvSpPr>
        <p:spPr bwMode="auto">
          <a:xfrm>
            <a:off x="0" y="171450"/>
            <a:ext cx="6121400" cy="514350"/>
          </a:xfrm>
          <a:ln>
            <a:miter lim="800000"/>
            <a:headEnd/>
            <a:tailEnd/>
          </a:ln>
        </p:spPr>
        <p:txBody>
          <a:bodyPr rtlCol="0" anchor="t">
            <a:noAutofit/>
          </a:bodyPr>
          <a:lstStyle/>
          <a:p>
            <a:pPr eaLnBrk="1" fontAlgn="auto" hangingPunct="1">
              <a:spcAft>
                <a:spcPts val="0"/>
              </a:spcAft>
              <a:defRPr/>
            </a:pPr>
            <a:r>
              <a:rPr lang="en-US">
                <a:effectLst>
                  <a:outerShdw blurRad="38100" dist="38100" dir="2700000" algn="tl">
                    <a:srgbClr val="000000"/>
                  </a:outerShdw>
                </a:effectLst>
                <a:latin typeface="Verdana" pitchFamily="34" charset="0"/>
              </a:rPr>
              <a:t>   </a:t>
            </a:r>
            <a:r>
              <a:rPr lang="en-US" sz="3200">
                <a:latin typeface="Open Sans"/>
                <a:ea typeface="Open Sans"/>
                <a:cs typeface="Open Sans"/>
              </a:rPr>
              <a:t>CHAPTER 1</a:t>
            </a:r>
            <a:endParaRPr lang="en-US" sz="3200" dirty="0">
              <a:latin typeface="Open Sans"/>
              <a:ea typeface="Open Sans"/>
              <a:cs typeface="Open Sans"/>
            </a:endParaRPr>
          </a:p>
        </p:txBody>
      </p:sp>
      <p:sp>
        <p:nvSpPr>
          <p:cNvPr id="14338" name="Rectangle 3"/>
          <p:cNvSpPr>
            <a:spLocks noGrp="1" noChangeArrowheads="1"/>
          </p:cNvSpPr>
          <p:nvPr>
            <p:ph idx="1"/>
          </p:nvPr>
        </p:nvSpPr>
        <p:spPr>
          <a:xfrm>
            <a:off x="838200" y="1257300"/>
            <a:ext cx="7848600" cy="3179763"/>
          </a:xfrm>
        </p:spPr>
        <p:txBody>
          <a:bodyPr rtlCol="0">
            <a:normAutofit fontScale="92500" lnSpcReduction="20000"/>
          </a:bodyPr>
          <a:lstStyle/>
          <a:p>
            <a:pPr eaLnBrk="1" fontAlgn="auto" hangingPunct="1">
              <a:spcAft>
                <a:spcPts val="0"/>
              </a:spcAft>
              <a:buFont typeface="Wingdings 3" charset="2"/>
              <a:buChar char=""/>
              <a:defRPr/>
            </a:pPr>
            <a:r>
              <a:rPr lang="en-US" altLang="en-US" sz="1900">
                <a:solidFill>
                  <a:schemeClr val="tx1"/>
                </a:solidFill>
                <a:latin typeface="Arial" charset="0"/>
                <a:cs typeface="Arial" charset="0"/>
              </a:rPr>
              <a:t>SDLC and Testing</a:t>
            </a:r>
          </a:p>
          <a:p>
            <a:pPr eaLnBrk="1" fontAlgn="auto" hangingPunct="1">
              <a:spcAft>
                <a:spcPts val="0"/>
              </a:spcAft>
              <a:buFont typeface="Wingdings 3" charset="2"/>
              <a:buChar char=""/>
              <a:defRPr/>
            </a:pPr>
            <a:r>
              <a:rPr lang="en-US" altLang="en-US" sz="1900">
                <a:solidFill>
                  <a:schemeClr val="tx1"/>
                </a:solidFill>
                <a:latin typeface="Arial" charset="0"/>
                <a:cs typeface="Arial" charset="0"/>
              </a:rPr>
              <a:t>Waterfall Model</a:t>
            </a:r>
          </a:p>
          <a:p>
            <a:pPr eaLnBrk="1" fontAlgn="auto" hangingPunct="1">
              <a:spcAft>
                <a:spcPts val="0"/>
              </a:spcAft>
              <a:buFont typeface="Wingdings 3" charset="2"/>
              <a:buChar char=""/>
              <a:defRPr/>
            </a:pPr>
            <a:r>
              <a:rPr lang="en-US" altLang="en-US" sz="1900">
                <a:solidFill>
                  <a:schemeClr val="tx1"/>
                </a:solidFill>
                <a:latin typeface="Arial" charset="0"/>
                <a:cs typeface="Arial" charset="0"/>
              </a:rPr>
              <a:t>Spiral Model</a:t>
            </a:r>
          </a:p>
          <a:p>
            <a:pPr eaLnBrk="1" fontAlgn="auto" hangingPunct="1">
              <a:spcAft>
                <a:spcPts val="0"/>
              </a:spcAft>
              <a:buFont typeface="Wingdings 3" charset="2"/>
              <a:buChar char=""/>
              <a:defRPr/>
            </a:pPr>
            <a:r>
              <a:rPr lang="en-US" altLang="en-US" sz="1900">
                <a:solidFill>
                  <a:schemeClr val="tx1"/>
                </a:solidFill>
                <a:latin typeface="Arial" charset="0"/>
                <a:cs typeface="Arial" charset="0"/>
              </a:rPr>
              <a:t>V-Model</a:t>
            </a:r>
          </a:p>
          <a:p>
            <a:pPr eaLnBrk="1" fontAlgn="auto" hangingPunct="1">
              <a:spcAft>
                <a:spcPts val="0"/>
              </a:spcAft>
              <a:buFont typeface="Wingdings 3" charset="2"/>
              <a:buChar char=""/>
              <a:defRPr/>
            </a:pPr>
            <a:r>
              <a:rPr lang="en-US" altLang="en-US" sz="1900">
                <a:solidFill>
                  <a:schemeClr val="tx1"/>
                </a:solidFill>
                <a:latin typeface="Arial" charset="0"/>
                <a:cs typeface="Arial" charset="0"/>
              </a:rPr>
              <a:t>Concurrent Model</a:t>
            </a:r>
          </a:p>
          <a:p>
            <a:pPr eaLnBrk="1" fontAlgn="auto" hangingPunct="1">
              <a:spcAft>
                <a:spcPts val="0"/>
              </a:spcAft>
              <a:buFont typeface="Wingdings 3" charset="2"/>
              <a:buChar char=""/>
              <a:defRPr/>
            </a:pPr>
            <a:r>
              <a:rPr lang="en-US" altLang="en-US" sz="1900">
                <a:solidFill>
                  <a:schemeClr val="tx1"/>
                </a:solidFill>
                <a:latin typeface="Arial" charset="0"/>
                <a:cs typeface="Arial" charset="0"/>
              </a:rPr>
              <a:t>Agile Model</a:t>
            </a:r>
          </a:p>
          <a:p>
            <a:pPr eaLnBrk="1" fontAlgn="auto" hangingPunct="1">
              <a:spcAft>
                <a:spcPts val="0"/>
              </a:spcAft>
              <a:buFont typeface="Wingdings 3" charset="2"/>
              <a:buChar char=""/>
              <a:defRPr/>
            </a:pPr>
            <a:r>
              <a:rPr lang="en-US" altLang="en-US" sz="1900">
                <a:solidFill>
                  <a:schemeClr val="tx1"/>
                </a:solidFill>
                <a:latin typeface="Arial" charset="0"/>
                <a:cs typeface="Arial" charset="0"/>
              </a:rPr>
              <a:t>Other SDLC Models</a:t>
            </a:r>
          </a:p>
          <a:p>
            <a:pPr eaLnBrk="1" fontAlgn="auto" hangingPunct="1">
              <a:spcAft>
                <a:spcPts val="0"/>
              </a:spcAft>
              <a:buFont typeface="Wingdings 3" charset="2"/>
              <a:buChar char=""/>
              <a:defRPr/>
            </a:pPr>
            <a:r>
              <a:rPr lang="en-US" altLang="en-US" sz="1900">
                <a:solidFill>
                  <a:schemeClr val="tx1"/>
                </a:solidFill>
                <a:latin typeface="Arial" charset="0"/>
                <a:cs typeface="Arial" charset="0"/>
              </a:rPr>
              <a:t>Testing Phases and Milestones</a:t>
            </a:r>
          </a:p>
          <a:p>
            <a:pPr eaLnBrk="1" fontAlgn="auto" hangingPunct="1">
              <a:spcAft>
                <a:spcPts val="0"/>
              </a:spcAft>
              <a:buFont typeface="Wingdings 3" charset="2"/>
              <a:buChar char=""/>
              <a:defRPr/>
            </a:pPr>
            <a:r>
              <a:rPr lang="en-US" altLang="en-US" sz="1900">
                <a:solidFill>
                  <a:schemeClr val="tx1"/>
                </a:solidFill>
                <a:latin typeface="Arial" charset="0"/>
                <a:cs typeface="Arial" charset="0"/>
              </a:rPr>
              <a:t>DevOps and CI/CD</a:t>
            </a:r>
          </a:p>
        </p:txBody>
      </p:sp>
      <p:sp>
        <p:nvSpPr>
          <p:cNvPr id="13316"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B1939FD9-254C-4767-8FBE-82B447721C2D}" type="slidenum">
              <a:rPr lang="en-US" altLang="en-US" sz="1200">
                <a:solidFill>
                  <a:srgbClr val="A6A6A6"/>
                </a:solidFill>
              </a:rPr>
              <a:pPr algn="r" eaLnBrk="1" hangingPunct="1">
                <a:spcBef>
                  <a:spcPct val="0"/>
                </a:spcBef>
                <a:buClrTx/>
                <a:buSzTx/>
                <a:buFontTx/>
                <a:buNone/>
              </a:pPr>
              <a:t>4</a:t>
            </a:fld>
            <a:endParaRPr lang="en-US" altLang="en-US" sz="1200">
              <a:solidFill>
                <a:srgbClr val="A6A6A6"/>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bwMode="auto">
          <a:xfrm>
            <a:off x="4763" y="171450"/>
            <a:ext cx="8229600" cy="549275"/>
          </a:xfrm>
        </p:spPr>
        <p:txBody>
          <a:bodyPr anchor="t"/>
          <a:lstStyle/>
          <a:p>
            <a:pPr eaLnBrk="1" hangingPunct="1"/>
            <a:r>
              <a:rPr lang="en-US" altLang="en-US">
                <a:latin typeface="Verdana" pitchFamily="34" charset="0"/>
                <a:cs typeface="Arial" pitchFamily="34" charset="0"/>
              </a:rPr>
              <a:t>   </a:t>
            </a:r>
            <a:r>
              <a:rPr lang="en-US" altLang="en-US" sz="3200">
                <a:latin typeface="Open Sans"/>
                <a:ea typeface="Open Sans"/>
                <a:cs typeface="Open Sans"/>
              </a:rPr>
              <a:t>OBJECTIVES</a:t>
            </a:r>
          </a:p>
        </p:txBody>
      </p:sp>
      <p:sp>
        <p:nvSpPr>
          <p:cNvPr id="14339" name="Rectangle 3"/>
          <p:cNvSpPr>
            <a:spLocks noGrp="1" noChangeArrowheads="1"/>
          </p:cNvSpPr>
          <p:nvPr>
            <p:ph idx="1"/>
          </p:nvPr>
        </p:nvSpPr>
        <p:spPr>
          <a:xfrm>
            <a:off x="838200" y="1235075"/>
            <a:ext cx="7848600" cy="3394075"/>
          </a:xfrm>
        </p:spPr>
        <p:txBody>
          <a:bodyPr/>
          <a:lstStyle/>
          <a:p>
            <a:pPr algn="just" eaLnBrk="1" hangingPunct="1">
              <a:spcBef>
                <a:spcPts val="600"/>
              </a:spcBef>
              <a:spcAft>
                <a:spcPts val="600"/>
              </a:spcAft>
            </a:pPr>
            <a:r>
              <a:rPr lang="en-US" altLang="en-US">
                <a:solidFill>
                  <a:schemeClr val="tx1"/>
                </a:solidFill>
                <a:latin typeface="Arial" pitchFamily="34" charset="0"/>
                <a:cs typeface="Arial" pitchFamily="34" charset="0"/>
              </a:rPr>
              <a:t>An introduction to Common Software Development Life Cycle (SDLC) practices and how software testing fits in those contexts. </a:t>
            </a:r>
          </a:p>
          <a:p>
            <a:pPr algn="just" eaLnBrk="1" hangingPunct="1">
              <a:spcBef>
                <a:spcPts val="600"/>
              </a:spcBef>
              <a:spcAft>
                <a:spcPts val="600"/>
              </a:spcAft>
            </a:pPr>
            <a:r>
              <a:rPr lang="en-US" altLang="en-US">
                <a:solidFill>
                  <a:schemeClr val="tx1"/>
                </a:solidFill>
                <a:latin typeface="Arial" pitchFamily="34" charset="0"/>
                <a:cs typeface="Arial" pitchFamily="34" charset="0"/>
              </a:rPr>
              <a:t>Understanding testing phases, milestones, checkpoints in a SDLC and their purposes</a:t>
            </a:r>
          </a:p>
          <a:p>
            <a:pPr algn="just" eaLnBrk="1" hangingPunct="1">
              <a:spcBef>
                <a:spcPts val="600"/>
              </a:spcBef>
              <a:spcAft>
                <a:spcPts val="600"/>
              </a:spcAft>
            </a:pPr>
            <a:r>
              <a:rPr lang="en-US" altLang="en-US">
                <a:solidFill>
                  <a:schemeClr val="tx1"/>
                </a:solidFill>
                <a:latin typeface="Arial" pitchFamily="34" charset="0"/>
                <a:cs typeface="Arial" pitchFamily="34" charset="0"/>
              </a:rPr>
              <a:t>Learn about how each SDLC choice affects software testing and its implementation</a:t>
            </a:r>
          </a:p>
          <a:p>
            <a:pPr algn="just" eaLnBrk="1" hangingPunct="1">
              <a:spcBef>
                <a:spcPts val="600"/>
              </a:spcBef>
              <a:spcAft>
                <a:spcPts val="600"/>
              </a:spcAft>
            </a:pPr>
            <a:r>
              <a:rPr lang="en-US" altLang="en-US">
                <a:solidFill>
                  <a:schemeClr val="tx1"/>
                </a:solidFill>
                <a:latin typeface="Arial" pitchFamily="34" charset="0"/>
                <a:cs typeface="Arial" pitchFamily="34" charset="0"/>
              </a:rPr>
              <a:t>Learn about DevOps and CI/CD</a:t>
            </a:r>
          </a:p>
          <a:p>
            <a:pPr algn="just" eaLnBrk="1" hangingPunct="1">
              <a:lnSpc>
                <a:spcPct val="90000"/>
              </a:lnSpc>
            </a:pPr>
            <a:endParaRPr lang="en-US" altLang="en-US" sz="2200">
              <a:solidFill>
                <a:schemeClr val="tx1"/>
              </a:solidFill>
              <a:latin typeface="Arial" pitchFamily="34" charset="0"/>
              <a:cs typeface="Arial" pitchFamily="34" charset="0"/>
            </a:endParaRPr>
          </a:p>
        </p:txBody>
      </p:sp>
      <p:sp>
        <p:nvSpPr>
          <p:cNvPr id="14340"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2D3803F7-5EAD-4DE7-B957-8A51B1DB707C}" type="slidenum">
              <a:rPr lang="en-US" altLang="en-US" sz="1200">
                <a:solidFill>
                  <a:srgbClr val="A6A6A6"/>
                </a:solidFill>
              </a:rPr>
              <a:pPr algn="r" eaLnBrk="1" hangingPunct="1">
                <a:spcBef>
                  <a:spcPct val="0"/>
                </a:spcBef>
                <a:buClrTx/>
                <a:buSzTx/>
                <a:buFontTx/>
                <a:buNone/>
              </a:pPr>
              <a:t>5</a:t>
            </a:fld>
            <a:endParaRPr lang="en-US" altLang="en-US" sz="1200">
              <a:solidFill>
                <a:srgbClr val="A6A6A6"/>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6" name="Rectangle 2"/>
          <p:cNvSpPr>
            <a:spLocks noGrp="1" noChangeArrowheads="1"/>
          </p:cNvSpPr>
          <p:nvPr>
            <p:ph type="title"/>
          </p:nvPr>
        </p:nvSpPr>
        <p:spPr bwMode="auto">
          <a:xfrm>
            <a:off x="0" y="171450"/>
            <a:ext cx="8229600" cy="512763"/>
          </a:xfrm>
          <a:ln>
            <a:miter lim="800000"/>
            <a:headEnd/>
            <a:tailEnd/>
          </a:ln>
        </p:spPr>
        <p:txBody>
          <a:bodyPr rtlCol="0" anchor="t">
            <a:noAutofit/>
          </a:bodyPr>
          <a:lstStyle/>
          <a:p>
            <a:pPr eaLnBrk="1" fontAlgn="auto" hangingPunct="1">
              <a:spcAft>
                <a:spcPts val="0"/>
              </a:spcAft>
              <a:defRPr/>
            </a:pPr>
            <a:r>
              <a:rPr lang="en-US">
                <a:effectLst>
                  <a:outerShdw blurRad="38100" dist="38100" dir="2700000" algn="tl">
                    <a:srgbClr val="000000"/>
                  </a:outerShdw>
                </a:effectLst>
                <a:latin typeface="Verdana" pitchFamily="34" charset="0"/>
              </a:rPr>
              <a:t>   </a:t>
            </a:r>
            <a:r>
              <a:rPr lang="en-US" sz="3200">
                <a:latin typeface="Open Sans"/>
                <a:ea typeface="Open Sans"/>
                <a:cs typeface="Open Sans"/>
              </a:rPr>
              <a:t>SDLC and Testing</a:t>
            </a:r>
            <a:endParaRPr lang="en-US" sz="3200" dirty="0">
              <a:latin typeface="Open Sans"/>
              <a:ea typeface="Open Sans"/>
              <a:cs typeface="Open Sans"/>
            </a:endParaRPr>
          </a:p>
        </p:txBody>
      </p:sp>
      <p:sp>
        <p:nvSpPr>
          <p:cNvPr id="16386" name="Rectangle 3"/>
          <p:cNvSpPr>
            <a:spLocks noGrp="1" noChangeArrowheads="1"/>
          </p:cNvSpPr>
          <p:nvPr>
            <p:ph idx="1"/>
          </p:nvPr>
        </p:nvSpPr>
        <p:spPr>
          <a:xfrm>
            <a:off x="914400" y="1200150"/>
            <a:ext cx="7924800" cy="3394075"/>
          </a:xfrm>
        </p:spPr>
        <p:txBody>
          <a:bodyPr rtlCol="0">
            <a:normAutofit/>
          </a:bodyPr>
          <a:lstStyle/>
          <a:p>
            <a:pPr eaLnBrk="1" fontAlgn="auto" hangingPunct="1">
              <a:lnSpc>
                <a:spcPct val="90000"/>
              </a:lnSpc>
              <a:spcAft>
                <a:spcPts val="0"/>
              </a:spcAft>
              <a:buFontTx/>
              <a:buNone/>
              <a:defRPr/>
            </a:pPr>
            <a:r>
              <a:rPr lang="en-US" altLang="en-US" b="1">
                <a:solidFill>
                  <a:srgbClr val="000099"/>
                </a:solidFill>
                <a:latin typeface="Arial" charset="0"/>
                <a:cs typeface="Arial" charset="0"/>
              </a:rPr>
              <a:t>1.1- SDLC and Testing</a:t>
            </a:r>
          </a:p>
          <a:p>
            <a:pPr eaLnBrk="1" fontAlgn="auto" hangingPunct="1">
              <a:lnSpc>
                <a:spcPct val="90000"/>
              </a:lnSpc>
              <a:spcAft>
                <a:spcPts val="0"/>
              </a:spcAft>
              <a:buFontTx/>
              <a:buNone/>
              <a:defRPr/>
            </a:pPr>
            <a:r>
              <a:rPr lang="en-US" altLang="en-US">
                <a:solidFill>
                  <a:schemeClr val="tx1"/>
                </a:solidFill>
                <a:latin typeface="Arial" charset="0"/>
                <a:cs typeface="Arial" charset="0"/>
              </a:rPr>
              <a:t>1.2- Waterfall Model</a:t>
            </a:r>
          </a:p>
          <a:p>
            <a:pPr eaLnBrk="1" fontAlgn="auto" hangingPunct="1">
              <a:lnSpc>
                <a:spcPct val="90000"/>
              </a:lnSpc>
              <a:spcAft>
                <a:spcPts val="0"/>
              </a:spcAft>
              <a:buFontTx/>
              <a:buNone/>
              <a:defRPr/>
            </a:pPr>
            <a:r>
              <a:rPr lang="en-US" altLang="en-US">
                <a:solidFill>
                  <a:schemeClr val="tx1"/>
                </a:solidFill>
                <a:latin typeface="Arial" charset="0"/>
                <a:cs typeface="Arial" charset="0"/>
              </a:rPr>
              <a:t>1.3- Spiral Model</a:t>
            </a:r>
          </a:p>
          <a:p>
            <a:pPr eaLnBrk="1" fontAlgn="auto" hangingPunct="1">
              <a:lnSpc>
                <a:spcPct val="90000"/>
              </a:lnSpc>
              <a:spcAft>
                <a:spcPts val="0"/>
              </a:spcAft>
              <a:buFontTx/>
              <a:buNone/>
              <a:defRPr/>
            </a:pPr>
            <a:r>
              <a:rPr lang="en-US" altLang="en-US">
                <a:solidFill>
                  <a:schemeClr val="tx1"/>
                </a:solidFill>
                <a:latin typeface="Arial" charset="0"/>
                <a:cs typeface="Arial" charset="0"/>
              </a:rPr>
              <a:t>1.4- V-Model</a:t>
            </a:r>
          </a:p>
          <a:p>
            <a:pPr eaLnBrk="1" fontAlgn="auto" hangingPunct="1">
              <a:lnSpc>
                <a:spcPct val="90000"/>
              </a:lnSpc>
              <a:spcAft>
                <a:spcPts val="0"/>
              </a:spcAft>
              <a:buFontTx/>
              <a:buNone/>
              <a:defRPr/>
            </a:pPr>
            <a:r>
              <a:rPr lang="en-US" altLang="en-US">
                <a:solidFill>
                  <a:schemeClr val="tx1"/>
                </a:solidFill>
                <a:latin typeface="Arial" charset="0"/>
                <a:cs typeface="Arial" charset="0"/>
              </a:rPr>
              <a:t>1.5- Concurrent Model</a:t>
            </a:r>
          </a:p>
          <a:p>
            <a:pPr eaLnBrk="1" fontAlgn="auto" hangingPunct="1">
              <a:lnSpc>
                <a:spcPct val="90000"/>
              </a:lnSpc>
              <a:spcAft>
                <a:spcPts val="0"/>
              </a:spcAft>
              <a:buFontTx/>
              <a:buNone/>
              <a:defRPr/>
            </a:pPr>
            <a:r>
              <a:rPr lang="en-US" altLang="en-US">
                <a:solidFill>
                  <a:schemeClr val="tx1"/>
                </a:solidFill>
                <a:latin typeface="Arial" charset="0"/>
                <a:cs typeface="Arial" charset="0"/>
              </a:rPr>
              <a:t>1.6- Agile Model</a:t>
            </a:r>
          </a:p>
          <a:p>
            <a:pPr eaLnBrk="1" fontAlgn="auto" hangingPunct="1">
              <a:lnSpc>
                <a:spcPct val="90000"/>
              </a:lnSpc>
              <a:spcAft>
                <a:spcPts val="0"/>
              </a:spcAft>
              <a:buFontTx/>
              <a:buNone/>
              <a:defRPr/>
            </a:pPr>
            <a:r>
              <a:rPr lang="en-US" altLang="en-US">
                <a:solidFill>
                  <a:schemeClr val="tx1"/>
                </a:solidFill>
                <a:latin typeface="Arial" charset="0"/>
                <a:cs typeface="Arial" charset="0"/>
              </a:rPr>
              <a:t>1.7- Other SDLC Models</a:t>
            </a:r>
          </a:p>
          <a:p>
            <a:pPr eaLnBrk="1" fontAlgn="auto" hangingPunct="1">
              <a:lnSpc>
                <a:spcPct val="90000"/>
              </a:lnSpc>
              <a:spcAft>
                <a:spcPts val="0"/>
              </a:spcAft>
              <a:buFontTx/>
              <a:buNone/>
              <a:defRPr/>
            </a:pPr>
            <a:r>
              <a:rPr lang="en-US" altLang="en-US">
                <a:solidFill>
                  <a:schemeClr val="tx1"/>
                </a:solidFill>
                <a:latin typeface="Arial" charset="0"/>
                <a:cs typeface="Arial" charset="0"/>
              </a:rPr>
              <a:t>1.8- Testing Phases and Milestones</a:t>
            </a:r>
          </a:p>
          <a:p>
            <a:pPr eaLnBrk="1" fontAlgn="auto" hangingPunct="1">
              <a:lnSpc>
                <a:spcPct val="90000"/>
              </a:lnSpc>
              <a:spcAft>
                <a:spcPts val="0"/>
              </a:spcAft>
              <a:buFontTx/>
              <a:buNone/>
              <a:defRPr/>
            </a:pPr>
            <a:r>
              <a:rPr lang="en-US" altLang="en-US">
                <a:solidFill>
                  <a:schemeClr val="tx1"/>
                </a:solidFill>
                <a:latin typeface="Arial" charset="0"/>
                <a:cs typeface="Arial" charset="0"/>
              </a:rPr>
              <a:t>1.9- DevOps and CI/CD</a:t>
            </a:r>
          </a:p>
        </p:txBody>
      </p:sp>
      <p:sp>
        <p:nvSpPr>
          <p:cNvPr id="15364"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66790910-6AA8-46FD-A267-D7912B062627}" type="slidenum">
              <a:rPr lang="en-US" altLang="en-US" sz="1200">
                <a:solidFill>
                  <a:srgbClr val="A6A6A6"/>
                </a:solidFill>
              </a:rPr>
              <a:pPr algn="r" eaLnBrk="1" hangingPunct="1">
                <a:spcBef>
                  <a:spcPct val="0"/>
                </a:spcBef>
                <a:buClrTx/>
                <a:buSzTx/>
                <a:buFontTx/>
                <a:buNone/>
              </a:pPr>
              <a:t>6</a:t>
            </a:fld>
            <a:endParaRPr lang="en-US" altLang="en-US" sz="1200">
              <a:solidFill>
                <a:srgbClr val="A6A6A6"/>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2066" name="Rectangle 2"/>
          <p:cNvSpPr>
            <a:spLocks noGrp="1" noChangeArrowheads="1"/>
          </p:cNvSpPr>
          <p:nvPr>
            <p:ph type="title"/>
          </p:nvPr>
        </p:nvSpPr>
        <p:spPr bwMode="auto">
          <a:xfrm>
            <a:off x="0" y="171450"/>
            <a:ext cx="8229600" cy="531813"/>
          </a:xfrm>
          <a:ln>
            <a:miter lim="800000"/>
            <a:headEnd/>
            <a:tailEnd/>
          </a:ln>
        </p:spPr>
        <p:txBody>
          <a:bodyPr rtlCol="0" anchor="t">
            <a:noAutofit/>
          </a:bodyPr>
          <a:lstStyle/>
          <a:p>
            <a:pPr eaLnBrk="1" fontAlgn="auto" hangingPunct="1">
              <a:spcAft>
                <a:spcPts val="0"/>
              </a:spcAft>
              <a:defRPr/>
            </a:pPr>
            <a:r>
              <a:rPr lang="en-US">
                <a:effectLst>
                  <a:outerShdw blurRad="38100" dist="38100" dir="2700000" algn="tl">
                    <a:srgbClr val="000000"/>
                  </a:outerShdw>
                </a:effectLst>
                <a:latin typeface="Verdana" pitchFamily="34" charset="0"/>
              </a:rPr>
              <a:t>   </a:t>
            </a:r>
            <a:r>
              <a:rPr lang="en-US" sz="3200">
                <a:latin typeface="Open Sans"/>
                <a:ea typeface="Open Sans"/>
                <a:cs typeface="Open Sans"/>
              </a:rPr>
              <a:t>SDLC </a:t>
            </a:r>
            <a:r>
              <a:rPr lang="en-US" sz="3200" dirty="0">
                <a:latin typeface="Open Sans"/>
                <a:ea typeface="Open Sans"/>
                <a:cs typeface="Open Sans"/>
              </a:rPr>
              <a:t>and Testing</a:t>
            </a:r>
          </a:p>
        </p:txBody>
      </p:sp>
      <p:sp>
        <p:nvSpPr>
          <p:cNvPr id="15363" name="Rectangle 3"/>
          <p:cNvSpPr>
            <a:spLocks noGrp="1" noChangeArrowheads="1"/>
          </p:cNvSpPr>
          <p:nvPr>
            <p:ph idx="1"/>
          </p:nvPr>
        </p:nvSpPr>
        <p:spPr>
          <a:xfrm>
            <a:off x="838200" y="1123950"/>
            <a:ext cx="7848600" cy="3394075"/>
          </a:xfrm>
        </p:spPr>
        <p:txBody>
          <a:bodyPr rtlCol="0">
            <a:normAutofit/>
          </a:bodyPr>
          <a:lstStyle/>
          <a:p>
            <a:pPr marL="0" indent="0" algn="just" eaLnBrk="1" hangingPunct="1">
              <a:spcBef>
                <a:spcPts val="600"/>
              </a:spcBef>
              <a:spcAft>
                <a:spcPts val="600"/>
              </a:spcAft>
              <a:buFont typeface="Wingdings 3" pitchFamily="18" charset="2"/>
              <a:buNone/>
              <a:defRPr/>
            </a:pPr>
            <a:r>
              <a:rPr lang="en-US" b="1" dirty="0">
                <a:solidFill>
                  <a:schemeClr val="tx1"/>
                </a:solidFill>
                <a:latin typeface="Arial" pitchFamily="34" charset="0"/>
                <a:cs typeface="Arial" pitchFamily="34" charset="0"/>
              </a:rPr>
              <a:t>How testing is directly affected by the SDLC choice:</a:t>
            </a:r>
          </a:p>
          <a:p>
            <a:pPr marL="342900" lvl="2" indent="-342900" algn="just" eaLnBrk="1" hangingPunct="1">
              <a:spcBef>
                <a:spcPts val="600"/>
              </a:spcBef>
              <a:spcAft>
                <a:spcPts val="600"/>
              </a:spcAft>
              <a:defRPr/>
            </a:pPr>
            <a:r>
              <a:rPr lang="en-US" sz="1800" dirty="0">
                <a:solidFill>
                  <a:schemeClr val="tx1"/>
                </a:solidFill>
                <a:latin typeface="Arial" pitchFamily="34" charset="0"/>
                <a:cs typeface="Arial" pitchFamily="34" charset="0"/>
              </a:rPr>
              <a:t>Documentation availability to test against</a:t>
            </a:r>
          </a:p>
          <a:p>
            <a:pPr marL="342900" lvl="2" indent="-342900" algn="just" eaLnBrk="1" hangingPunct="1">
              <a:spcBef>
                <a:spcPts val="600"/>
              </a:spcBef>
              <a:spcAft>
                <a:spcPts val="600"/>
              </a:spcAft>
              <a:defRPr/>
            </a:pPr>
            <a:r>
              <a:rPr lang="en-US" sz="1800" dirty="0">
                <a:solidFill>
                  <a:schemeClr val="tx1"/>
                </a:solidFill>
                <a:latin typeface="Arial" pitchFamily="34" charset="0"/>
                <a:cs typeface="Arial" pitchFamily="34" charset="0"/>
              </a:rPr>
              <a:t>Time to test</a:t>
            </a:r>
          </a:p>
          <a:p>
            <a:pPr marL="342900" lvl="2" indent="-342900" algn="just" eaLnBrk="1" hangingPunct="1">
              <a:spcBef>
                <a:spcPts val="600"/>
              </a:spcBef>
              <a:spcAft>
                <a:spcPts val="600"/>
              </a:spcAft>
              <a:defRPr/>
            </a:pPr>
            <a:r>
              <a:rPr lang="en-US" sz="1800" dirty="0">
                <a:solidFill>
                  <a:schemeClr val="tx1"/>
                </a:solidFill>
                <a:latin typeface="Arial" pitchFamily="34" charset="0"/>
                <a:cs typeface="Arial" pitchFamily="34" charset="0"/>
              </a:rPr>
              <a:t>Time to automate or produce effective automation</a:t>
            </a:r>
          </a:p>
          <a:p>
            <a:pPr marL="342900" lvl="2" indent="-342900" algn="just" eaLnBrk="1" hangingPunct="1">
              <a:spcBef>
                <a:spcPts val="600"/>
              </a:spcBef>
              <a:spcAft>
                <a:spcPts val="600"/>
              </a:spcAft>
              <a:defRPr/>
            </a:pPr>
            <a:r>
              <a:rPr lang="en-US" sz="1800" dirty="0">
                <a:solidFill>
                  <a:schemeClr val="tx1"/>
                </a:solidFill>
                <a:latin typeface="Arial" pitchFamily="34" charset="0"/>
                <a:cs typeface="Arial" pitchFamily="34" charset="0"/>
              </a:rPr>
              <a:t>Knowledge and understanding of the application as we plan our tests</a:t>
            </a:r>
          </a:p>
          <a:p>
            <a:pPr marL="342900" lvl="2" indent="-342900" algn="just" eaLnBrk="1" hangingPunct="1">
              <a:spcBef>
                <a:spcPts val="600"/>
              </a:spcBef>
              <a:spcAft>
                <a:spcPts val="600"/>
              </a:spcAft>
              <a:defRPr/>
            </a:pPr>
            <a:r>
              <a:rPr lang="en-US" sz="1800" dirty="0">
                <a:solidFill>
                  <a:schemeClr val="tx1"/>
                </a:solidFill>
                <a:latin typeface="Arial" pitchFamily="34" charset="0"/>
                <a:cs typeface="Arial" pitchFamily="34" charset="0"/>
              </a:rPr>
              <a:t>Amount of </a:t>
            </a:r>
            <a:r>
              <a:rPr lang="en-US" sz="1800">
                <a:solidFill>
                  <a:schemeClr val="tx1"/>
                </a:solidFill>
                <a:latin typeface="Arial" pitchFamily="34" charset="0"/>
                <a:cs typeface="Arial" pitchFamily="34" charset="0"/>
              </a:rPr>
              <a:t>regression testing</a:t>
            </a:r>
            <a:endParaRPr lang="en-US" sz="1800" dirty="0">
              <a:solidFill>
                <a:schemeClr val="tx1"/>
              </a:solidFill>
              <a:latin typeface="Arial" pitchFamily="34" charset="0"/>
              <a:cs typeface="Arial" pitchFamily="34" charset="0"/>
            </a:endParaRPr>
          </a:p>
        </p:txBody>
      </p:sp>
      <p:sp>
        <p:nvSpPr>
          <p:cNvPr id="16388"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3153264D-FA48-4A66-9851-C8DC24150105}" type="slidenum">
              <a:rPr lang="en-US" altLang="en-US" sz="1200">
                <a:solidFill>
                  <a:srgbClr val="A6A6A6"/>
                </a:solidFill>
              </a:rPr>
              <a:pPr algn="r" eaLnBrk="1" hangingPunct="1">
                <a:spcBef>
                  <a:spcPct val="0"/>
                </a:spcBef>
                <a:buClrTx/>
                <a:buSzTx/>
                <a:buFontTx/>
                <a:buNone/>
              </a:pPr>
              <a:t>7</a:t>
            </a:fld>
            <a:endParaRPr lang="en-US" altLang="en-US" sz="1200">
              <a:solidFill>
                <a:srgbClr val="A6A6A6"/>
              </a:solidFill>
            </a:endParaRPr>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bwMode="auto">
          <a:xfrm>
            <a:off x="0" y="171450"/>
            <a:ext cx="8229600" cy="531813"/>
          </a:xfrm>
        </p:spPr>
        <p:txBody>
          <a:bodyPr anchor="t"/>
          <a:lstStyle/>
          <a:p>
            <a:pPr eaLnBrk="1" hangingPunct="1"/>
            <a:r>
              <a:rPr lang="en-US" altLang="en-US" sz="3200">
                <a:latin typeface="Open Sans"/>
                <a:ea typeface="Open Sans"/>
                <a:cs typeface="Open Sans"/>
              </a:rPr>
              <a:t>   SDLC and Testing</a:t>
            </a:r>
          </a:p>
        </p:txBody>
      </p:sp>
      <p:sp>
        <p:nvSpPr>
          <p:cNvPr id="17411" name="Rectangle 3"/>
          <p:cNvSpPr>
            <a:spLocks noGrp="1" noChangeArrowheads="1"/>
          </p:cNvSpPr>
          <p:nvPr>
            <p:ph idx="1"/>
          </p:nvPr>
        </p:nvSpPr>
        <p:spPr>
          <a:xfrm>
            <a:off x="838200" y="1158875"/>
            <a:ext cx="8001000" cy="3394075"/>
          </a:xfrm>
        </p:spPr>
        <p:txBody>
          <a:bodyPr/>
          <a:lstStyle/>
          <a:p>
            <a:pPr eaLnBrk="1" hangingPunct="1">
              <a:lnSpc>
                <a:spcPct val="90000"/>
              </a:lnSpc>
              <a:buFontTx/>
              <a:buNone/>
            </a:pPr>
            <a:r>
              <a:rPr lang="en-US" altLang="en-US">
                <a:solidFill>
                  <a:schemeClr val="tx1"/>
                </a:solidFill>
                <a:latin typeface="Arial" pitchFamily="34" charset="0"/>
                <a:cs typeface="Arial" pitchFamily="34" charset="0"/>
              </a:rPr>
              <a:t>1.1- SDLC and Testing</a:t>
            </a:r>
            <a:endParaRPr lang="en-US" altLang="en-US" b="1">
              <a:solidFill>
                <a:schemeClr val="tx1"/>
              </a:solidFill>
              <a:latin typeface="Arial" pitchFamily="34" charset="0"/>
              <a:cs typeface="Arial" pitchFamily="34" charset="0"/>
            </a:endParaRPr>
          </a:p>
          <a:p>
            <a:pPr eaLnBrk="1" hangingPunct="1">
              <a:lnSpc>
                <a:spcPct val="90000"/>
              </a:lnSpc>
              <a:buFontTx/>
              <a:buNone/>
            </a:pPr>
            <a:r>
              <a:rPr lang="en-US" altLang="en-US" b="1">
                <a:solidFill>
                  <a:srgbClr val="000099"/>
                </a:solidFill>
                <a:latin typeface="Arial" pitchFamily="34" charset="0"/>
                <a:cs typeface="Arial" pitchFamily="34" charset="0"/>
              </a:rPr>
              <a:t>1.2- Waterfall Model</a:t>
            </a:r>
          </a:p>
          <a:p>
            <a:pPr eaLnBrk="1" hangingPunct="1">
              <a:lnSpc>
                <a:spcPct val="90000"/>
              </a:lnSpc>
              <a:buFontTx/>
              <a:buNone/>
            </a:pPr>
            <a:r>
              <a:rPr lang="en-US" altLang="en-US">
                <a:solidFill>
                  <a:schemeClr val="tx1"/>
                </a:solidFill>
                <a:latin typeface="Arial" pitchFamily="34" charset="0"/>
                <a:cs typeface="Arial" pitchFamily="34" charset="0"/>
              </a:rPr>
              <a:t>1.3- Spiral Model</a:t>
            </a:r>
          </a:p>
          <a:p>
            <a:pPr eaLnBrk="1" hangingPunct="1">
              <a:lnSpc>
                <a:spcPct val="90000"/>
              </a:lnSpc>
              <a:buFontTx/>
              <a:buNone/>
            </a:pPr>
            <a:r>
              <a:rPr lang="en-US" altLang="en-US">
                <a:solidFill>
                  <a:schemeClr val="tx1"/>
                </a:solidFill>
                <a:latin typeface="Arial" pitchFamily="34" charset="0"/>
                <a:cs typeface="Arial" pitchFamily="34" charset="0"/>
              </a:rPr>
              <a:t>1.4- V-Model</a:t>
            </a:r>
          </a:p>
          <a:p>
            <a:pPr eaLnBrk="1" hangingPunct="1">
              <a:lnSpc>
                <a:spcPct val="90000"/>
              </a:lnSpc>
              <a:buFontTx/>
              <a:buNone/>
            </a:pPr>
            <a:r>
              <a:rPr lang="en-US" altLang="en-US">
                <a:solidFill>
                  <a:schemeClr val="tx1"/>
                </a:solidFill>
                <a:latin typeface="Arial" pitchFamily="34" charset="0"/>
                <a:cs typeface="Arial" pitchFamily="34" charset="0"/>
              </a:rPr>
              <a:t>1.5- Concurrent Model</a:t>
            </a:r>
          </a:p>
          <a:p>
            <a:pPr eaLnBrk="1" hangingPunct="1">
              <a:lnSpc>
                <a:spcPct val="90000"/>
              </a:lnSpc>
              <a:buFontTx/>
              <a:buNone/>
            </a:pPr>
            <a:r>
              <a:rPr lang="en-US" altLang="en-US">
                <a:solidFill>
                  <a:schemeClr val="tx1"/>
                </a:solidFill>
                <a:latin typeface="Arial" pitchFamily="34" charset="0"/>
                <a:cs typeface="Arial" pitchFamily="34" charset="0"/>
              </a:rPr>
              <a:t>1.6- Agile Model</a:t>
            </a:r>
          </a:p>
          <a:p>
            <a:pPr eaLnBrk="1" hangingPunct="1">
              <a:lnSpc>
                <a:spcPct val="90000"/>
              </a:lnSpc>
              <a:buFontTx/>
              <a:buNone/>
            </a:pPr>
            <a:r>
              <a:rPr lang="en-US" altLang="en-US">
                <a:solidFill>
                  <a:schemeClr val="tx1"/>
                </a:solidFill>
                <a:latin typeface="Arial" pitchFamily="34" charset="0"/>
                <a:cs typeface="Arial" pitchFamily="34" charset="0"/>
              </a:rPr>
              <a:t>1.7- Other SDLC Models</a:t>
            </a:r>
          </a:p>
          <a:p>
            <a:pPr eaLnBrk="1" hangingPunct="1">
              <a:lnSpc>
                <a:spcPct val="90000"/>
              </a:lnSpc>
              <a:buFontTx/>
              <a:buNone/>
            </a:pPr>
            <a:r>
              <a:rPr lang="en-US" altLang="en-US">
                <a:solidFill>
                  <a:schemeClr val="tx1"/>
                </a:solidFill>
                <a:latin typeface="Arial" pitchFamily="34" charset="0"/>
                <a:cs typeface="Arial" pitchFamily="34" charset="0"/>
              </a:rPr>
              <a:t>1.8- Testing Phases and Milestones</a:t>
            </a:r>
          </a:p>
          <a:p>
            <a:pPr eaLnBrk="1" hangingPunct="1">
              <a:lnSpc>
                <a:spcPct val="90000"/>
              </a:lnSpc>
              <a:buFont typeface="Arial" pitchFamily="34" charset="0"/>
              <a:buNone/>
            </a:pPr>
            <a:r>
              <a:rPr lang="en-US" altLang="en-US">
                <a:solidFill>
                  <a:schemeClr val="tx1"/>
                </a:solidFill>
                <a:latin typeface="Arial" pitchFamily="34" charset="0"/>
                <a:cs typeface="Arial" pitchFamily="34" charset="0"/>
              </a:rPr>
              <a:t>1.9- DevOps and CI/CD</a:t>
            </a:r>
          </a:p>
        </p:txBody>
      </p:sp>
      <p:sp>
        <p:nvSpPr>
          <p:cNvPr id="17412"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A87CAD0B-4B76-49EF-A07C-BA72B8D9D28A}" type="slidenum">
              <a:rPr lang="en-US" altLang="en-US" sz="1200">
                <a:solidFill>
                  <a:srgbClr val="A6A6A6"/>
                </a:solidFill>
              </a:rPr>
              <a:pPr algn="r" eaLnBrk="1" hangingPunct="1">
                <a:spcBef>
                  <a:spcPct val="0"/>
                </a:spcBef>
                <a:buClrTx/>
                <a:buSzTx/>
                <a:buFontTx/>
                <a:buNone/>
              </a:pPr>
              <a:t>8</a:t>
            </a:fld>
            <a:endParaRPr lang="en-US" altLang="en-US" sz="1200">
              <a:solidFill>
                <a:srgbClr val="A6A6A6"/>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bwMode="auto">
          <a:xfrm>
            <a:off x="0" y="171450"/>
            <a:ext cx="8229600" cy="549275"/>
          </a:xfrm>
        </p:spPr>
        <p:txBody>
          <a:bodyPr anchor="t"/>
          <a:lstStyle/>
          <a:p>
            <a:pPr eaLnBrk="1" hangingPunct="1"/>
            <a:r>
              <a:rPr lang="en-US" altLang="en-US" sz="3200">
                <a:latin typeface="Open Sans"/>
                <a:ea typeface="Open Sans"/>
                <a:cs typeface="Open Sans"/>
              </a:rPr>
              <a:t>   Waterfall Model</a:t>
            </a:r>
          </a:p>
        </p:txBody>
      </p:sp>
      <p:sp>
        <p:nvSpPr>
          <p:cNvPr id="18435" name="Rectangle 4"/>
          <p:cNvSpPr>
            <a:spLocks noChangeArrowheads="1"/>
          </p:cNvSpPr>
          <p:nvPr/>
        </p:nvSpPr>
        <p:spPr bwMode="auto">
          <a:xfrm>
            <a:off x="785813" y="1398588"/>
            <a:ext cx="1576387" cy="373062"/>
          </a:xfrm>
          <a:prstGeom prst="rect">
            <a:avLst/>
          </a:prstGeom>
          <a:solidFill>
            <a:srgbClr val="FF99CC"/>
          </a:solidFill>
          <a:ln w="9525">
            <a:solidFill>
              <a:schemeClr val="tx1"/>
            </a:solidFill>
            <a:miter lim="800000"/>
            <a:headEnd/>
            <a:tailEnd/>
          </a:ln>
        </p:spPr>
        <p:txBody>
          <a:bodyPr anchor="ct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ctr">
              <a:spcBef>
                <a:spcPct val="0"/>
              </a:spcBef>
              <a:buClrTx/>
              <a:buSzTx/>
              <a:buFontTx/>
              <a:buNone/>
            </a:pPr>
            <a:r>
              <a:rPr lang="en-IE" altLang="en-US" sz="1400" b="1">
                <a:solidFill>
                  <a:schemeClr val="tx1"/>
                </a:solidFill>
                <a:latin typeface="Times New Roman" pitchFamily="18" charset="0"/>
              </a:rPr>
              <a:t>Requirements Definition</a:t>
            </a:r>
            <a:endParaRPr lang="en-US" altLang="en-US" sz="1400" b="1">
              <a:solidFill>
                <a:schemeClr val="tx1"/>
              </a:solidFill>
              <a:latin typeface="Times New Roman" pitchFamily="18" charset="0"/>
            </a:endParaRPr>
          </a:p>
        </p:txBody>
      </p:sp>
      <p:sp>
        <p:nvSpPr>
          <p:cNvPr id="18436" name="Rectangle 5"/>
          <p:cNvSpPr>
            <a:spLocks noChangeArrowheads="1"/>
          </p:cNvSpPr>
          <p:nvPr/>
        </p:nvSpPr>
        <p:spPr bwMode="auto">
          <a:xfrm>
            <a:off x="1981200" y="1885950"/>
            <a:ext cx="1600200" cy="400050"/>
          </a:xfrm>
          <a:prstGeom prst="rect">
            <a:avLst/>
          </a:prstGeom>
          <a:solidFill>
            <a:srgbClr val="FFCC99"/>
          </a:solidFill>
          <a:ln w="9525">
            <a:solidFill>
              <a:schemeClr val="tx1"/>
            </a:solidFill>
            <a:miter lim="800000"/>
            <a:headEnd/>
            <a:tailEnd/>
          </a:ln>
        </p:spPr>
        <p:txBody>
          <a:bodyPr anchor="ct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ctr">
              <a:spcBef>
                <a:spcPct val="0"/>
              </a:spcBef>
              <a:buClrTx/>
              <a:buSzTx/>
              <a:buFontTx/>
              <a:buNone/>
            </a:pPr>
            <a:r>
              <a:rPr lang="en-IE" altLang="en-US" sz="1400" b="1">
                <a:solidFill>
                  <a:schemeClr val="tx1"/>
                </a:solidFill>
                <a:latin typeface="Times New Roman" pitchFamily="18" charset="0"/>
              </a:rPr>
              <a:t>Functional Design</a:t>
            </a:r>
            <a:endParaRPr lang="en-US" altLang="en-US" sz="1400" b="1">
              <a:solidFill>
                <a:schemeClr val="tx1"/>
              </a:solidFill>
              <a:latin typeface="Times New Roman" pitchFamily="18" charset="0"/>
            </a:endParaRPr>
          </a:p>
        </p:txBody>
      </p:sp>
      <p:sp>
        <p:nvSpPr>
          <p:cNvPr id="18437" name="Rectangle 6"/>
          <p:cNvSpPr>
            <a:spLocks noChangeArrowheads="1"/>
          </p:cNvSpPr>
          <p:nvPr/>
        </p:nvSpPr>
        <p:spPr bwMode="auto">
          <a:xfrm>
            <a:off x="3200400" y="2400300"/>
            <a:ext cx="1600200" cy="400050"/>
          </a:xfrm>
          <a:prstGeom prst="rect">
            <a:avLst/>
          </a:prstGeom>
          <a:solidFill>
            <a:srgbClr val="FFFF99"/>
          </a:solidFill>
          <a:ln w="9525">
            <a:solidFill>
              <a:schemeClr val="tx1"/>
            </a:solidFill>
            <a:miter lim="800000"/>
            <a:headEnd/>
            <a:tailEnd/>
          </a:ln>
        </p:spPr>
        <p:txBody>
          <a:bodyPr anchor="ct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ctr">
              <a:spcBef>
                <a:spcPct val="0"/>
              </a:spcBef>
              <a:buClrTx/>
              <a:buSzTx/>
              <a:buFontTx/>
              <a:buNone/>
            </a:pPr>
            <a:r>
              <a:rPr lang="en-IE" altLang="en-US" sz="1400" b="1">
                <a:solidFill>
                  <a:schemeClr val="tx1"/>
                </a:solidFill>
                <a:latin typeface="Times New Roman" pitchFamily="18" charset="0"/>
              </a:rPr>
              <a:t>Technical Design</a:t>
            </a:r>
            <a:endParaRPr lang="en-US" altLang="en-US" sz="1400" b="1">
              <a:solidFill>
                <a:schemeClr val="tx1"/>
              </a:solidFill>
              <a:latin typeface="Times New Roman" pitchFamily="18" charset="0"/>
            </a:endParaRPr>
          </a:p>
        </p:txBody>
      </p:sp>
      <p:sp>
        <p:nvSpPr>
          <p:cNvPr id="18438" name="Rectangle 7"/>
          <p:cNvSpPr>
            <a:spLocks noChangeArrowheads="1"/>
          </p:cNvSpPr>
          <p:nvPr/>
        </p:nvSpPr>
        <p:spPr bwMode="auto">
          <a:xfrm>
            <a:off x="4419600" y="2914650"/>
            <a:ext cx="1600200" cy="400050"/>
          </a:xfrm>
          <a:prstGeom prst="rect">
            <a:avLst/>
          </a:prstGeom>
          <a:solidFill>
            <a:srgbClr val="CCFFCC"/>
          </a:solidFill>
          <a:ln w="9525">
            <a:solidFill>
              <a:schemeClr val="tx1"/>
            </a:solidFill>
            <a:miter lim="800000"/>
            <a:headEnd/>
            <a:tailEnd/>
          </a:ln>
        </p:spPr>
        <p:txBody>
          <a:bodyPr anchor="ct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ctr">
              <a:spcBef>
                <a:spcPct val="0"/>
              </a:spcBef>
              <a:buClrTx/>
              <a:buSzTx/>
              <a:buFontTx/>
              <a:buNone/>
            </a:pPr>
            <a:r>
              <a:rPr lang="en-IE" altLang="en-US" sz="1400" b="1">
                <a:solidFill>
                  <a:schemeClr val="tx1"/>
                </a:solidFill>
                <a:latin typeface="Times New Roman" pitchFamily="18" charset="0"/>
              </a:rPr>
              <a:t>Coding</a:t>
            </a:r>
            <a:endParaRPr lang="en-US" altLang="en-US" sz="1400" b="1">
              <a:solidFill>
                <a:schemeClr val="tx1"/>
              </a:solidFill>
              <a:latin typeface="Times New Roman" pitchFamily="18" charset="0"/>
            </a:endParaRPr>
          </a:p>
        </p:txBody>
      </p:sp>
      <p:sp>
        <p:nvSpPr>
          <p:cNvPr id="18439" name="Rectangle 8"/>
          <p:cNvSpPr>
            <a:spLocks noChangeArrowheads="1"/>
          </p:cNvSpPr>
          <p:nvPr/>
        </p:nvSpPr>
        <p:spPr bwMode="auto">
          <a:xfrm>
            <a:off x="5638800" y="3429000"/>
            <a:ext cx="1600200" cy="400050"/>
          </a:xfrm>
          <a:prstGeom prst="rect">
            <a:avLst/>
          </a:prstGeom>
          <a:solidFill>
            <a:srgbClr val="CCFFFF"/>
          </a:solidFill>
          <a:ln w="9525">
            <a:solidFill>
              <a:schemeClr val="tx1"/>
            </a:solidFill>
            <a:miter lim="800000"/>
            <a:headEnd/>
            <a:tailEnd/>
          </a:ln>
        </p:spPr>
        <p:txBody>
          <a:bodyPr anchor="ct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ctr">
              <a:spcBef>
                <a:spcPct val="0"/>
              </a:spcBef>
              <a:buClrTx/>
              <a:buSzTx/>
              <a:buFontTx/>
              <a:buNone/>
            </a:pPr>
            <a:r>
              <a:rPr lang="en-IE" altLang="en-US" sz="1400" b="1">
                <a:solidFill>
                  <a:schemeClr val="tx1"/>
                </a:solidFill>
                <a:latin typeface="Times New Roman" pitchFamily="18" charset="0"/>
              </a:rPr>
              <a:t>Testing</a:t>
            </a:r>
            <a:endParaRPr lang="en-US" altLang="en-US" sz="1400" b="1">
              <a:solidFill>
                <a:schemeClr val="tx1"/>
              </a:solidFill>
              <a:latin typeface="Times New Roman" pitchFamily="18" charset="0"/>
            </a:endParaRPr>
          </a:p>
        </p:txBody>
      </p:sp>
      <p:sp>
        <p:nvSpPr>
          <p:cNvPr id="18440" name="Rectangle 9"/>
          <p:cNvSpPr>
            <a:spLocks noChangeArrowheads="1"/>
          </p:cNvSpPr>
          <p:nvPr/>
        </p:nvSpPr>
        <p:spPr bwMode="auto">
          <a:xfrm>
            <a:off x="6881813" y="3948113"/>
            <a:ext cx="1576387" cy="373062"/>
          </a:xfrm>
          <a:prstGeom prst="rect">
            <a:avLst/>
          </a:prstGeom>
          <a:solidFill>
            <a:srgbClr val="CC99FF"/>
          </a:solidFill>
          <a:ln w="9525">
            <a:solidFill>
              <a:schemeClr val="tx1"/>
            </a:solidFill>
            <a:miter lim="800000"/>
            <a:headEnd/>
            <a:tailEnd/>
          </a:ln>
        </p:spPr>
        <p:txBody>
          <a:bodyPr anchor="ct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ctr">
              <a:spcBef>
                <a:spcPct val="0"/>
              </a:spcBef>
              <a:buClrTx/>
              <a:buSzTx/>
              <a:buFontTx/>
              <a:buNone/>
            </a:pPr>
            <a:r>
              <a:rPr lang="en-IE" altLang="en-US" sz="1400" b="1">
                <a:solidFill>
                  <a:schemeClr val="tx1"/>
                </a:solidFill>
                <a:latin typeface="Times New Roman" pitchFamily="18" charset="0"/>
              </a:rPr>
              <a:t>Deployment</a:t>
            </a:r>
            <a:endParaRPr lang="en-US" altLang="en-US" sz="1400" b="1">
              <a:solidFill>
                <a:schemeClr val="tx1"/>
              </a:solidFill>
              <a:latin typeface="Times New Roman" pitchFamily="18" charset="0"/>
            </a:endParaRPr>
          </a:p>
        </p:txBody>
      </p:sp>
      <p:sp>
        <p:nvSpPr>
          <p:cNvPr id="18441" name="Freeform 32"/>
          <p:cNvSpPr>
            <a:spLocks/>
          </p:cNvSpPr>
          <p:nvPr/>
        </p:nvSpPr>
        <p:spPr bwMode="auto">
          <a:xfrm rot="10800000">
            <a:off x="1524000" y="1771650"/>
            <a:ext cx="457200" cy="342900"/>
          </a:xfrm>
          <a:custGeom>
            <a:avLst/>
            <a:gdLst>
              <a:gd name="T0" fmla="*/ 0 w 432"/>
              <a:gd name="T1" fmla="*/ 0 h 288"/>
              <a:gd name="T2" fmla="*/ 2147483647 w 432"/>
              <a:gd name="T3" fmla="*/ 2147483647 h 288"/>
              <a:gd name="T4" fmla="*/ 2147483647 w 432"/>
              <a:gd name="T5" fmla="*/ 2147483647 h 288"/>
              <a:gd name="T6" fmla="*/ 2147483647 w 432"/>
              <a:gd name="T7" fmla="*/ 2147483647 h 288"/>
              <a:gd name="T8" fmla="*/ 0 60000 65536"/>
              <a:gd name="T9" fmla="*/ 0 60000 65536"/>
              <a:gd name="T10" fmla="*/ 0 60000 65536"/>
              <a:gd name="T11" fmla="*/ 0 60000 65536"/>
              <a:gd name="T12" fmla="*/ 0 w 432"/>
              <a:gd name="T13" fmla="*/ 0 h 288"/>
              <a:gd name="T14" fmla="*/ 432 w 432"/>
              <a:gd name="T15" fmla="*/ 288 h 288"/>
            </a:gdLst>
            <a:ahLst/>
            <a:cxnLst>
              <a:cxn ang="T8">
                <a:pos x="T0" y="T1"/>
              </a:cxn>
              <a:cxn ang="T9">
                <a:pos x="T2" y="T3"/>
              </a:cxn>
              <a:cxn ang="T10">
                <a:pos x="T4" y="T5"/>
              </a:cxn>
              <a:cxn ang="T11">
                <a:pos x="T6" y="T7"/>
              </a:cxn>
            </a:cxnLst>
            <a:rect l="T12" t="T13" r="T14" b="T15"/>
            <a:pathLst>
              <a:path w="432" h="288">
                <a:moveTo>
                  <a:pt x="0" y="0"/>
                </a:moveTo>
                <a:cubicBezTo>
                  <a:pt x="68" y="12"/>
                  <a:pt x="136" y="24"/>
                  <a:pt x="192" y="48"/>
                </a:cubicBezTo>
                <a:cubicBezTo>
                  <a:pt x="248" y="72"/>
                  <a:pt x="296" y="104"/>
                  <a:pt x="336" y="144"/>
                </a:cubicBezTo>
                <a:cubicBezTo>
                  <a:pt x="376" y="184"/>
                  <a:pt x="404" y="236"/>
                  <a:pt x="432" y="288"/>
                </a:cubicBezTo>
              </a:path>
            </a:pathLst>
          </a:custGeom>
          <a:noFill/>
          <a:ln w="381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2" name="Freeform 33"/>
          <p:cNvSpPr>
            <a:spLocks/>
          </p:cNvSpPr>
          <p:nvPr/>
        </p:nvSpPr>
        <p:spPr bwMode="auto">
          <a:xfrm rot="10800000">
            <a:off x="2743200" y="2286000"/>
            <a:ext cx="457200" cy="342900"/>
          </a:xfrm>
          <a:custGeom>
            <a:avLst/>
            <a:gdLst>
              <a:gd name="T0" fmla="*/ 0 w 432"/>
              <a:gd name="T1" fmla="*/ 0 h 288"/>
              <a:gd name="T2" fmla="*/ 2147483647 w 432"/>
              <a:gd name="T3" fmla="*/ 2147483647 h 288"/>
              <a:gd name="T4" fmla="*/ 2147483647 w 432"/>
              <a:gd name="T5" fmla="*/ 2147483647 h 288"/>
              <a:gd name="T6" fmla="*/ 2147483647 w 432"/>
              <a:gd name="T7" fmla="*/ 2147483647 h 288"/>
              <a:gd name="T8" fmla="*/ 0 60000 65536"/>
              <a:gd name="T9" fmla="*/ 0 60000 65536"/>
              <a:gd name="T10" fmla="*/ 0 60000 65536"/>
              <a:gd name="T11" fmla="*/ 0 60000 65536"/>
              <a:gd name="T12" fmla="*/ 0 w 432"/>
              <a:gd name="T13" fmla="*/ 0 h 288"/>
              <a:gd name="T14" fmla="*/ 432 w 432"/>
              <a:gd name="T15" fmla="*/ 288 h 288"/>
            </a:gdLst>
            <a:ahLst/>
            <a:cxnLst>
              <a:cxn ang="T8">
                <a:pos x="T0" y="T1"/>
              </a:cxn>
              <a:cxn ang="T9">
                <a:pos x="T2" y="T3"/>
              </a:cxn>
              <a:cxn ang="T10">
                <a:pos x="T4" y="T5"/>
              </a:cxn>
              <a:cxn ang="T11">
                <a:pos x="T6" y="T7"/>
              </a:cxn>
            </a:cxnLst>
            <a:rect l="T12" t="T13" r="T14" b="T15"/>
            <a:pathLst>
              <a:path w="432" h="288">
                <a:moveTo>
                  <a:pt x="0" y="0"/>
                </a:moveTo>
                <a:cubicBezTo>
                  <a:pt x="68" y="12"/>
                  <a:pt x="136" y="24"/>
                  <a:pt x="192" y="48"/>
                </a:cubicBezTo>
                <a:cubicBezTo>
                  <a:pt x="248" y="72"/>
                  <a:pt x="296" y="104"/>
                  <a:pt x="336" y="144"/>
                </a:cubicBezTo>
                <a:cubicBezTo>
                  <a:pt x="376" y="184"/>
                  <a:pt x="404" y="236"/>
                  <a:pt x="432" y="288"/>
                </a:cubicBezTo>
              </a:path>
            </a:pathLst>
          </a:custGeom>
          <a:noFill/>
          <a:ln w="381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3" name="Freeform 34"/>
          <p:cNvSpPr>
            <a:spLocks/>
          </p:cNvSpPr>
          <p:nvPr/>
        </p:nvSpPr>
        <p:spPr bwMode="auto">
          <a:xfrm rot="10800000">
            <a:off x="3962400" y="2800350"/>
            <a:ext cx="457200" cy="342900"/>
          </a:xfrm>
          <a:custGeom>
            <a:avLst/>
            <a:gdLst>
              <a:gd name="T0" fmla="*/ 0 w 432"/>
              <a:gd name="T1" fmla="*/ 0 h 288"/>
              <a:gd name="T2" fmla="*/ 2147483647 w 432"/>
              <a:gd name="T3" fmla="*/ 2147483647 h 288"/>
              <a:gd name="T4" fmla="*/ 2147483647 w 432"/>
              <a:gd name="T5" fmla="*/ 2147483647 h 288"/>
              <a:gd name="T6" fmla="*/ 2147483647 w 432"/>
              <a:gd name="T7" fmla="*/ 2147483647 h 288"/>
              <a:gd name="T8" fmla="*/ 0 60000 65536"/>
              <a:gd name="T9" fmla="*/ 0 60000 65536"/>
              <a:gd name="T10" fmla="*/ 0 60000 65536"/>
              <a:gd name="T11" fmla="*/ 0 60000 65536"/>
              <a:gd name="T12" fmla="*/ 0 w 432"/>
              <a:gd name="T13" fmla="*/ 0 h 288"/>
              <a:gd name="T14" fmla="*/ 432 w 432"/>
              <a:gd name="T15" fmla="*/ 288 h 288"/>
            </a:gdLst>
            <a:ahLst/>
            <a:cxnLst>
              <a:cxn ang="T8">
                <a:pos x="T0" y="T1"/>
              </a:cxn>
              <a:cxn ang="T9">
                <a:pos x="T2" y="T3"/>
              </a:cxn>
              <a:cxn ang="T10">
                <a:pos x="T4" y="T5"/>
              </a:cxn>
              <a:cxn ang="T11">
                <a:pos x="T6" y="T7"/>
              </a:cxn>
            </a:cxnLst>
            <a:rect l="T12" t="T13" r="T14" b="T15"/>
            <a:pathLst>
              <a:path w="432" h="288">
                <a:moveTo>
                  <a:pt x="0" y="0"/>
                </a:moveTo>
                <a:cubicBezTo>
                  <a:pt x="68" y="12"/>
                  <a:pt x="136" y="24"/>
                  <a:pt x="192" y="48"/>
                </a:cubicBezTo>
                <a:cubicBezTo>
                  <a:pt x="248" y="72"/>
                  <a:pt x="296" y="104"/>
                  <a:pt x="336" y="144"/>
                </a:cubicBezTo>
                <a:cubicBezTo>
                  <a:pt x="376" y="184"/>
                  <a:pt x="404" y="236"/>
                  <a:pt x="432" y="288"/>
                </a:cubicBezTo>
              </a:path>
            </a:pathLst>
          </a:custGeom>
          <a:noFill/>
          <a:ln w="381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4" name="Freeform 35"/>
          <p:cNvSpPr>
            <a:spLocks/>
          </p:cNvSpPr>
          <p:nvPr/>
        </p:nvSpPr>
        <p:spPr bwMode="auto">
          <a:xfrm rot="10800000">
            <a:off x="5181600" y="3314700"/>
            <a:ext cx="457200" cy="342900"/>
          </a:xfrm>
          <a:custGeom>
            <a:avLst/>
            <a:gdLst>
              <a:gd name="T0" fmla="*/ 0 w 432"/>
              <a:gd name="T1" fmla="*/ 0 h 288"/>
              <a:gd name="T2" fmla="*/ 2147483647 w 432"/>
              <a:gd name="T3" fmla="*/ 2147483647 h 288"/>
              <a:gd name="T4" fmla="*/ 2147483647 w 432"/>
              <a:gd name="T5" fmla="*/ 2147483647 h 288"/>
              <a:gd name="T6" fmla="*/ 2147483647 w 432"/>
              <a:gd name="T7" fmla="*/ 2147483647 h 288"/>
              <a:gd name="T8" fmla="*/ 0 60000 65536"/>
              <a:gd name="T9" fmla="*/ 0 60000 65536"/>
              <a:gd name="T10" fmla="*/ 0 60000 65536"/>
              <a:gd name="T11" fmla="*/ 0 60000 65536"/>
              <a:gd name="T12" fmla="*/ 0 w 432"/>
              <a:gd name="T13" fmla="*/ 0 h 288"/>
              <a:gd name="T14" fmla="*/ 432 w 432"/>
              <a:gd name="T15" fmla="*/ 288 h 288"/>
            </a:gdLst>
            <a:ahLst/>
            <a:cxnLst>
              <a:cxn ang="T8">
                <a:pos x="T0" y="T1"/>
              </a:cxn>
              <a:cxn ang="T9">
                <a:pos x="T2" y="T3"/>
              </a:cxn>
              <a:cxn ang="T10">
                <a:pos x="T4" y="T5"/>
              </a:cxn>
              <a:cxn ang="T11">
                <a:pos x="T6" y="T7"/>
              </a:cxn>
            </a:cxnLst>
            <a:rect l="T12" t="T13" r="T14" b="T15"/>
            <a:pathLst>
              <a:path w="432" h="288">
                <a:moveTo>
                  <a:pt x="0" y="0"/>
                </a:moveTo>
                <a:cubicBezTo>
                  <a:pt x="68" y="12"/>
                  <a:pt x="136" y="24"/>
                  <a:pt x="192" y="48"/>
                </a:cubicBezTo>
                <a:cubicBezTo>
                  <a:pt x="248" y="72"/>
                  <a:pt x="296" y="104"/>
                  <a:pt x="336" y="144"/>
                </a:cubicBezTo>
                <a:cubicBezTo>
                  <a:pt x="376" y="184"/>
                  <a:pt x="404" y="236"/>
                  <a:pt x="432" y="288"/>
                </a:cubicBezTo>
              </a:path>
            </a:pathLst>
          </a:custGeom>
          <a:noFill/>
          <a:ln w="381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5" name="Freeform 36"/>
          <p:cNvSpPr>
            <a:spLocks/>
          </p:cNvSpPr>
          <p:nvPr/>
        </p:nvSpPr>
        <p:spPr bwMode="auto">
          <a:xfrm rot="10800000">
            <a:off x="6400800" y="3829050"/>
            <a:ext cx="457200" cy="342900"/>
          </a:xfrm>
          <a:custGeom>
            <a:avLst/>
            <a:gdLst>
              <a:gd name="T0" fmla="*/ 0 w 432"/>
              <a:gd name="T1" fmla="*/ 0 h 288"/>
              <a:gd name="T2" fmla="*/ 2147483647 w 432"/>
              <a:gd name="T3" fmla="*/ 2147483647 h 288"/>
              <a:gd name="T4" fmla="*/ 2147483647 w 432"/>
              <a:gd name="T5" fmla="*/ 2147483647 h 288"/>
              <a:gd name="T6" fmla="*/ 2147483647 w 432"/>
              <a:gd name="T7" fmla="*/ 2147483647 h 288"/>
              <a:gd name="T8" fmla="*/ 0 60000 65536"/>
              <a:gd name="T9" fmla="*/ 0 60000 65536"/>
              <a:gd name="T10" fmla="*/ 0 60000 65536"/>
              <a:gd name="T11" fmla="*/ 0 60000 65536"/>
              <a:gd name="T12" fmla="*/ 0 w 432"/>
              <a:gd name="T13" fmla="*/ 0 h 288"/>
              <a:gd name="T14" fmla="*/ 432 w 432"/>
              <a:gd name="T15" fmla="*/ 288 h 288"/>
            </a:gdLst>
            <a:ahLst/>
            <a:cxnLst>
              <a:cxn ang="T8">
                <a:pos x="T0" y="T1"/>
              </a:cxn>
              <a:cxn ang="T9">
                <a:pos x="T2" y="T3"/>
              </a:cxn>
              <a:cxn ang="T10">
                <a:pos x="T4" y="T5"/>
              </a:cxn>
              <a:cxn ang="T11">
                <a:pos x="T6" y="T7"/>
              </a:cxn>
            </a:cxnLst>
            <a:rect l="T12" t="T13" r="T14" b="T15"/>
            <a:pathLst>
              <a:path w="432" h="288">
                <a:moveTo>
                  <a:pt x="0" y="0"/>
                </a:moveTo>
                <a:cubicBezTo>
                  <a:pt x="68" y="12"/>
                  <a:pt x="136" y="24"/>
                  <a:pt x="192" y="48"/>
                </a:cubicBezTo>
                <a:cubicBezTo>
                  <a:pt x="248" y="72"/>
                  <a:pt x="296" y="104"/>
                  <a:pt x="336" y="144"/>
                </a:cubicBezTo>
                <a:cubicBezTo>
                  <a:pt x="376" y="184"/>
                  <a:pt x="404" y="236"/>
                  <a:pt x="432" y="288"/>
                </a:cubicBezTo>
              </a:path>
            </a:pathLst>
          </a:custGeom>
          <a:noFill/>
          <a:ln w="381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6" name="Text Box 39"/>
          <p:cNvSpPr txBox="1">
            <a:spLocks noChangeArrowheads="1"/>
          </p:cNvSpPr>
          <p:nvPr/>
        </p:nvSpPr>
        <p:spPr bwMode="auto">
          <a:xfrm>
            <a:off x="1023938" y="1919288"/>
            <a:ext cx="7334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ctr" eaLnBrk="1" hangingPunct="1">
              <a:spcBef>
                <a:spcPct val="0"/>
              </a:spcBef>
              <a:buClrTx/>
              <a:buSzTx/>
              <a:buFontTx/>
              <a:buNone/>
            </a:pPr>
            <a:r>
              <a:rPr lang="en-US" altLang="en-US" sz="1600" b="1" i="1">
                <a:solidFill>
                  <a:schemeClr val="tx1"/>
                </a:solidFill>
                <a:latin typeface="Arial" pitchFamily="34" charset="0"/>
              </a:rPr>
              <a:t>verify</a:t>
            </a:r>
          </a:p>
        </p:txBody>
      </p:sp>
      <p:sp>
        <p:nvSpPr>
          <p:cNvPr id="18447" name="AutoShape 41"/>
          <p:cNvSpPr>
            <a:spLocks noChangeArrowheads="1"/>
          </p:cNvSpPr>
          <p:nvPr/>
        </p:nvSpPr>
        <p:spPr bwMode="auto">
          <a:xfrm rot="5400000">
            <a:off x="2457450" y="1447800"/>
            <a:ext cx="342900" cy="5334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gradFill rotWithShape="1">
            <a:gsLst>
              <a:gs pos="0">
                <a:srgbClr val="0066FF"/>
              </a:gs>
              <a:gs pos="100000">
                <a:srgbClr val="99CCFF"/>
              </a:gs>
            </a:gsLst>
            <a:lin ang="5400000" scaled="1"/>
          </a:gradFill>
          <a:ln w="9525" algn="ctr">
            <a:solidFill>
              <a:schemeClr val="tx1"/>
            </a:solidFill>
            <a:miter lim="800000"/>
            <a:headEnd/>
            <a:tailEnd/>
          </a:ln>
        </p:spPr>
        <p:txBody>
          <a:bodyPr wrap="none" anchor="ctr"/>
          <a:lstStyle/>
          <a:p>
            <a:endParaRPr lang="en-US"/>
          </a:p>
        </p:txBody>
      </p:sp>
      <p:sp>
        <p:nvSpPr>
          <p:cNvPr id="18448" name="AutoShape 42"/>
          <p:cNvSpPr>
            <a:spLocks noChangeArrowheads="1"/>
          </p:cNvSpPr>
          <p:nvPr/>
        </p:nvSpPr>
        <p:spPr bwMode="auto">
          <a:xfrm rot="5400000">
            <a:off x="3676650" y="1962150"/>
            <a:ext cx="342900" cy="5334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gradFill rotWithShape="1">
            <a:gsLst>
              <a:gs pos="0">
                <a:srgbClr val="0066FF"/>
              </a:gs>
              <a:gs pos="100000">
                <a:srgbClr val="99CCFF"/>
              </a:gs>
            </a:gsLst>
            <a:lin ang="5400000" scaled="1"/>
          </a:gradFill>
          <a:ln w="9525" algn="ctr">
            <a:solidFill>
              <a:schemeClr val="tx1"/>
            </a:solidFill>
            <a:miter lim="800000"/>
            <a:headEnd/>
            <a:tailEnd/>
          </a:ln>
        </p:spPr>
        <p:txBody>
          <a:bodyPr wrap="none" anchor="ctr"/>
          <a:lstStyle/>
          <a:p>
            <a:endParaRPr lang="en-US"/>
          </a:p>
        </p:txBody>
      </p:sp>
      <p:sp>
        <p:nvSpPr>
          <p:cNvPr id="18449" name="AutoShape 43"/>
          <p:cNvSpPr>
            <a:spLocks noChangeArrowheads="1"/>
          </p:cNvSpPr>
          <p:nvPr/>
        </p:nvSpPr>
        <p:spPr bwMode="auto">
          <a:xfrm rot="5400000">
            <a:off x="4895850" y="2476500"/>
            <a:ext cx="342900" cy="5334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gradFill rotWithShape="1">
            <a:gsLst>
              <a:gs pos="0">
                <a:srgbClr val="0066FF"/>
              </a:gs>
              <a:gs pos="100000">
                <a:srgbClr val="99CCFF"/>
              </a:gs>
            </a:gsLst>
            <a:lin ang="5400000" scaled="1"/>
          </a:gradFill>
          <a:ln w="9525" algn="ctr">
            <a:solidFill>
              <a:schemeClr val="tx1"/>
            </a:solidFill>
            <a:miter lim="800000"/>
            <a:headEnd/>
            <a:tailEnd/>
          </a:ln>
        </p:spPr>
        <p:txBody>
          <a:bodyPr wrap="none" anchor="ctr"/>
          <a:lstStyle/>
          <a:p>
            <a:endParaRPr lang="en-US"/>
          </a:p>
        </p:txBody>
      </p:sp>
      <p:sp>
        <p:nvSpPr>
          <p:cNvPr id="18450" name="AutoShape 44"/>
          <p:cNvSpPr>
            <a:spLocks noChangeArrowheads="1"/>
          </p:cNvSpPr>
          <p:nvPr/>
        </p:nvSpPr>
        <p:spPr bwMode="auto">
          <a:xfrm rot="5400000">
            <a:off x="6115050" y="2990850"/>
            <a:ext cx="342900" cy="5334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gradFill rotWithShape="1">
            <a:gsLst>
              <a:gs pos="0">
                <a:srgbClr val="0066FF"/>
              </a:gs>
              <a:gs pos="100000">
                <a:srgbClr val="99CCFF"/>
              </a:gs>
            </a:gsLst>
            <a:lin ang="5400000" scaled="1"/>
          </a:gradFill>
          <a:ln w="9525" algn="ctr">
            <a:solidFill>
              <a:schemeClr val="tx1"/>
            </a:solidFill>
            <a:miter lim="800000"/>
            <a:headEnd/>
            <a:tailEnd/>
          </a:ln>
        </p:spPr>
        <p:txBody>
          <a:bodyPr wrap="none" anchor="ctr"/>
          <a:lstStyle/>
          <a:p>
            <a:endParaRPr lang="en-US"/>
          </a:p>
        </p:txBody>
      </p:sp>
      <p:sp>
        <p:nvSpPr>
          <p:cNvPr id="18451" name="AutoShape 45"/>
          <p:cNvSpPr>
            <a:spLocks noChangeArrowheads="1"/>
          </p:cNvSpPr>
          <p:nvPr/>
        </p:nvSpPr>
        <p:spPr bwMode="auto">
          <a:xfrm rot="5400000">
            <a:off x="7334250" y="3505200"/>
            <a:ext cx="342900" cy="5334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gradFill rotWithShape="1">
            <a:gsLst>
              <a:gs pos="0">
                <a:srgbClr val="0066FF"/>
              </a:gs>
              <a:gs pos="100000">
                <a:srgbClr val="99CCFF"/>
              </a:gs>
            </a:gsLst>
            <a:lin ang="5400000" scaled="1"/>
          </a:gradFill>
          <a:ln w="9525" algn="ctr">
            <a:solidFill>
              <a:schemeClr val="tx1"/>
            </a:solidFill>
            <a:miter lim="800000"/>
            <a:headEnd/>
            <a:tailEnd/>
          </a:ln>
        </p:spPr>
        <p:txBody>
          <a:bodyPr wrap="none" anchor="ctr"/>
          <a:lstStyle/>
          <a:p>
            <a:endParaRPr lang="en-US"/>
          </a:p>
        </p:txBody>
      </p:sp>
      <p:sp>
        <p:nvSpPr>
          <p:cNvPr id="18452" name="Text Box 46"/>
          <p:cNvSpPr txBox="1">
            <a:spLocks noChangeArrowheads="1"/>
          </p:cNvSpPr>
          <p:nvPr/>
        </p:nvSpPr>
        <p:spPr bwMode="auto">
          <a:xfrm>
            <a:off x="2243138" y="2433638"/>
            <a:ext cx="7334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ctr" eaLnBrk="1" hangingPunct="1">
              <a:spcBef>
                <a:spcPct val="0"/>
              </a:spcBef>
              <a:buClrTx/>
              <a:buSzTx/>
              <a:buFontTx/>
              <a:buNone/>
            </a:pPr>
            <a:r>
              <a:rPr lang="en-US" altLang="en-US" sz="1600" b="1" i="1">
                <a:solidFill>
                  <a:schemeClr val="tx1"/>
                </a:solidFill>
                <a:latin typeface="Arial" pitchFamily="34" charset="0"/>
              </a:rPr>
              <a:t>verify</a:t>
            </a:r>
          </a:p>
        </p:txBody>
      </p:sp>
      <p:sp>
        <p:nvSpPr>
          <p:cNvPr id="18453" name="Text Box 47"/>
          <p:cNvSpPr txBox="1">
            <a:spLocks noChangeArrowheads="1"/>
          </p:cNvSpPr>
          <p:nvPr/>
        </p:nvSpPr>
        <p:spPr bwMode="auto">
          <a:xfrm>
            <a:off x="3386138" y="2947988"/>
            <a:ext cx="7334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ctr" eaLnBrk="1" hangingPunct="1">
              <a:spcBef>
                <a:spcPct val="0"/>
              </a:spcBef>
              <a:buClrTx/>
              <a:buSzTx/>
              <a:buFontTx/>
              <a:buNone/>
            </a:pPr>
            <a:r>
              <a:rPr lang="en-US" altLang="en-US" sz="1600" b="1" i="1">
                <a:solidFill>
                  <a:schemeClr val="tx1"/>
                </a:solidFill>
                <a:latin typeface="Arial" pitchFamily="34" charset="0"/>
              </a:rPr>
              <a:t>verify</a:t>
            </a:r>
          </a:p>
        </p:txBody>
      </p:sp>
      <p:sp>
        <p:nvSpPr>
          <p:cNvPr id="18454" name="Text Box 48"/>
          <p:cNvSpPr txBox="1">
            <a:spLocks noChangeArrowheads="1"/>
          </p:cNvSpPr>
          <p:nvPr/>
        </p:nvSpPr>
        <p:spPr bwMode="auto">
          <a:xfrm>
            <a:off x="4605338" y="3462338"/>
            <a:ext cx="7334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ctr" eaLnBrk="1" hangingPunct="1">
              <a:spcBef>
                <a:spcPct val="0"/>
              </a:spcBef>
              <a:buClrTx/>
              <a:buSzTx/>
              <a:buFontTx/>
              <a:buNone/>
            </a:pPr>
            <a:r>
              <a:rPr lang="en-US" altLang="en-US" sz="1600" b="1" i="1">
                <a:solidFill>
                  <a:schemeClr val="tx1"/>
                </a:solidFill>
                <a:latin typeface="Arial" pitchFamily="34" charset="0"/>
              </a:rPr>
              <a:t>verify</a:t>
            </a:r>
          </a:p>
        </p:txBody>
      </p:sp>
      <p:sp>
        <p:nvSpPr>
          <p:cNvPr id="18455" name="Text Box 49"/>
          <p:cNvSpPr txBox="1">
            <a:spLocks noChangeArrowheads="1"/>
          </p:cNvSpPr>
          <p:nvPr/>
        </p:nvSpPr>
        <p:spPr bwMode="auto">
          <a:xfrm>
            <a:off x="5864225" y="4000500"/>
            <a:ext cx="7334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ctr" eaLnBrk="1" hangingPunct="1">
              <a:spcBef>
                <a:spcPct val="0"/>
              </a:spcBef>
              <a:buClrTx/>
              <a:buSzTx/>
              <a:buFontTx/>
              <a:buNone/>
            </a:pPr>
            <a:r>
              <a:rPr lang="en-US" altLang="en-US" sz="1600" b="1" i="1">
                <a:solidFill>
                  <a:schemeClr val="tx1"/>
                </a:solidFill>
                <a:latin typeface="Arial" pitchFamily="34" charset="0"/>
              </a:rPr>
              <a:t>verify</a:t>
            </a:r>
          </a:p>
        </p:txBody>
      </p:sp>
      <p:sp>
        <p:nvSpPr>
          <p:cNvPr id="27" name="Rectangle 3"/>
          <p:cNvSpPr>
            <a:spLocks noGrp="1" noChangeArrowheads="1"/>
          </p:cNvSpPr>
          <p:nvPr>
            <p:ph idx="1"/>
          </p:nvPr>
        </p:nvSpPr>
        <p:spPr>
          <a:xfrm>
            <a:off x="76200" y="2800350"/>
            <a:ext cx="3414713" cy="1885950"/>
          </a:xfrm>
        </p:spPr>
        <p:txBody>
          <a:bodyPr rtlCol="0">
            <a:normAutofit fontScale="92500"/>
          </a:bodyPr>
          <a:lstStyle/>
          <a:p>
            <a:pPr eaLnBrk="1" fontAlgn="auto" hangingPunct="1">
              <a:spcBef>
                <a:spcPct val="10000"/>
              </a:spcBef>
              <a:spcAft>
                <a:spcPct val="10000"/>
              </a:spcAft>
              <a:buFont typeface="Wingdings 3" charset="2"/>
              <a:buChar char=""/>
              <a:defRPr/>
            </a:pPr>
            <a:r>
              <a:rPr lang="en-US" altLang="en-US" sz="1600">
                <a:solidFill>
                  <a:schemeClr val="tx1"/>
                </a:solidFill>
                <a:latin typeface="Arial" charset="0"/>
                <a:cs typeface="Arial" charset="0"/>
              </a:rPr>
              <a:t>The Waterfall model is a sequential software development model.</a:t>
            </a:r>
          </a:p>
          <a:p>
            <a:pPr eaLnBrk="1" fontAlgn="auto" hangingPunct="1">
              <a:spcBef>
                <a:spcPct val="10000"/>
              </a:spcBef>
              <a:spcAft>
                <a:spcPct val="10000"/>
              </a:spcAft>
              <a:buFont typeface="Wingdings 3" charset="2"/>
              <a:buChar char=""/>
              <a:defRPr/>
            </a:pPr>
            <a:r>
              <a:rPr lang="en-US" altLang="en-US" sz="1600">
                <a:solidFill>
                  <a:schemeClr val="tx1"/>
                </a:solidFill>
                <a:latin typeface="Arial" charset="0"/>
                <a:cs typeface="Arial" charset="0"/>
              </a:rPr>
              <a:t>Transition between phases is done by a formal review.</a:t>
            </a:r>
          </a:p>
          <a:p>
            <a:pPr eaLnBrk="1" fontAlgn="auto" hangingPunct="1">
              <a:spcBef>
                <a:spcPct val="10000"/>
              </a:spcBef>
              <a:spcAft>
                <a:spcPct val="10000"/>
              </a:spcAft>
              <a:buFont typeface="Wingdings 3" charset="2"/>
              <a:buChar char=""/>
              <a:defRPr/>
            </a:pPr>
            <a:r>
              <a:rPr lang="en-US" altLang="en-US" sz="1600">
                <a:solidFill>
                  <a:schemeClr val="tx1"/>
                </a:solidFill>
                <a:latin typeface="Arial" charset="0"/>
                <a:cs typeface="Arial" charset="0"/>
              </a:rPr>
              <a:t>The review is a checkpoint to see that you are on the right track.</a:t>
            </a:r>
          </a:p>
        </p:txBody>
      </p:sp>
      <p:sp>
        <p:nvSpPr>
          <p:cNvPr id="18457"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F9D01A98-AEB0-4945-ACB3-AA2CA346E70F}" type="slidenum">
              <a:rPr lang="en-US" altLang="en-US" sz="1200">
                <a:solidFill>
                  <a:srgbClr val="A6A6A6"/>
                </a:solidFill>
              </a:rPr>
              <a:pPr algn="r" eaLnBrk="1" hangingPunct="1">
                <a:spcBef>
                  <a:spcPct val="0"/>
                </a:spcBef>
                <a:buClrTx/>
                <a:buSzTx/>
                <a:buFontTx/>
                <a:buNone/>
              </a:pPr>
              <a:t>9</a:t>
            </a:fld>
            <a:endParaRPr lang="en-US" altLang="en-US" sz="1200">
              <a:solidFill>
                <a:srgbClr val="A6A6A6"/>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bwMode="auto">
          <a:xfrm>
            <a:off x="19050" y="228600"/>
            <a:ext cx="8229600" cy="457200"/>
          </a:xfrm>
        </p:spPr>
        <p:txBody>
          <a:bodyPr anchor="t"/>
          <a:lstStyle/>
          <a:p>
            <a:pPr eaLnBrk="1" hangingPunct="1"/>
            <a:r>
              <a:rPr lang="en-US" altLang="en-US" sz="3200">
                <a:latin typeface="Open Sans"/>
                <a:ea typeface="Open Sans"/>
                <a:cs typeface="Open Sans"/>
              </a:rPr>
              <a:t>   Testing in Waterfall Model</a:t>
            </a:r>
          </a:p>
        </p:txBody>
      </p:sp>
      <p:sp>
        <p:nvSpPr>
          <p:cNvPr id="19459" name="Rectangle 3"/>
          <p:cNvSpPr>
            <a:spLocks noGrp="1" noChangeArrowheads="1"/>
          </p:cNvSpPr>
          <p:nvPr>
            <p:ph idx="1"/>
          </p:nvPr>
        </p:nvSpPr>
        <p:spPr>
          <a:xfrm>
            <a:off x="838200" y="1120775"/>
            <a:ext cx="7848600" cy="3108325"/>
          </a:xfrm>
        </p:spPr>
        <p:txBody>
          <a:bodyPr/>
          <a:lstStyle/>
          <a:p>
            <a:pPr marL="342900" lvl="2" indent="-342900" algn="just" eaLnBrk="1" hangingPunct="1">
              <a:spcBef>
                <a:spcPts val="600"/>
              </a:spcBef>
              <a:spcAft>
                <a:spcPts val="600"/>
              </a:spcAft>
            </a:pPr>
            <a:r>
              <a:rPr lang="en-GB" altLang="en-US" sz="1800">
                <a:solidFill>
                  <a:schemeClr val="tx1"/>
                </a:solidFill>
                <a:latin typeface="Arial" pitchFamily="34" charset="0"/>
                <a:cs typeface="Arial" pitchFamily="34" charset="0"/>
              </a:rPr>
              <a:t>Testing is not inherent to every phase of the Waterfall model.</a:t>
            </a:r>
            <a:endParaRPr lang="en-US" altLang="en-US" sz="1800">
              <a:solidFill>
                <a:schemeClr val="tx1"/>
              </a:solidFill>
              <a:latin typeface="Arial" pitchFamily="34" charset="0"/>
              <a:cs typeface="Arial" pitchFamily="34" charset="0"/>
            </a:endParaRPr>
          </a:p>
          <a:p>
            <a:pPr marL="342900" lvl="2" indent="-342900" algn="just" eaLnBrk="1" hangingPunct="1">
              <a:spcBef>
                <a:spcPts val="600"/>
              </a:spcBef>
              <a:spcAft>
                <a:spcPts val="600"/>
              </a:spcAft>
            </a:pPr>
            <a:r>
              <a:rPr lang="en-US" altLang="en-US" sz="1800">
                <a:solidFill>
                  <a:schemeClr val="tx1"/>
                </a:solidFill>
                <a:latin typeface="Arial" pitchFamily="34" charset="0"/>
                <a:cs typeface="Arial" pitchFamily="34" charset="0"/>
              </a:rPr>
              <a:t>Constant testing from the design, implementation and verification phases is required to validate the phases preceding them.</a:t>
            </a:r>
          </a:p>
          <a:p>
            <a:pPr marL="342900" lvl="2" indent="-342900" algn="just" eaLnBrk="1" hangingPunct="1">
              <a:spcBef>
                <a:spcPts val="600"/>
              </a:spcBef>
              <a:spcAft>
                <a:spcPts val="600"/>
              </a:spcAft>
            </a:pPr>
            <a:r>
              <a:rPr lang="en-US" altLang="en-US" sz="1800">
                <a:solidFill>
                  <a:schemeClr val="tx1"/>
                </a:solidFill>
                <a:latin typeface="Arial" pitchFamily="34" charset="0"/>
                <a:cs typeface="Arial" pitchFamily="34" charset="0"/>
              </a:rPr>
              <a:t>Testing phase: Only after coding phase, software testing begins. Different testing methods are available to detect the bugs that were committed during the previous phases. A number of testing tools and methods are already available for testing purposes. </a:t>
            </a:r>
          </a:p>
        </p:txBody>
      </p:sp>
      <p:sp>
        <p:nvSpPr>
          <p:cNvPr id="19460"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DCDEB630-CB49-4E07-AF67-F48CAFAD992B}" type="slidenum">
              <a:rPr lang="en-US" altLang="en-US" sz="1200">
                <a:solidFill>
                  <a:srgbClr val="A6A6A6"/>
                </a:solidFill>
              </a:rPr>
              <a:pPr algn="r" eaLnBrk="1" hangingPunct="1">
                <a:spcBef>
                  <a:spcPct val="0"/>
                </a:spcBef>
                <a:buClrTx/>
                <a:buSzTx/>
                <a:buFontTx/>
                <a:buNone/>
              </a:pPr>
              <a:t>10</a:t>
            </a:fld>
            <a:endParaRPr lang="en-US" altLang="en-US" sz="1200">
              <a:solidFill>
                <a:srgbClr val="A6A6A6"/>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bwMode="auto">
          <a:xfrm>
            <a:off x="0" y="171450"/>
            <a:ext cx="8229600" cy="531813"/>
          </a:xfrm>
        </p:spPr>
        <p:txBody>
          <a:bodyPr anchor="t"/>
          <a:lstStyle/>
          <a:p>
            <a:pPr eaLnBrk="1" hangingPunct="1"/>
            <a:r>
              <a:rPr lang="en-US" altLang="en-US" sz="3200">
                <a:latin typeface="Open Sans"/>
                <a:ea typeface="Open Sans"/>
                <a:cs typeface="Open Sans"/>
              </a:rPr>
              <a:t>   SDLC and Testing</a:t>
            </a:r>
          </a:p>
        </p:txBody>
      </p:sp>
      <p:sp>
        <p:nvSpPr>
          <p:cNvPr id="20483" name="Rectangle 3"/>
          <p:cNvSpPr>
            <a:spLocks noGrp="1" noChangeArrowheads="1"/>
          </p:cNvSpPr>
          <p:nvPr>
            <p:ph idx="1"/>
          </p:nvPr>
        </p:nvSpPr>
        <p:spPr>
          <a:xfrm>
            <a:off x="838200" y="1200150"/>
            <a:ext cx="8001000" cy="3394075"/>
          </a:xfrm>
        </p:spPr>
        <p:txBody>
          <a:bodyPr/>
          <a:lstStyle/>
          <a:p>
            <a:pPr eaLnBrk="1" hangingPunct="1">
              <a:lnSpc>
                <a:spcPct val="90000"/>
              </a:lnSpc>
              <a:buFontTx/>
              <a:buNone/>
            </a:pPr>
            <a:r>
              <a:rPr lang="en-US" altLang="en-US">
                <a:solidFill>
                  <a:schemeClr val="tx1"/>
                </a:solidFill>
                <a:latin typeface="Arial" pitchFamily="34" charset="0"/>
                <a:cs typeface="Arial" pitchFamily="34" charset="0"/>
              </a:rPr>
              <a:t>1.1- SDLC and Testing</a:t>
            </a:r>
          </a:p>
          <a:p>
            <a:pPr eaLnBrk="1" hangingPunct="1">
              <a:lnSpc>
                <a:spcPct val="90000"/>
              </a:lnSpc>
              <a:buFontTx/>
              <a:buNone/>
            </a:pPr>
            <a:r>
              <a:rPr lang="en-US" altLang="en-US">
                <a:solidFill>
                  <a:schemeClr val="tx1"/>
                </a:solidFill>
                <a:latin typeface="Arial" pitchFamily="34" charset="0"/>
                <a:cs typeface="Arial" pitchFamily="34" charset="0"/>
              </a:rPr>
              <a:t>1.2- Waterfall Model</a:t>
            </a:r>
          </a:p>
          <a:p>
            <a:pPr eaLnBrk="1" hangingPunct="1">
              <a:lnSpc>
                <a:spcPct val="90000"/>
              </a:lnSpc>
              <a:buFontTx/>
              <a:buNone/>
            </a:pPr>
            <a:r>
              <a:rPr lang="en-US" altLang="en-US" b="1">
                <a:solidFill>
                  <a:srgbClr val="000099"/>
                </a:solidFill>
                <a:latin typeface="Arial" pitchFamily="34" charset="0"/>
                <a:cs typeface="Arial" pitchFamily="34" charset="0"/>
              </a:rPr>
              <a:t>1.3- Spiral Model</a:t>
            </a:r>
          </a:p>
          <a:p>
            <a:pPr eaLnBrk="1" hangingPunct="1">
              <a:lnSpc>
                <a:spcPct val="90000"/>
              </a:lnSpc>
              <a:buFontTx/>
              <a:buNone/>
            </a:pPr>
            <a:r>
              <a:rPr lang="en-US" altLang="en-US">
                <a:solidFill>
                  <a:schemeClr val="tx1"/>
                </a:solidFill>
                <a:latin typeface="Arial" pitchFamily="34" charset="0"/>
                <a:cs typeface="Arial" pitchFamily="34" charset="0"/>
              </a:rPr>
              <a:t>1.4- V-Model</a:t>
            </a:r>
          </a:p>
          <a:p>
            <a:pPr eaLnBrk="1" hangingPunct="1">
              <a:lnSpc>
                <a:spcPct val="90000"/>
              </a:lnSpc>
              <a:buFontTx/>
              <a:buNone/>
            </a:pPr>
            <a:r>
              <a:rPr lang="en-US" altLang="en-US">
                <a:solidFill>
                  <a:schemeClr val="tx1"/>
                </a:solidFill>
                <a:latin typeface="Arial" pitchFamily="34" charset="0"/>
                <a:cs typeface="Arial" pitchFamily="34" charset="0"/>
              </a:rPr>
              <a:t>1.5- Concurrent Model</a:t>
            </a:r>
          </a:p>
          <a:p>
            <a:pPr eaLnBrk="1" hangingPunct="1">
              <a:lnSpc>
                <a:spcPct val="90000"/>
              </a:lnSpc>
              <a:buFontTx/>
              <a:buNone/>
            </a:pPr>
            <a:r>
              <a:rPr lang="en-US" altLang="en-US">
                <a:solidFill>
                  <a:schemeClr val="tx1"/>
                </a:solidFill>
                <a:latin typeface="Arial" pitchFamily="34" charset="0"/>
                <a:cs typeface="Arial" pitchFamily="34" charset="0"/>
              </a:rPr>
              <a:t>1.6- Agile</a:t>
            </a:r>
          </a:p>
          <a:p>
            <a:pPr eaLnBrk="1" hangingPunct="1">
              <a:lnSpc>
                <a:spcPct val="90000"/>
              </a:lnSpc>
              <a:buFontTx/>
              <a:buNone/>
            </a:pPr>
            <a:r>
              <a:rPr lang="en-US" altLang="en-US">
                <a:solidFill>
                  <a:schemeClr val="tx1"/>
                </a:solidFill>
                <a:latin typeface="Arial" pitchFamily="34" charset="0"/>
                <a:cs typeface="Arial" pitchFamily="34" charset="0"/>
              </a:rPr>
              <a:t>1.7- Other SDLC Models</a:t>
            </a:r>
          </a:p>
          <a:p>
            <a:pPr eaLnBrk="1" hangingPunct="1">
              <a:lnSpc>
                <a:spcPct val="90000"/>
              </a:lnSpc>
              <a:buFontTx/>
              <a:buNone/>
            </a:pPr>
            <a:r>
              <a:rPr lang="en-US" altLang="en-US">
                <a:solidFill>
                  <a:schemeClr val="tx1"/>
                </a:solidFill>
                <a:latin typeface="Arial" pitchFamily="34" charset="0"/>
                <a:cs typeface="Arial" pitchFamily="34" charset="0"/>
              </a:rPr>
              <a:t>1.8- Testing Phases and Milestones</a:t>
            </a:r>
          </a:p>
          <a:p>
            <a:pPr eaLnBrk="1" hangingPunct="1">
              <a:lnSpc>
                <a:spcPct val="90000"/>
              </a:lnSpc>
              <a:buFont typeface="Arial" pitchFamily="34" charset="0"/>
              <a:buNone/>
            </a:pPr>
            <a:r>
              <a:rPr lang="en-US" altLang="en-US">
                <a:solidFill>
                  <a:schemeClr val="tx1"/>
                </a:solidFill>
                <a:latin typeface="Arial" pitchFamily="34" charset="0"/>
                <a:cs typeface="Arial" pitchFamily="34" charset="0"/>
              </a:rPr>
              <a:t>1.9- DevOps and CI/CD</a:t>
            </a:r>
          </a:p>
        </p:txBody>
      </p:sp>
      <p:sp>
        <p:nvSpPr>
          <p:cNvPr id="20484"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B1C0A71F-3D92-445B-B4CD-531BFE16E47F}" type="slidenum">
              <a:rPr lang="en-US" altLang="en-US" sz="1200">
                <a:solidFill>
                  <a:srgbClr val="A6A6A6"/>
                </a:solidFill>
              </a:rPr>
              <a:pPr algn="r" eaLnBrk="1" hangingPunct="1">
                <a:spcBef>
                  <a:spcPct val="0"/>
                </a:spcBef>
                <a:buClrTx/>
                <a:buSzTx/>
                <a:buFontTx/>
                <a:buNone/>
              </a:pPr>
              <a:t>11</a:t>
            </a:fld>
            <a:endParaRPr lang="en-US" altLang="en-US" sz="1200">
              <a:solidFill>
                <a:srgbClr val="A6A6A6"/>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55663" y="1047750"/>
            <a:ext cx="73914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7" name="Rectangle 2"/>
          <p:cNvSpPr>
            <a:spLocks noGrp="1" noChangeArrowheads="1"/>
          </p:cNvSpPr>
          <p:nvPr>
            <p:ph type="title"/>
          </p:nvPr>
        </p:nvSpPr>
        <p:spPr bwMode="auto">
          <a:xfrm>
            <a:off x="0" y="171450"/>
            <a:ext cx="8229600" cy="531813"/>
          </a:xfrm>
        </p:spPr>
        <p:txBody>
          <a:bodyPr anchor="t"/>
          <a:lstStyle/>
          <a:p>
            <a:pPr eaLnBrk="1" hangingPunct="1"/>
            <a:r>
              <a:rPr lang="en-US" altLang="en-US" sz="3200">
                <a:latin typeface="Open Sans"/>
                <a:ea typeface="Open Sans"/>
                <a:cs typeface="Open Sans"/>
              </a:rPr>
              <a:t>   Spiral Model</a:t>
            </a:r>
          </a:p>
        </p:txBody>
      </p:sp>
      <p:sp>
        <p:nvSpPr>
          <p:cNvPr id="21508"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19D77FA3-E934-44B3-A449-AA21F9E62D62}" type="slidenum">
              <a:rPr lang="en-US" altLang="en-US" sz="1200">
                <a:solidFill>
                  <a:srgbClr val="A6A6A6"/>
                </a:solidFill>
              </a:rPr>
              <a:pPr algn="r" eaLnBrk="1" hangingPunct="1">
                <a:spcBef>
                  <a:spcPct val="0"/>
                </a:spcBef>
                <a:buClrTx/>
                <a:buSzTx/>
                <a:buFontTx/>
                <a:buNone/>
              </a:pPr>
              <a:t>12</a:t>
            </a:fld>
            <a:endParaRPr lang="en-US" altLang="en-US" sz="1200">
              <a:solidFill>
                <a:srgbClr val="A6A6A6"/>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bwMode="auto">
          <a:xfrm>
            <a:off x="0" y="228600"/>
            <a:ext cx="8229600" cy="473075"/>
          </a:xfrm>
        </p:spPr>
        <p:txBody>
          <a:bodyPr anchor="t"/>
          <a:lstStyle/>
          <a:p>
            <a:pPr eaLnBrk="1" hangingPunct="1"/>
            <a:r>
              <a:rPr lang="en-US" altLang="en-US" sz="3200">
                <a:latin typeface="Open Sans"/>
                <a:ea typeface="Open Sans"/>
                <a:cs typeface="Open Sans"/>
              </a:rPr>
              <a:t>   Testing in Spiral Model</a:t>
            </a:r>
          </a:p>
        </p:txBody>
      </p:sp>
      <p:sp>
        <p:nvSpPr>
          <p:cNvPr id="22531" name="Rectangle 3"/>
          <p:cNvSpPr>
            <a:spLocks noGrp="1" noChangeArrowheads="1"/>
          </p:cNvSpPr>
          <p:nvPr>
            <p:ph idx="1"/>
          </p:nvPr>
        </p:nvSpPr>
        <p:spPr>
          <a:xfrm>
            <a:off x="838200" y="1235075"/>
            <a:ext cx="7848600" cy="3394075"/>
          </a:xfrm>
        </p:spPr>
        <p:txBody>
          <a:bodyPr/>
          <a:lstStyle/>
          <a:p>
            <a:pPr marL="342900" lvl="2" indent="-342900" algn="just" eaLnBrk="1" hangingPunct="1">
              <a:spcBef>
                <a:spcPts val="600"/>
              </a:spcBef>
              <a:spcAft>
                <a:spcPts val="600"/>
              </a:spcAft>
            </a:pPr>
            <a:r>
              <a:rPr lang="en-US" altLang="en-US" sz="1800">
                <a:solidFill>
                  <a:schemeClr val="tx1"/>
                </a:solidFill>
                <a:latin typeface="Arial" pitchFamily="34" charset="0"/>
                <a:cs typeface="Arial" pitchFamily="34" charset="0"/>
              </a:rPr>
              <a:t>Planned and structured releases</a:t>
            </a:r>
          </a:p>
          <a:p>
            <a:pPr marL="342900" lvl="2" indent="-342900" algn="just" eaLnBrk="1" hangingPunct="1">
              <a:spcBef>
                <a:spcPts val="600"/>
              </a:spcBef>
              <a:spcAft>
                <a:spcPts val="600"/>
              </a:spcAft>
            </a:pPr>
            <a:r>
              <a:rPr lang="en-US" altLang="en-US" sz="1800">
                <a:solidFill>
                  <a:schemeClr val="tx1"/>
                </a:solidFill>
                <a:latin typeface="Arial" pitchFamily="34" charset="0"/>
                <a:cs typeface="Arial" pitchFamily="34" charset="0"/>
              </a:rPr>
              <a:t>Usually has documentation to test against</a:t>
            </a:r>
          </a:p>
          <a:p>
            <a:pPr marL="342900" lvl="2" indent="-342900" algn="just" eaLnBrk="1" hangingPunct="1">
              <a:spcBef>
                <a:spcPts val="600"/>
              </a:spcBef>
              <a:spcAft>
                <a:spcPts val="600"/>
              </a:spcAft>
            </a:pPr>
            <a:r>
              <a:rPr lang="en-US" altLang="en-US" sz="1800">
                <a:solidFill>
                  <a:schemeClr val="tx1"/>
                </a:solidFill>
                <a:latin typeface="Arial" pitchFamily="34" charset="0"/>
                <a:cs typeface="Arial" pitchFamily="34" charset="0"/>
              </a:rPr>
              <a:t>Each spiral iteration can be thought of as a “mini-waterfall”; there are defined testing phases</a:t>
            </a:r>
          </a:p>
          <a:p>
            <a:pPr marL="342900" lvl="2" indent="-342900" algn="just" eaLnBrk="1" hangingPunct="1">
              <a:spcBef>
                <a:spcPts val="600"/>
              </a:spcBef>
              <a:spcAft>
                <a:spcPts val="600"/>
              </a:spcAft>
            </a:pPr>
            <a:r>
              <a:rPr lang="en-US" altLang="en-US" sz="1800">
                <a:solidFill>
                  <a:schemeClr val="tx1"/>
                </a:solidFill>
                <a:latin typeface="Arial" pitchFamily="34" charset="0"/>
                <a:cs typeface="Arial" pitchFamily="34" charset="0"/>
              </a:rPr>
              <a:t>Previous releases must be regression tested</a:t>
            </a:r>
          </a:p>
        </p:txBody>
      </p:sp>
      <p:sp>
        <p:nvSpPr>
          <p:cNvPr id="22532"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1A4DEF3A-9407-424D-A287-6F55DEDC4CDE}" type="slidenum">
              <a:rPr lang="en-US" altLang="en-US" sz="1200">
                <a:solidFill>
                  <a:srgbClr val="A6A6A6"/>
                </a:solidFill>
              </a:rPr>
              <a:pPr algn="r" eaLnBrk="1" hangingPunct="1">
                <a:spcBef>
                  <a:spcPct val="0"/>
                </a:spcBef>
                <a:buClrTx/>
                <a:buSzTx/>
                <a:buFontTx/>
                <a:buNone/>
              </a:pPr>
              <a:t>13</a:t>
            </a:fld>
            <a:endParaRPr lang="en-US" altLang="en-US" sz="1200">
              <a:solidFill>
                <a:srgbClr val="A6A6A6"/>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bwMode="auto">
          <a:xfrm>
            <a:off x="0" y="171450"/>
            <a:ext cx="8229600" cy="536575"/>
          </a:xfrm>
        </p:spPr>
        <p:txBody>
          <a:bodyPr anchor="t"/>
          <a:lstStyle/>
          <a:p>
            <a:pPr eaLnBrk="1" hangingPunct="1"/>
            <a:r>
              <a:rPr lang="en-US" altLang="en-US" sz="3200">
                <a:latin typeface="Open Sans"/>
                <a:ea typeface="Open Sans"/>
                <a:cs typeface="Open Sans"/>
              </a:rPr>
              <a:t>   SDLC and Testing</a:t>
            </a:r>
          </a:p>
        </p:txBody>
      </p:sp>
      <p:sp>
        <p:nvSpPr>
          <p:cNvPr id="23555" name="Rectangle 3"/>
          <p:cNvSpPr>
            <a:spLocks noGrp="1" noChangeArrowheads="1"/>
          </p:cNvSpPr>
          <p:nvPr>
            <p:ph idx="1"/>
          </p:nvPr>
        </p:nvSpPr>
        <p:spPr>
          <a:xfrm>
            <a:off x="838200" y="1200150"/>
            <a:ext cx="8001000" cy="3394075"/>
          </a:xfrm>
        </p:spPr>
        <p:txBody>
          <a:bodyPr/>
          <a:lstStyle/>
          <a:p>
            <a:pPr eaLnBrk="1" hangingPunct="1">
              <a:lnSpc>
                <a:spcPct val="90000"/>
              </a:lnSpc>
              <a:buFontTx/>
              <a:buNone/>
            </a:pPr>
            <a:r>
              <a:rPr lang="en-US" altLang="en-US">
                <a:solidFill>
                  <a:schemeClr val="tx1"/>
                </a:solidFill>
                <a:latin typeface="Arial" pitchFamily="34" charset="0"/>
                <a:cs typeface="Arial" pitchFamily="34" charset="0"/>
              </a:rPr>
              <a:t>1.1- SDLC and Testing </a:t>
            </a:r>
          </a:p>
          <a:p>
            <a:pPr eaLnBrk="1" hangingPunct="1">
              <a:lnSpc>
                <a:spcPct val="90000"/>
              </a:lnSpc>
              <a:buFontTx/>
              <a:buNone/>
            </a:pPr>
            <a:r>
              <a:rPr lang="en-US" altLang="en-US">
                <a:solidFill>
                  <a:schemeClr val="tx1"/>
                </a:solidFill>
                <a:latin typeface="Arial" pitchFamily="34" charset="0"/>
                <a:cs typeface="Arial" pitchFamily="34" charset="0"/>
              </a:rPr>
              <a:t>1.2- Waterfall Model</a:t>
            </a:r>
          </a:p>
          <a:p>
            <a:pPr eaLnBrk="1" hangingPunct="1">
              <a:lnSpc>
                <a:spcPct val="90000"/>
              </a:lnSpc>
              <a:buFontTx/>
              <a:buNone/>
            </a:pPr>
            <a:r>
              <a:rPr lang="en-US" altLang="en-US">
                <a:solidFill>
                  <a:schemeClr val="tx1"/>
                </a:solidFill>
                <a:latin typeface="Arial" pitchFamily="34" charset="0"/>
                <a:cs typeface="Arial" pitchFamily="34" charset="0"/>
              </a:rPr>
              <a:t>1.3- Spiral Model</a:t>
            </a:r>
          </a:p>
          <a:p>
            <a:pPr eaLnBrk="1" hangingPunct="1">
              <a:lnSpc>
                <a:spcPct val="90000"/>
              </a:lnSpc>
              <a:buFontTx/>
              <a:buNone/>
            </a:pPr>
            <a:r>
              <a:rPr lang="en-US" altLang="en-US" b="1">
                <a:solidFill>
                  <a:srgbClr val="000099"/>
                </a:solidFill>
                <a:latin typeface="Arial" pitchFamily="34" charset="0"/>
                <a:cs typeface="Arial" pitchFamily="34" charset="0"/>
              </a:rPr>
              <a:t>1.4- V-Model</a:t>
            </a:r>
          </a:p>
          <a:p>
            <a:pPr eaLnBrk="1" hangingPunct="1">
              <a:lnSpc>
                <a:spcPct val="90000"/>
              </a:lnSpc>
              <a:buFontTx/>
              <a:buNone/>
            </a:pPr>
            <a:r>
              <a:rPr lang="en-US" altLang="en-US">
                <a:solidFill>
                  <a:schemeClr val="tx1"/>
                </a:solidFill>
                <a:latin typeface="Arial" pitchFamily="34" charset="0"/>
                <a:cs typeface="Arial" pitchFamily="34" charset="0"/>
              </a:rPr>
              <a:t>1.5- Concurrent Model</a:t>
            </a:r>
          </a:p>
          <a:p>
            <a:pPr eaLnBrk="1" hangingPunct="1">
              <a:lnSpc>
                <a:spcPct val="90000"/>
              </a:lnSpc>
              <a:buFontTx/>
              <a:buNone/>
            </a:pPr>
            <a:r>
              <a:rPr lang="en-US" altLang="en-US">
                <a:solidFill>
                  <a:schemeClr val="tx1"/>
                </a:solidFill>
                <a:latin typeface="Arial" pitchFamily="34" charset="0"/>
                <a:cs typeface="Arial" pitchFamily="34" charset="0"/>
              </a:rPr>
              <a:t>1.6- Agile Model</a:t>
            </a:r>
          </a:p>
          <a:p>
            <a:pPr eaLnBrk="1" hangingPunct="1">
              <a:lnSpc>
                <a:spcPct val="90000"/>
              </a:lnSpc>
              <a:buFontTx/>
              <a:buNone/>
            </a:pPr>
            <a:r>
              <a:rPr lang="en-US" altLang="en-US">
                <a:solidFill>
                  <a:schemeClr val="tx1"/>
                </a:solidFill>
                <a:latin typeface="Arial" pitchFamily="34" charset="0"/>
                <a:cs typeface="Arial" pitchFamily="34" charset="0"/>
              </a:rPr>
              <a:t>1.7- Other SDLC Models</a:t>
            </a:r>
          </a:p>
          <a:p>
            <a:pPr eaLnBrk="1" hangingPunct="1">
              <a:lnSpc>
                <a:spcPct val="90000"/>
              </a:lnSpc>
              <a:buFontTx/>
              <a:buNone/>
            </a:pPr>
            <a:r>
              <a:rPr lang="en-US" altLang="en-US">
                <a:solidFill>
                  <a:schemeClr val="tx1"/>
                </a:solidFill>
                <a:latin typeface="Arial" pitchFamily="34" charset="0"/>
                <a:cs typeface="Arial" pitchFamily="34" charset="0"/>
              </a:rPr>
              <a:t>1.8- Testing Phases and Milestones</a:t>
            </a:r>
          </a:p>
          <a:p>
            <a:pPr eaLnBrk="1" hangingPunct="1">
              <a:lnSpc>
                <a:spcPct val="90000"/>
              </a:lnSpc>
              <a:buFont typeface="Arial" pitchFamily="34" charset="0"/>
              <a:buNone/>
            </a:pPr>
            <a:r>
              <a:rPr lang="en-US" altLang="en-US">
                <a:solidFill>
                  <a:schemeClr val="tx1"/>
                </a:solidFill>
                <a:latin typeface="Arial" pitchFamily="34" charset="0"/>
                <a:cs typeface="Arial" pitchFamily="34" charset="0"/>
              </a:rPr>
              <a:t>1.9- DevOps and CI/CD</a:t>
            </a:r>
          </a:p>
        </p:txBody>
      </p:sp>
      <p:sp>
        <p:nvSpPr>
          <p:cNvPr id="23556"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5D2C2444-D32B-40B6-9CCF-8DD52AA7741E}" type="slidenum">
              <a:rPr lang="en-US" altLang="en-US" sz="1200">
                <a:solidFill>
                  <a:srgbClr val="A6A6A6"/>
                </a:solidFill>
              </a:rPr>
              <a:pPr algn="r" eaLnBrk="1" hangingPunct="1">
                <a:spcBef>
                  <a:spcPct val="0"/>
                </a:spcBef>
                <a:buClrTx/>
                <a:buSzTx/>
                <a:buFontTx/>
                <a:buNone/>
              </a:pPr>
              <a:t>14</a:t>
            </a:fld>
            <a:endParaRPr lang="en-US" altLang="en-US" sz="1200">
              <a:solidFill>
                <a:srgbClr val="A6A6A6"/>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bwMode="auto">
          <a:xfrm>
            <a:off x="0" y="228600"/>
            <a:ext cx="8229600" cy="473075"/>
          </a:xfrm>
        </p:spPr>
        <p:txBody>
          <a:bodyPr anchor="t"/>
          <a:lstStyle/>
          <a:p>
            <a:pPr eaLnBrk="1" hangingPunct="1"/>
            <a:r>
              <a:rPr lang="en-US" altLang="en-US" sz="3200">
                <a:latin typeface="Open Sans"/>
                <a:ea typeface="Open Sans"/>
                <a:cs typeface="Open Sans"/>
              </a:rPr>
              <a:t>   V-Model</a:t>
            </a:r>
          </a:p>
        </p:txBody>
      </p:sp>
      <p:pic>
        <p:nvPicPr>
          <p:cNvPr id="24579"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106488"/>
            <a:ext cx="6956425" cy="3751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0"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006F359D-4E4C-47F7-8082-6386592B96D0}" type="slidenum">
              <a:rPr lang="en-US" altLang="en-US" sz="1200">
                <a:solidFill>
                  <a:srgbClr val="A6A6A6"/>
                </a:solidFill>
              </a:rPr>
              <a:pPr algn="r" eaLnBrk="1" hangingPunct="1">
                <a:spcBef>
                  <a:spcPct val="0"/>
                </a:spcBef>
                <a:buClrTx/>
                <a:buSzTx/>
                <a:buFontTx/>
                <a:buNone/>
              </a:pPr>
              <a:t>15</a:t>
            </a:fld>
            <a:endParaRPr lang="en-US" altLang="en-US" sz="1200">
              <a:solidFill>
                <a:srgbClr val="A6A6A6"/>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bwMode="auto">
          <a:xfrm>
            <a:off x="0" y="171450"/>
            <a:ext cx="8229600" cy="536575"/>
          </a:xfrm>
        </p:spPr>
        <p:txBody>
          <a:bodyPr anchor="t"/>
          <a:lstStyle/>
          <a:p>
            <a:pPr eaLnBrk="1" hangingPunct="1"/>
            <a:r>
              <a:rPr lang="en-US" altLang="en-US" sz="3200">
                <a:latin typeface="Open Sans"/>
                <a:ea typeface="Open Sans"/>
                <a:cs typeface="Open Sans"/>
              </a:rPr>
              <a:t>   Testing in V-Model</a:t>
            </a:r>
          </a:p>
        </p:txBody>
      </p:sp>
      <p:sp>
        <p:nvSpPr>
          <p:cNvPr id="25603" name="Rectangle 3"/>
          <p:cNvSpPr txBox="1">
            <a:spLocks noChangeArrowheads="1"/>
          </p:cNvSpPr>
          <p:nvPr/>
        </p:nvSpPr>
        <p:spPr bwMode="auto">
          <a:xfrm>
            <a:off x="838200" y="1158875"/>
            <a:ext cx="77724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457200">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defTabSz="45720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342900" indent="-342900" defTabSz="4572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800100" indent="-342900" defTabSz="4572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defTabSz="4572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defTabSz="4572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defTabSz="4572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defTabSz="4572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defTabSz="4572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lvl="2" algn="just" eaLnBrk="1" hangingPunct="1">
              <a:spcBef>
                <a:spcPts val="600"/>
              </a:spcBef>
              <a:spcAft>
                <a:spcPts val="600"/>
              </a:spcAft>
            </a:pPr>
            <a:r>
              <a:rPr lang="en-US" altLang="en-US" sz="1800">
                <a:solidFill>
                  <a:schemeClr val="tx1"/>
                </a:solidFill>
                <a:latin typeface="Arial" pitchFamily="34" charset="0"/>
                <a:cs typeface="Arial" pitchFamily="34" charset="0"/>
              </a:rPr>
              <a:t>Validation: The assurance that a product, service, or system meets the needs of the customer and other identified stakeholders. (PMBOK Guide)</a:t>
            </a:r>
          </a:p>
          <a:p>
            <a:pPr lvl="2" algn="just" eaLnBrk="1" hangingPunct="1">
              <a:spcBef>
                <a:spcPts val="600"/>
              </a:spcBef>
              <a:spcAft>
                <a:spcPts val="600"/>
              </a:spcAft>
            </a:pPr>
            <a:r>
              <a:rPr lang="en-US" altLang="en-US" sz="1800">
                <a:solidFill>
                  <a:schemeClr val="tx1"/>
                </a:solidFill>
                <a:latin typeface="Arial" pitchFamily="34" charset="0"/>
                <a:cs typeface="Arial" pitchFamily="34" charset="0"/>
              </a:rPr>
              <a:t>Verification: The evaluation of whether or not a product, service, or system complies with a regulation, requirement, specification, or imposed condition. (PMBOK Guide)</a:t>
            </a:r>
          </a:p>
          <a:p>
            <a:pPr marL="0" lvl="2" indent="0" algn="ctr" eaLnBrk="1" hangingPunct="1">
              <a:spcBef>
                <a:spcPts val="600"/>
              </a:spcBef>
              <a:spcAft>
                <a:spcPts val="600"/>
              </a:spcAft>
              <a:buNone/>
            </a:pPr>
            <a:r>
              <a:rPr lang="en-US" altLang="en-US" sz="1800" b="1">
                <a:solidFill>
                  <a:schemeClr val="tx1"/>
                </a:solidFill>
                <a:latin typeface="Arial" pitchFamily="34" charset="0"/>
                <a:cs typeface="Arial" pitchFamily="34" charset="0"/>
              </a:rPr>
              <a:t>Do right things &gt;&gt; Validation</a:t>
            </a:r>
          </a:p>
          <a:p>
            <a:pPr marL="0" lvl="2" indent="0" algn="ctr" eaLnBrk="1" hangingPunct="1">
              <a:spcBef>
                <a:spcPts val="600"/>
              </a:spcBef>
              <a:spcAft>
                <a:spcPts val="600"/>
              </a:spcAft>
              <a:buNone/>
            </a:pPr>
            <a:r>
              <a:rPr lang="en-US" altLang="en-US" sz="1800" b="1">
                <a:solidFill>
                  <a:schemeClr val="tx1"/>
                </a:solidFill>
                <a:latin typeface="Arial" pitchFamily="34" charset="0"/>
                <a:cs typeface="Arial" pitchFamily="34" charset="0"/>
              </a:rPr>
              <a:t>Do things right &gt;&gt; Verification</a:t>
            </a:r>
          </a:p>
        </p:txBody>
      </p:sp>
      <p:sp>
        <p:nvSpPr>
          <p:cNvPr id="25604"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CAD54AE2-15C4-459C-87DE-B51D3B4C1283}" type="slidenum">
              <a:rPr lang="en-US" altLang="en-US" sz="1200">
                <a:solidFill>
                  <a:srgbClr val="A6A6A6"/>
                </a:solidFill>
              </a:rPr>
              <a:pPr algn="r" eaLnBrk="1" hangingPunct="1">
                <a:spcBef>
                  <a:spcPct val="0"/>
                </a:spcBef>
                <a:buClrTx/>
                <a:buSzTx/>
                <a:buFontTx/>
                <a:buNone/>
              </a:pPr>
              <a:t>16</a:t>
            </a:fld>
            <a:endParaRPr lang="en-US" altLang="en-US" sz="1200">
              <a:solidFill>
                <a:srgbClr val="A6A6A6"/>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bwMode="auto">
          <a:xfrm>
            <a:off x="0" y="171450"/>
            <a:ext cx="8229600" cy="531813"/>
          </a:xfrm>
        </p:spPr>
        <p:txBody>
          <a:bodyPr anchor="t"/>
          <a:lstStyle/>
          <a:p>
            <a:pPr eaLnBrk="1" hangingPunct="1"/>
            <a:r>
              <a:rPr lang="en-US" altLang="en-US" sz="3200">
                <a:latin typeface="Open Sans"/>
                <a:ea typeface="Open Sans"/>
                <a:cs typeface="Open Sans"/>
              </a:rPr>
              <a:t>   SDLC and Testing</a:t>
            </a:r>
          </a:p>
        </p:txBody>
      </p:sp>
      <p:sp>
        <p:nvSpPr>
          <p:cNvPr id="26627" name="Rectangle 3"/>
          <p:cNvSpPr>
            <a:spLocks noGrp="1" noChangeArrowheads="1"/>
          </p:cNvSpPr>
          <p:nvPr>
            <p:ph idx="1"/>
          </p:nvPr>
        </p:nvSpPr>
        <p:spPr>
          <a:xfrm>
            <a:off x="838200" y="1158875"/>
            <a:ext cx="7239000" cy="3394075"/>
          </a:xfrm>
        </p:spPr>
        <p:txBody>
          <a:bodyPr/>
          <a:lstStyle/>
          <a:p>
            <a:pPr eaLnBrk="1" hangingPunct="1">
              <a:lnSpc>
                <a:spcPct val="90000"/>
              </a:lnSpc>
              <a:buFontTx/>
              <a:buNone/>
            </a:pPr>
            <a:r>
              <a:rPr lang="en-US" altLang="en-US">
                <a:solidFill>
                  <a:schemeClr val="tx1"/>
                </a:solidFill>
                <a:latin typeface="Arial" pitchFamily="34" charset="0"/>
                <a:cs typeface="Arial" pitchFamily="34" charset="0"/>
              </a:rPr>
              <a:t>1.1- SDLC and Testing</a:t>
            </a:r>
          </a:p>
          <a:p>
            <a:pPr eaLnBrk="1" hangingPunct="1">
              <a:lnSpc>
                <a:spcPct val="90000"/>
              </a:lnSpc>
              <a:buFontTx/>
              <a:buNone/>
            </a:pPr>
            <a:r>
              <a:rPr lang="en-US" altLang="en-US">
                <a:solidFill>
                  <a:schemeClr val="tx1"/>
                </a:solidFill>
                <a:latin typeface="Arial" pitchFamily="34" charset="0"/>
                <a:cs typeface="Arial" pitchFamily="34" charset="0"/>
              </a:rPr>
              <a:t>1.2- Waterfall Model</a:t>
            </a:r>
          </a:p>
          <a:p>
            <a:pPr eaLnBrk="1" hangingPunct="1">
              <a:lnSpc>
                <a:spcPct val="90000"/>
              </a:lnSpc>
              <a:buFontTx/>
              <a:buNone/>
            </a:pPr>
            <a:r>
              <a:rPr lang="en-US" altLang="en-US">
                <a:solidFill>
                  <a:schemeClr val="tx1"/>
                </a:solidFill>
                <a:latin typeface="Arial" pitchFamily="34" charset="0"/>
                <a:cs typeface="Arial" pitchFamily="34" charset="0"/>
              </a:rPr>
              <a:t>1.3- Spiral Model</a:t>
            </a:r>
          </a:p>
          <a:p>
            <a:pPr eaLnBrk="1" hangingPunct="1">
              <a:lnSpc>
                <a:spcPct val="90000"/>
              </a:lnSpc>
              <a:buFontTx/>
              <a:buNone/>
            </a:pPr>
            <a:r>
              <a:rPr lang="en-US" altLang="en-US">
                <a:solidFill>
                  <a:schemeClr val="tx1"/>
                </a:solidFill>
                <a:latin typeface="Arial" pitchFamily="34" charset="0"/>
                <a:cs typeface="Arial" pitchFamily="34" charset="0"/>
              </a:rPr>
              <a:t>1.4- V-Model</a:t>
            </a:r>
          </a:p>
          <a:p>
            <a:pPr eaLnBrk="1" hangingPunct="1">
              <a:lnSpc>
                <a:spcPct val="90000"/>
              </a:lnSpc>
              <a:buFontTx/>
              <a:buNone/>
            </a:pPr>
            <a:r>
              <a:rPr lang="en-US" altLang="en-US" b="1">
                <a:solidFill>
                  <a:srgbClr val="000099"/>
                </a:solidFill>
                <a:latin typeface="Arial" pitchFamily="34" charset="0"/>
                <a:cs typeface="Arial" pitchFamily="34" charset="0"/>
              </a:rPr>
              <a:t>1.5- Concurrent Model</a:t>
            </a:r>
          </a:p>
          <a:p>
            <a:pPr eaLnBrk="1" hangingPunct="1">
              <a:lnSpc>
                <a:spcPct val="90000"/>
              </a:lnSpc>
              <a:buFontTx/>
              <a:buNone/>
            </a:pPr>
            <a:r>
              <a:rPr lang="en-US" altLang="en-US">
                <a:solidFill>
                  <a:schemeClr val="tx1"/>
                </a:solidFill>
                <a:latin typeface="Arial" pitchFamily="34" charset="0"/>
                <a:cs typeface="Arial" pitchFamily="34" charset="0"/>
              </a:rPr>
              <a:t>1.6- Agile Model</a:t>
            </a:r>
          </a:p>
          <a:p>
            <a:pPr eaLnBrk="1" hangingPunct="1">
              <a:lnSpc>
                <a:spcPct val="90000"/>
              </a:lnSpc>
              <a:buFontTx/>
              <a:buNone/>
            </a:pPr>
            <a:r>
              <a:rPr lang="en-US" altLang="en-US">
                <a:solidFill>
                  <a:schemeClr val="tx1"/>
                </a:solidFill>
                <a:latin typeface="Arial" pitchFamily="34" charset="0"/>
                <a:cs typeface="Arial" pitchFamily="34" charset="0"/>
              </a:rPr>
              <a:t>1.7- Other SDLC Models</a:t>
            </a:r>
          </a:p>
          <a:p>
            <a:pPr eaLnBrk="1" hangingPunct="1">
              <a:lnSpc>
                <a:spcPct val="90000"/>
              </a:lnSpc>
              <a:buFontTx/>
              <a:buNone/>
            </a:pPr>
            <a:r>
              <a:rPr lang="en-US" altLang="en-US">
                <a:solidFill>
                  <a:schemeClr val="tx1"/>
                </a:solidFill>
                <a:latin typeface="Arial" pitchFamily="34" charset="0"/>
                <a:cs typeface="Arial" pitchFamily="34" charset="0"/>
              </a:rPr>
              <a:t>1.8- Testing Phases and Milestones</a:t>
            </a:r>
          </a:p>
          <a:p>
            <a:pPr eaLnBrk="1" hangingPunct="1">
              <a:lnSpc>
                <a:spcPct val="90000"/>
              </a:lnSpc>
              <a:buFont typeface="Arial" pitchFamily="34" charset="0"/>
              <a:buNone/>
            </a:pPr>
            <a:r>
              <a:rPr lang="en-US" altLang="en-US">
                <a:solidFill>
                  <a:schemeClr val="tx1"/>
                </a:solidFill>
                <a:latin typeface="Arial" pitchFamily="34" charset="0"/>
                <a:cs typeface="Arial" pitchFamily="34" charset="0"/>
              </a:rPr>
              <a:t>1.9- DevOps and CI/CD</a:t>
            </a:r>
          </a:p>
          <a:p>
            <a:pPr eaLnBrk="1" hangingPunct="1">
              <a:lnSpc>
                <a:spcPct val="90000"/>
              </a:lnSpc>
              <a:buFontTx/>
              <a:buNone/>
            </a:pPr>
            <a:endParaRPr lang="en-US" altLang="en-US">
              <a:latin typeface="Arial" pitchFamily="34" charset="0"/>
              <a:cs typeface="Arial" pitchFamily="34" charset="0"/>
            </a:endParaRPr>
          </a:p>
        </p:txBody>
      </p:sp>
      <p:sp>
        <p:nvSpPr>
          <p:cNvPr id="26628"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BA7CA3EB-92E2-42E6-BBC7-A28DC37186CF}" type="slidenum">
              <a:rPr lang="en-US" altLang="en-US" sz="1200">
                <a:solidFill>
                  <a:srgbClr val="A6A6A6"/>
                </a:solidFill>
              </a:rPr>
              <a:pPr algn="r" eaLnBrk="1" hangingPunct="1">
                <a:spcBef>
                  <a:spcPct val="0"/>
                </a:spcBef>
                <a:buClrTx/>
                <a:buSzTx/>
                <a:buFontTx/>
                <a:buNone/>
              </a:pPr>
              <a:t>17</a:t>
            </a:fld>
            <a:endParaRPr lang="en-US" altLang="en-US" sz="1200">
              <a:solidFill>
                <a:srgbClr val="A6A6A6"/>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bwMode="auto">
          <a:xfrm>
            <a:off x="0" y="171450"/>
            <a:ext cx="8229600" cy="531813"/>
          </a:xfrm>
        </p:spPr>
        <p:txBody>
          <a:bodyPr anchor="t"/>
          <a:lstStyle/>
          <a:p>
            <a:pPr eaLnBrk="1" hangingPunct="1"/>
            <a:r>
              <a:rPr lang="en-US" altLang="en-US" sz="3200">
                <a:latin typeface="Open Sans"/>
                <a:ea typeface="Open Sans"/>
                <a:cs typeface="Open Sans"/>
              </a:rPr>
              <a:t>   Concurrent Model</a:t>
            </a:r>
          </a:p>
        </p:txBody>
      </p:sp>
      <p:grpSp>
        <p:nvGrpSpPr>
          <p:cNvPr id="27651" name="Group 30"/>
          <p:cNvGrpSpPr>
            <a:grpSpLocks/>
          </p:cNvGrpSpPr>
          <p:nvPr/>
        </p:nvGrpSpPr>
        <p:grpSpPr bwMode="auto">
          <a:xfrm>
            <a:off x="1835150" y="1047750"/>
            <a:ext cx="5708650" cy="3657600"/>
            <a:chOff x="1295400" y="1451058"/>
            <a:chExt cx="6083300" cy="5197473"/>
          </a:xfrm>
        </p:grpSpPr>
        <p:sp>
          <p:nvSpPr>
            <p:cNvPr id="27653" name="AutoShape 2"/>
            <p:cNvSpPr>
              <a:spLocks noChangeArrowheads="1"/>
            </p:cNvSpPr>
            <p:nvPr/>
          </p:nvSpPr>
          <p:spPr bwMode="auto">
            <a:xfrm>
              <a:off x="1600200" y="2133600"/>
              <a:ext cx="5778500" cy="3943350"/>
            </a:xfrm>
            <a:prstGeom prst="roundRect">
              <a:avLst>
                <a:gd name="adj" fmla="val 16667"/>
              </a:avLst>
            </a:prstGeom>
            <a:solidFill>
              <a:srgbClr val="99CCFF"/>
            </a:solidFill>
            <a:ln w="9525">
              <a:solidFill>
                <a:schemeClr val="tx1"/>
              </a:solidFill>
              <a:round/>
              <a:headEnd/>
              <a:tailEnd/>
            </a:ln>
          </p:spPr>
          <p:txBody>
            <a:bodyPr wrap="none" anchor="ct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ctr">
                <a:spcBef>
                  <a:spcPct val="0"/>
                </a:spcBef>
                <a:buClrTx/>
                <a:buSzTx/>
                <a:buFontTx/>
                <a:buNone/>
              </a:pPr>
              <a:endParaRPr lang="en-US" altLang="en-US" sz="3200">
                <a:solidFill>
                  <a:schemeClr val="tx2"/>
                </a:solidFill>
                <a:latin typeface="Arial" pitchFamily="34" charset="0"/>
              </a:endParaRPr>
            </a:p>
          </p:txBody>
        </p:sp>
        <p:sp>
          <p:nvSpPr>
            <p:cNvPr id="27654" name="AutoShape 3"/>
            <p:cNvSpPr>
              <a:spLocks noChangeArrowheads="1"/>
            </p:cNvSpPr>
            <p:nvPr/>
          </p:nvSpPr>
          <p:spPr bwMode="auto">
            <a:xfrm>
              <a:off x="1295400" y="1600200"/>
              <a:ext cx="1473200" cy="685800"/>
            </a:xfrm>
            <a:prstGeom prst="roundRect">
              <a:avLst>
                <a:gd name="adj" fmla="val 16667"/>
              </a:avLst>
            </a:prstGeom>
            <a:solidFill>
              <a:srgbClr val="FFFF99"/>
            </a:solidFill>
            <a:ln w="9525">
              <a:solidFill>
                <a:schemeClr val="tx1"/>
              </a:solidFill>
              <a:round/>
              <a:headEnd/>
              <a:tailEnd/>
            </a:ln>
          </p:spPr>
          <p:txBody>
            <a:bodyPr wrap="none" anchor="ct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ctr">
                <a:spcBef>
                  <a:spcPct val="0"/>
                </a:spcBef>
                <a:buClrTx/>
                <a:buSzTx/>
                <a:buFontTx/>
                <a:buNone/>
              </a:pPr>
              <a:r>
                <a:rPr lang="en-US" altLang="zh-TW" sz="2000" b="1">
                  <a:solidFill>
                    <a:schemeClr val="tx1"/>
                  </a:solidFill>
                  <a:latin typeface="Arial Narrow" pitchFamily="34" charset="0"/>
                </a:rPr>
                <a:t>None</a:t>
              </a:r>
            </a:p>
          </p:txBody>
        </p:sp>
        <p:sp>
          <p:nvSpPr>
            <p:cNvPr id="27655" name="AutoShape 4"/>
            <p:cNvSpPr>
              <a:spLocks noChangeArrowheads="1"/>
            </p:cNvSpPr>
            <p:nvPr/>
          </p:nvSpPr>
          <p:spPr bwMode="auto">
            <a:xfrm>
              <a:off x="3556000" y="2330450"/>
              <a:ext cx="1473200" cy="685800"/>
            </a:xfrm>
            <a:prstGeom prst="roundRect">
              <a:avLst>
                <a:gd name="adj" fmla="val 16667"/>
              </a:avLst>
            </a:prstGeom>
            <a:solidFill>
              <a:srgbClr val="FFFF99"/>
            </a:solidFill>
            <a:ln w="9525">
              <a:solidFill>
                <a:schemeClr val="tx1"/>
              </a:solidFill>
              <a:round/>
              <a:headEnd/>
              <a:tailEnd/>
            </a:ln>
          </p:spPr>
          <p:txBody>
            <a:bodyPr wrap="none" anchor="ct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ctr">
                <a:spcBef>
                  <a:spcPct val="0"/>
                </a:spcBef>
                <a:buClrTx/>
                <a:buSzTx/>
                <a:buFontTx/>
                <a:buNone/>
              </a:pPr>
              <a:r>
                <a:rPr lang="en-US" altLang="zh-TW" sz="1600" b="1">
                  <a:solidFill>
                    <a:schemeClr val="tx1"/>
                  </a:solidFill>
                  <a:latin typeface="Arial Narrow" pitchFamily="34" charset="0"/>
                </a:rPr>
                <a:t>Under</a:t>
              </a:r>
            </a:p>
            <a:p>
              <a:pPr algn="ctr">
                <a:spcBef>
                  <a:spcPct val="0"/>
                </a:spcBef>
                <a:buClrTx/>
                <a:buSzTx/>
                <a:buFontTx/>
                <a:buNone/>
              </a:pPr>
              <a:r>
                <a:rPr lang="en-US" altLang="zh-TW" sz="1600" b="1">
                  <a:solidFill>
                    <a:schemeClr val="tx1"/>
                  </a:solidFill>
                  <a:latin typeface="Arial Narrow" pitchFamily="34" charset="0"/>
                </a:rPr>
                <a:t>development</a:t>
              </a:r>
            </a:p>
          </p:txBody>
        </p:sp>
        <p:sp>
          <p:nvSpPr>
            <p:cNvPr id="27656" name="AutoShape 5"/>
            <p:cNvSpPr>
              <a:spLocks noChangeArrowheads="1"/>
            </p:cNvSpPr>
            <p:nvPr/>
          </p:nvSpPr>
          <p:spPr bwMode="auto">
            <a:xfrm>
              <a:off x="5486400" y="3130550"/>
              <a:ext cx="1473200" cy="685800"/>
            </a:xfrm>
            <a:prstGeom prst="roundRect">
              <a:avLst>
                <a:gd name="adj" fmla="val 16667"/>
              </a:avLst>
            </a:prstGeom>
            <a:solidFill>
              <a:srgbClr val="FFFF99"/>
            </a:solidFill>
            <a:ln w="9525">
              <a:solidFill>
                <a:schemeClr val="tx1"/>
              </a:solidFill>
              <a:round/>
              <a:headEnd/>
              <a:tailEnd/>
            </a:ln>
          </p:spPr>
          <p:txBody>
            <a:bodyPr wrap="none" anchor="ct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ctr">
                <a:spcBef>
                  <a:spcPct val="0"/>
                </a:spcBef>
                <a:buClrTx/>
                <a:buSzTx/>
                <a:buFontTx/>
                <a:buNone/>
              </a:pPr>
              <a:r>
                <a:rPr lang="en-US" altLang="zh-TW" sz="1600" b="1">
                  <a:solidFill>
                    <a:schemeClr val="tx1"/>
                  </a:solidFill>
                  <a:latin typeface="Arial Narrow" pitchFamily="34" charset="0"/>
                </a:rPr>
                <a:t>Under</a:t>
              </a:r>
            </a:p>
            <a:p>
              <a:pPr algn="ctr">
                <a:spcBef>
                  <a:spcPct val="0"/>
                </a:spcBef>
                <a:buClrTx/>
                <a:buSzTx/>
                <a:buFontTx/>
                <a:buNone/>
              </a:pPr>
              <a:r>
                <a:rPr lang="en-US" altLang="zh-TW" sz="1600" b="1">
                  <a:solidFill>
                    <a:schemeClr val="tx1"/>
                  </a:solidFill>
                  <a:latin typeface="Arial Narrow" pitchFamily="34" charset="0"/>
                </a:rPr>
                <a:t>review</a:t>
              </a:r>
            </a:p>
          </p:txBody>
        </p:sp>
        <p:sp>
          <p:nvSpPr>
            <p:cNvPr id="27657" name="AutoShape 6"/>
            <p:cNvSpPr>
              <a:spLocks noChangeArrowheads="1"/>
            </p:cNvSpPr>
            <p:nvPr/>
          </p:nvSpPr>
          <p:spPr bwMode="auto">
            <a:xfrm>
              <a:off x="1968500" y="3130550"/>
              <a:ext cx="1473200" cy="685800"/>
            </a:xfrm>
            <a:prstGeom prst="roundRect">
              <a:avLst>
                <a:gd name="adj" fmla="val 16667"/>
              </a:avLst>
            </a:prstGeom>
            <a:solidFill>
              <a:srgbClr val="FFFF99"/>
            </a:solidFill>
            <a:ln w="9525">
              <a:solidFill>
                <a:schemeClr val="tx1"/>
              </a:solidFill>
              <a:round/>
              <a:headEnd/>
              <a:tailEnd/>
            </a:ln>
          </p:spPr>
          <p:txBody>
            <a:bodyPr wrap="none" anchor="ct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ctr">
                <a:spcBef>
                  <a:spcPct val="0"/>
                </a:spcBef>
                <a:buClrTx/>
                <a:buSzTx/>
                <a:buFontTx/>
                <a:buNone/>
              </a:pPr>
              <a:r>
                <a:rPr lang="en-US" altLang="zh-TW" sz="1600" b="1">
                  <a:solidFill>
                    <a:schemeClr val="tx1"/>
                  </a:solidFill>
                  <a:latin typeface="Arial Narrow" pitchFamily="34" charset="0"/>
                </a:rPr>
                <a:t>Awaiting</a:t>
              </a:r>
            </a:p>
            <a:p>
              <a:pPr algn="ctr">
                <a:spcBef>
                  <a:spcPct val="0"/>
                </a:spcBef>
                <a:buClrTx/>
                <a:buSzTx/>
                <a:buFontTx/>
                <a:buNone/>
              </a:pPr>
              <a:r>
                <a:rPr lang="en-US" altLang="zh-TW" sz="1600" b="1">
                  <a:solidFill>
                    <a:schemeClr val="tx1"/>
                  </a:solidFill>
                  <a:latin typeface="Arial Narrow" pitchFamily="34" charset="0"/>
                </a:rPr>
                <a:t>changes</a:t>
              </a:r>
            </a:p>
          </p:txBody>
        </p:sp>
        <p:sp>
          <p:nvSpPr>
            <p:cNvPr id="27658" name="AutoShape 7"/>
            <p:cNvSpPr>
              <a:spLocks noChangeArrowheads="1"/>
            </p:cNvSpPr>
            <p:nvPr/>
          </p:nvSpPr>
          <p:spPr bwMode="auto">
            <a:xfrm>
              <a:off x="2933700" y="4133850"/>
              <a:ext cx="1473200" cy="685800"/>
            </a:xfrm>
            <a:prstGeom prst="roundRect">
              <a:avLst>
                <a:gd name="adj" fmla="val 16667"/>
              </a:avLst>
            </a:prstGeom>
            <a:solidFill>
              <a:srgbClr val="FFFF99"/>
            </a:solidFill>
            <a:ln w="9525">
              <a:solidFill>
                <a:schemeClr val="tx1"/>
              </a:solidFill>
              <a:round/>
              <a:headEnd/>
              <a:tailEnd/>
            </a:ln>
          </p:spPr>
          <p:txBody>
            <a:bodyPr wrap="none" anchor="ct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ctr">
                <a:spcBef>
                  <a:spcPct val="0"/>
                </a:spcBef>
                <a:buClrTx/>
                <a:buSzTx/>
                <a:buFontTx/>
                <a:buNone/>
              </a:pPr>
              <a:r>
                <a:rPr lang="en-US" altLang="zh-TW" sz="1600" b="1">
                  <a:solidFill>
                    <a:schemeClr val="tx1"/>
                  </a:solidFill>
                  <a:latin typeface="Arial Narrow" pitchFamily="34" charset="0"/>
                </a:rPr>
                <a:t>Under</a:t>
              </a:r>
            </a:p>
            <a:p>
              <a:pPr algn="ctr">
                <a:spcBef>
                  <a:spcPct val="0"/>
                </a:spcBef>
                <a:buClrTx/>
                <a:buSzTx/>
                <a:buFontTx/>
                <a:buNone/>
              </a:pPr>
              <a:r>
                <a:rPr lang="en-US" altLang="zh-TW" sz="1600" b="1">
                  <a:solidFill>
                    <a:schemeClr val="tx1"/>
                  </a:solidFill>
                  <a:latin typeface="Arial Narrow" pitchFamily="34" charset="0"/>
                </a:rPr>
                <a:t>revision</a:t>
              </a:r>
            </a:p>
          </p:txBody>
        </p:sp>
        <p:sp>
          <p:nvSpPr>
            <p:cNvPr id="27659" name="AutoShape 8"/>
            <p:cNvSpPr>
              <a:spLocks noChangeArrowheads="1"/>
            </p:cNvSpPr>
            <p:nvPr/>
          </p:nvSpPr>
          <p:spPr bwMode="auto">
            <a:xfrm>
              <a:off x="4762500" y="4298950"/>
              <a:ext cx="1473200" cy="685800"/>
            </a:xfrm>
            <a:prstGeom prst="roundRect">
              <a:avLst>
                <a:gd name="adj" fmla="val 16667"/>
              </a:avLst>
            </a:prstGeom>
            <a:solidFill>
              <a:srgbClr val="FFFF99"/>
            </a:solidFill>
            <a:ln w="9525">
              <a:solidFill>
                <a:schemeClr val="tx1"/>
              </a:solidFill>
              <a:round/>
              <a:headEnd/>
              <a:tailEnd/>
            </a:ln>
          </p:spPr>
          <p:txBody>
            <a:bodyPr wrap="none" anchor="ct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ctr">
                <a:spcBef>
                  <a:spcPct val="0"/>
                </a:spcBef>
                <a:buClrTx/>
                <a:buSzTx/>
                <a:buFontTx/>
                <a:buNone/>
              </a:pPr>
              <a:r>
                <a:rPr lang="en-US" altLang="zh-TW" sz="1800" b="1">
                  <a:solidFill>
                    <a:schemeClr val="tx1"/>
                  </a:solidFill>
                  <a:latin typeface="Arial Narrow" pitchFamily="34" charset="0"/>
                </a:rPr>
                <a:t>Baselined</a:t>
              </a:r>
            </a:p>
          </p:txBody>
        </p:sp>
        <p:sp>
          <p:nvSpPr>
            <p:cNvPr id="27660" name="AutoShape 9"/>
            <p:cNvSpPr>
              <a:spLocks noChangeArrowheads="1"/>
            </p:cNvSpPr>
            <p:nvPr/>
          </p:nvSpPr>
          <p:spPr bwMode="auto">
            <a:xfrm>
              <a:off x="3606800" y="5327650"/>
              <a:ext cx="1473200" cy="685800"/>
            </a:xfrm>
            <a:prstGeom prst="roundRect">
              <a:avLst>
                <a:gd name="adj" fmla="val 16667"/>
              </a:avLst>
            </a:prstGeom>
            <a:solidFill>
              <a:srgbClr val="FFFF99"/>
            </a:solidFill>
            <a:ln w="9525">
              <a:solidFill>
                <a:schemeClr val="tx1"/>
              </a:solidFill>
              <a:round/>
              <a:headEnd/>
              <a:tailEnd/>
            </a:ln>
          </p:spPr>
          <p:txBody>
            <a:bodyPr wrap="none" anchor="ct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ctr">
                <a:spcBef>
                  <a:spcPct val="0"/>
                </a:spcBef>
                <a:buClrTx/>
                <a:buSzTx/>
                <a:buFontTx/>
                <a:buNone/>
              </a:pPr>
              <a:r>
                <a:rPr lang="en-US" altLang="zh-TW" sz="2000" b="1">
                  <a:solidFill>
                    <a:schemeClr val="tx1"/>
                  </a:solidFill>
                  <a:latin typeface="Arial Narrow" pitchFamily="34" charset="0"/>
                </a:rPr>
                <a:t>Done</a:t>
              </a:r>
            </a:p>
          </p:txBody>
        </p:sp>
        <p:sp>
          <p:nvSpPr>
            <p:cNvPr id="27661" name="Line 10"/>
            <p:cNvSpPr>
              <a:spLocks noChangeShapeType="1"/>
            </p:cNvSpPr>
            <p:nvPr/>
          </p:nvSpPr>
          <p:spPr bwMode="auto">
            <a:xfrm>
              <a:off x="2819400" y="1828800"/>
              <a:ext cx="1066800" cy="4572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662" name="Line 11"/>
            <p:cNvSpPr>
              <a:spLocks noChangeShapeType="1"/>
            </p:cNvSpPr>
            <p:nvPr/>
          </p:nvSpPr>
          <p:spPr bwMode="auto">
            <a:xfrm>
              <a:off x="5016500" y="2673350"/>
              <a:ext cx="1193800" cy="4699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663" name="Line 12"/>
            <p:cNvSpPr>
              <a:spLocks noChangeShapeType="1"/>
            </p:cNvSpPr>
            <p:nvPr/>
          </p:nvSpPr>
          <p:spPr bwMode="auto">
            <a:xfrm flipV="1">
              <a:off x="4406900" y="3473450"/>
              <a:ext cx="1066800" cy="10287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664" name="Line 13"/>
            <p:cNvSpPr>
              <a:spLocks noChangeShapeType="1"/>
            </p:cNvSpPr>
            <p:nvPr/>
          </p:nvSpPr>
          <p:spPr bwMode="auto">
            <a:xfrm flipH="1">
              <a:off x="5486400" y="3816350"/>
              <a:ext cx="723900" cy="4826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665" name="Line 14"/>
            <p:cNvSpPr>
              <a:spLocks noChangeShapeType="1"/>
            </p:cNvSpPr>
            <p:nvPr/>
          </p:nvSpPr>
          <p:spPr bwMode="auto">
            <a:xfrm>
              <a:off x="2628900" y="3829050"/>
              <a:ext cx="1016000" cy="3048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666" name="Line 15"/>
            <p:cNvSpPr>
              <a:spLocks noChangeShapeType="1"/>
            </p:cNvSpPr>
            <p:nvPr/>
          </p:nvSpPr>
          <p:spPr bwMode="auto">
            <a:xfrm flipH="1">
              <a:off x="4381500" y="4984750"/>
              <a:ext cx="1092200" cy="3302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667" name="Line 16"/>
            <p:cNvSpPr>
              <a:spLocks noChangeShapeType="1"/>
            </p:cNvSpPr>
            <p:nvPr/>
          </p:nvSpPr>
          <p:spPr bwMode="auto">
            <a:xfrm flipH="1">
              <a:off x="2514600" y="5657850"/>
              <a:ext cx="1092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8" name="Line 17"/>
            <p:cNvSpPr>
              <a:spLocks noChangeShapeType="1"/>
            </p:cNvSpPr>
            <p:nvPr/>
          </p:nvSpPr>
          <p:spPr bwMode="auto">
            <a:xfrm flipV="1">
              <a:off x="2489200" y="3803650"/>
              <a:ext cx="0" cy="18796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669" name="Line 18"/>
            <p:cNvSpPr>
              <a:spLocks noChangeShapeType="1"/>
            </p:cNvSpPr>
            <p:nvPr/>
          </p:nvSpPr>
          <p:spPr bwMode="auto">
            <a:xfrm>
              <a:off x="6654800" y="3816350"/>
              <a:ext cx="0" cy="18161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0" name="Line 19"/>
            <p:cNvSpPr>
              <a:spLocks noChangeShapeType="1"/>
            </p:cNvSpPr>
            <p:nvPr/>
          </p:nvSpPr>
          <p:spPr bwMode="auto">
            <a:xfrm flipH="1">
              <a:off x="5080000" y="5607050"/>
              <a:ext cx="15621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671" name="Line 20"/>
            <p:cNvSpPr>
              <a:spLocks noChangeShapeType="1"/>
            </p:cNvSpPr>
            <p:nvPr/>
          </p:nvSpPr>
          <p:spPr bwMode="auto">
            <a:xfrm flipH="1">
              <a:off x="2628900" y="2660650"/>
              <a:ext cx="927100" cy="4699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672" name="Text Box 21"/>
            <p:cNvSpPr txBox="1">
              <a:spLocks noChangeArrowheads="1"/>
            </p:cNvSpPr>
            <p:nvPr/>
          </p:nvSpPr>
          <p:spPr bwMode="auto">
            <a:xfrm>
              <a:off x="5547750" y="1451058"/>
              <a:ext cx="1830950" cy="53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spcBef>
                  <a:spcPct val="0"/>
                </a:spcBef>
                <a:buClrTx/>
                <a:buSzTx/>
                <a:buFontTx/>
                <a:buNone/>
              </a:pPr>
              <a:r>
                <a:rPr lang="en-US" altLang="zh-TW" sz="2000" b="1">
                  <a:solidFill>
                    <a:schemeClr val="tx1"/>
                  </a:solidFill>
                  <a:latin typeface="Arial Narrow" pitchFamily="34" charset="0"/>
                </a:rPr>
                <a:t>Analysis activity</a:t>
              </a:r>
            </a:p>
          </p:txBody>
        </p:sp>
        <p:sp>
          <p:nvSpPr>
            <p:cNvPr id="52" name="Text Box 22"/>
            <p:cNvSpPr txBox="1">
              <a:spLocks noChangeArrowheads="1"/>
            </p:cNvSpPr>
            <p:nvPr/>
          </p:nvSpPr>
          <p:spPr bwMode="auto">
            <a:xfrm>
              <a:off x="1532236" y="6116151"/>
              <a:ext cx="5633312" cy="532380"/>
            </a:xfrm>
            <a:prstGeom prst="rect">
              <a:avLst/>
            </a:prstGeom>
            <a:noFill/>
            <a:ln w="9525">
              <a:noFill/>
              <a:miter lim="800000"/>
              <a:headEnd/>
              <a:tailEnd/>
            </a:ln>
          </p:spPr>
          <p:txBody>
            <a:bodyPr wrap="none">
              <a:spAutoFit/>
            </a:bodyPr>
            <a:lstStyle/>
            <a:p>
              <a:pPr>
                <a:defRPr/>
              </a:pPr>
              <a:r>
                <a:rPr lang="en-US" altLang="zh-TW" sz="2000" dirty="0">
                  <a:latin typeface="+mn-lt"/>
                </a:rPr>
                <a:t>All activities concurrent but reside in different states</a:t>
              </a:r>
            </a:p>
          </p:txBody>
        </p:sp>
      </p:grpSp>
      <p:sp>
        <p:nvSpPr>
          <p:cNvPr id="27652"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7513FDBB-9B1D-4887-AD8E-7112557536A6}" type="slidenum">
              <a:rPr lang="en-US" altLang="en-US" sz="1200">
                <a:solidFill>
                  <a:srgbClr val="A6A6A6"/>
                </a:solidFill>
              </a:rPr>
              <a:pPr algn="r" eaLnBrk="1" hangingPunct="1">
                <a:spcBef>
                  <a:spcPct val="0"/>
                </a:spcBef>
                <a:buClrTx/>
                <a:buSzTx/>
                <a:buFontTx/>
                <a:buNone/>
              </a:pPr>
              <a:t>18</a:t>
            </a:fld>
            <a:endParaRPr lang="en-US" altLang="en-US" sz="1200">
              <a:solidFill>
                <a:srgbClr val="A6A6A6"/>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bwMode="auto">
          <a:xfrm>
            <a:off x="0" y="228600"/>
            <a:ext cx="8229600" cy="495300"/>
          </a:xfrm>
        </p:spPr>
        <p:txBody>
          <a:bodyPr anchor="t"/>
          <a:lstStyle/>
          <a:p>
            <a:pPr eaLnBrk="1" hangingPunct="1"/>
            <a:r>
              <a:rPr lang="en-US" altLang="en-US" sz="3200">
                <a:latin typeface="Open Sans"/>
                <a:ea typeface="Open Sans"/>
                <a:cs typeface="Open Sans"/>
              </a:rPr>
              <a:t>   Testing in Concurrent Model</a:t>
            </a:r>
          </a:p>
        </p:txBody>
      </p:sp>
      <p:sp>
        <p:nvSpPr>
          <p:cNvPr id="28675" name="Rectangle 3"/>
          <p:cNvSpPr txBox="1">
            <a:spLocks noChangeArrowheads="1"/>
          </p:cNvSpPr>
          <p:nvPr/>
        </p:nvSpPr>
        <p:spPr bwMode="auto">
          <a:xfrm>
            <a:off x="838200" y="1047750"/>
            <a:ext cx="80772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457200">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defTabSz="45720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342900" indent="-342900" defTabSz="4572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defTabSz="4572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defTabSz="4572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defTabSz="4572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defTabSz="4572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defTabSz="4572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defTabSz="4572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lvl="2" algn="just" eaLnBrk="1" hangingPunct="1">
              <a:lnSpc>
                <a:spcPct val="90000"/>
              </a:lnSpc>
              <a:spcBef>
                <a:spcPts val="600"/>
              </a:spcBef>
              <a:spcAft>
                <a:spcPts val="600"/>
              </a:spcAft>
            </a:pPr>
            <a:r>
              <a:rPr lang="en-US" altLang="en-US" sz="1800">
                <a:solidFill>
                  <a:schemeClr val="tx1"/>
                </a:solidFill>
                <a:latin typeface="Arial" pitchFamily="34" charset="0"/>
                <a:cs typeface="Arial" pitchFamily="34" charset="0"/>
              </a:rPr>
              <a:t>Planning is concurrent to design; design is concurrent to development—everything is happening at the same time.</a:t>
            </a:r>
          </a:p>
          <a:p>
            <a:pPr lvl="2" algn="just" eaLnBrk="1" hangingPunct="1">
              <a:lnSpc>
                <a:spcPct val="90000"/>
              </a:lnSpc>
              <a:spcBef>
                <a:spcPts val="600"/>
              </a:spcBef>
              <a:spcAft>
                <a:spcPts val="600"/>
              </a:spcAft>
            </a:pPr>
            <a:r>
              <a:rPr lang="en-US" altLang="en-US" sz="1800">
                <a:solidFill>
                  <a:schemeClr val="tx1"/>
                </a:solidFill>
                <a:latin typeface="Arial" pitchFamily="34" charset="0"/>
                <a:cs typeface="Arial" pitchFamily="34" charset="0"/>
              </a:rPr>
              <a:t>The whole project is not well planned or well structured.</a:t>
            </a:r>
          </a:p>
          <a:p>
            <a:pPr lvl="2" algn="just" eaLnBrk="1" hangingPunct="1">
              <a:lnSpc>
                <a:spcPct val="90000"/>
              </a:lnSpc>
              <a:spcBef>
                <a:spcPts val="600"/>
              </a:spcBef>
              <a:spcAft>
                <a:spcPts val="600"/>
              </a:spcAft>
            </a:pPr>
            <a:r>
              <a:rPr lang="en-US" altLang="en-US" sz="1800">
                <a:solidFill>
                  <a:schemeClr val="tx1"/>
                </a:solidFill>
                <a:latin typeface="Arial" pitchFamily="34" charset="0"/>
                <a:cs typeface="Arial" pitchFamily="34" charset="0"/>
              </a:rPr>
              <a:t>Planning, design and development are most dynamic. Product is in constant change. Very difficult to test; impossible to effectively plan testing project.</a:t>
            </a:r>
          </a:p>
          <a:p>
            <a:pPr lvl="2" algn="just" eaLnBrk="1" hangingPunct="1">
              <a:lnSpc>
                <a:spcPct val="90000"/>
              </a:lnSpc>
              <a:spcBef>
                <a:spcPts val="600"/>
              </a:spcBef>
              <a:spcAft>
                <a:spcPts val="600"/>
              </a:spcAft>
            </a:pPr>
            <a:r>
              <a:rPr lang="en-US" altLang="en-US" sz="1800">
                <a:solidFill>
                  <a:schemeClr val="tx1"/>
                </a:solidFill>
                <a:latin typeface="Arial" pitchFamily="34" charset="0"/>
                <a:cs typeface="Arial" pitchFamily="34" charset="0"/>
              </a:rPr>
              <a:t>Often no documentation to test against. Testing is ad hoc.</a:t>
            </a:r>
          </a:p>
          <a:p>
            <a:pPr lvl="2" algn="just" eaLnBrk="1" hangingPunct="1">
              <a:lnSpc>
                <a:spcPct val="90000"/>
              </a:lnSpc>
              <a:spcBef>
                <a:spcPts val="600"/>
              </a:spcBef>
              <a:spcAft>
                <a:spcPts val="600"/>
              </a:spcAft>
            </a:pPr>
            <a:r>
              <a:rPr lang="en-US" altLang="en-US" sz="1800">
                <a:solidFill>
                  <a:schemeClr val="tx1"/>
                </a:solidFill>
                <a:latin typeface="Arial" pitchFamily="34" charset="0"/>
                <a:cs typeface="Arial" pitchFamily="34" charset="0"/>
              </a:rPr>
              <a:t>Coverage usually cannot be measured. Structured regression testing is impossible.</a:t>
            </a:r>
          </a:p>
          <a:p>
            <a:pPr lvl="2" algn="just" eaLnBrk="1" hangingPunct="1">
              <a:lnSpc>
                <a:spcPct val="90000"/>
              </a:lnSpc>
              <a:spcBef>
                <a:spcPts val="600"/>
              </a:spcBef>
              <a:spcAft>
                <a:spcPts val="600"/>
              </a:spcAft>
            </a:pPr>
            <a:r>
              <a:rPr lang="en-US" altLang="en-US" sz="1800">
                <a:solidFill>
                  <a:schemeClr val="tx1"/>
                </a:solidFill>
                <a:latin typeface="Arial" pitchFamily="34" charset="0"/>
                <a:cs typeface="Arial" pitchFamily="34" charset="0"/>
              </a:rPr>
              <a:t>Bugs will be missed because of so much change and so little planning. </a:t>
            </a:r>
          </a:p>
          <a:p>
            <a:pPr lvl="2" algn="just" eaLnBrk="1" hangingPunct="1">
              <a:lnSpc>
                <a:spcPct val="90000"/>
              </a:lnSpc>
              <a:spcBef>
                <a:spcPts val="600"/>
              </a:spcBef>
              <a:spcAft>
                <a:spcPts val="600"/>
              </a:spcAft>
            </a:pPr>
            <a:r>
              <a:rPr lang="en-US" altLang="en-US" sz="1800">
                <a:solidFill>
                  <a:schemeClr val="tx1"/>
                </a:solidFill>
                <a:latin typeface="Arial" pitchFamily="34" charset="0"/>
                <a:cs typeface="Arial" pitchFamily="34" charset="0"/>
              </a:rPr>
              <a:t>Risk analysis and reporting is crucial.</a:t>
            </a:r>
          </a:p>
        </p:txBody>
      </p:sp>
      <p:sp>
        <p:nvSpPr>
          <p:cNvPr id="28676"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0E326ECC-C021-42AE-8184-8187E011865D}" type="slidenum">
              <a:rPr lang="en-US" altLang="en-US" sz="1200">
                <a:solidFill>
                  <a:srgbClr val="A6A6A6"/>
                </a:solidFill>
              </a:rPr>
              <a:pPr algn="r" eaLnBrk="1" hangingPunct="1">
                <a:spcBef>
                  <a:spcPct val="0"/>
                </a:spcBef>
                <a:buClrTx/>
                <a:buSzTx/>
                <a:buFontTx/>
                <a:buNone/>
              </a:pPr>
              <a:t>19</a:t>
            </a:fld>
            <a:endParaRPr lang="en-US" altLang="en-US" sz="1200">
              <a:solidFill>
                <a:srgbClr val="A6A6A6"/>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bwMode="auto">
          <a:xfrm>
            <a:off x="0" y="171450"/>
            <a:ext cx="8229600" cy="531813"/>
          </a:xfrm>
        </p:spPr>
        <p:txBody>
          <a:bodyPr anchor="t"/>
          <a:lstStyle/>
          <a:p>
            <a:pPr eaLnBrk="1" hangingPunct="1"/>
            <a:r>
              <a:rPr lang="en-US" altLang="en-US" sz="3200">
                <a:latin typeface="Open Sans"/>
                <a:ea typeface="Open Sans"/>
                <a:cs typeface="Open Sans"/>
              </a:rPr>
              <a:t>   SDLC and Testing</a:t>
            </a:r>
          </a:p>
        </p:txBody>
      </p:sp>
      <p:sp>
        <p:nvSpPr>
          <p:cNvPr id="29699" name="Rectangle 3"/>
          <p:cNvSpPr>
            <a:spLocks noGrp="1" noChangeArrowheads="1"/>
          </p:cNvSpPr>
          <p:nvPr>
            <p:ph idx="1"/>
          </p:nvPr>
        </p:nvSpPr>
        <p:spPr>
          <a:xfrm>
            <a:off x="838200" y="1158875"/>
            <a:ext cx="7162800" cy="3394075"/>
          </a:xfrm>
        </p:spPr>
        <p:txBody>
          <a:bodyPr/>
          <a:lstStyle/>
          <a:p>
            <a:pPr eaLnBrk="1" hangingPunct="1">
              <a:lnSpc>
                <a:spcPct val="90000"/>
              </a:lnSpc>
              <a:buFontTx/>
              <a:buNone/>
            </a:pPr>
            <a:r>
              <a:rPr lang="en-US" altLang="en-US">
                <a:solidFill>
                  <a:schemeClr val="tx1"/>
                </a:solidFill>
                <a:latin typeface="Arial" pitchFamily="34" charset="0"/>
                <a:cs typeface="Arial" pitchFamily="34" charset="0"/>
              </a:rPr>
              <a:t>1.1- SDLC and Testing</a:t>
            </a:r>
          </a:p>
          <a:p>
            <a:pPr eaLnBrk="1" hangingPunct="1">
              <a:lnSpc>
                <a:spcPct val="90000"/>
              </a:lnSpc>
              <a:buFontTx/>
              <a:buNone/>
            </a:pPr>
            <a:r>
              <a:rPr lang="en-US" altLang="en-US">
                <a:solidFill>
                  <a:schemeClr val="tx1"/>
                </a:solidFill>
                <a:latin typeface="Arial" pitchFamily="34" charset="0"/>
                <a:cs typeface="Arial" pitchFamily="34" charset="0"/>
              </a:rPr>
              <a:t>1.2- Waterfall Model</a:t>
            </a:r>
          </a:p>
          <a:p>
            <a:pPr eaLnBrk="1" hangingPunct="1">
              <a:lnSpc>
                <a:spcPct val="90000"/>
              </a:lnSpc>
              <a:buFontTx/>
              <a:buNone/>
            </a:pPr>
            <a:r>
              <a:rPr lang="en-US" altLang="en-US">
                <a:solidFill>
                  <a:schemeClr val="tx1"/>
                </a:solidFill>
                <a:latin typeface="Arial" pitchFamily="34" charset="0"/>
                <a:cs typeface="Arial" pitchFamily="34" charset="0"/>
              </a:rPr>
              <a:t>1.3- Spiral Model</a:t>
            </a:r>
          </a:p>
          <a:p>
            <a:pPr eaLnBrk="1" hangingPunct="1">
              <a:lnSpc>
                <a:spcPct val="90000"/>
              </a:lnSpc>
              <a:buFontTx/>
              <a:buNone/>
            </a:pPr>
            <a:r>
              <a:rPr lang="en-US" altLang="en-US">
                <a:solidFill>
                  <a:schemeClr val="tx1"/>
                </a:solidFill>
                <a:latin typeface="Arial" pitchFamily="34" charset="0"/>
                <a:cs typeface="Arial" pitchFamily="34" charset="0"/>
              </a:rPr>
              <a:t>1.4- V-Model</a:t>
            </a:r>
          </a:p>
          <a:p>
            <a:pPr eaLnBrk="1" hangingPunct="1">
              <a:lnSpc>
                <a:spcPct val="90000"/>
              </a:lnSpc>
              <a:buFontTx/>
              <a:buNone/>
            </a:pPr>
            <a:r>
              <a:rPr lang="en-US" altLang="en-US">
                <a:solidFill>
                  <a:schemeClr val="tx1"/>
                </a:solidFill>
                <a:latin typeface="Arial" pitchFamily="34" charset="0"/>
                <a:cs typeface="Arial" pitchFamily="34" charset="0"/>
              </a:rPr>
              <a:t>1.5- Concurrent Model</a:t>
            </a:r>
          </a:p>
          <a:p>
            <a:pPr eaLnBrk="1" hangingPunct="1">
              <a:lnSpc>
                <a:spcPct val="90000"/>
              </a:lnSpc>
              <a:buFontTx/>
              <a:buNone/>
            </a:pPr>
            <a:r>
              <a:rPr lang="en-US" altLang="en-US" b="1">
                <a:solidFill>
                  <a:srgbClr val="000099"/>
                </a:solidFill>
                <a:latin typeface="Arial" pitchFamily="34" charset="0"/>
                <a:cs typeface="Arial" pitchFamily="34" charset="0"/>
              </a:rPr>
              <a:t>1.6- Agile Model</a:t>
            </a:r>
          </a:p>
          <a:p>
            <a:pPr eaLnBrk="1" hangingPunct="1">
              <a:lnSpc>
                <a:spcPct val="90000"/>
              </a:lnSpc>
              <a:buFontTx/>
              <a:buNone/>
            </a:pPr>
            <a:r>
              <a:rPr lang="en-US" altLang="en-US">
                <a:solidFill>
                  <a:schemeClr val="tx1"/>
                </a:solidFill>
                <a:latin typeface="Arial" pitchFamily="34" charset="0"/>
                <a:cs typeface="Arial" pitchFamily="34" charset="0"/>
              </a:rPr>
              <a:t>1.7- Other SDLC Models</a:t>
            </a:r>
          </a:p>
          <a:p>
            <a:pPr eaLnBrk="1" hangingPunct="1">
              <a:lnSpc>
                <a:spcPct val="90000"/>
              </a:lnSpc>
              <a:buFontTx/>
              <a:buNone/>
            </a:pPr>
            <a:r>
              <a:rPr lang="en-US" altLang="en-US">
                <a:solidFill>
                  <a:schemeClr val="tx1"/>
                </a:solidFill>
                <a:latin typeface="Arial" pitchFamily="34" charset="0"/>
                <a:cs typeface="Arial" pitchFamily="34" charset="0"/>
              </a:rPr>
              <a:t>1.8- Testing Phases and Milestones</a:t>
            </a:r>
          </a:p>
          <a:p>
            <a:pPr eaLnBrk="1" hangingPunct="1">
              <a:lnSpc>
                <a:spcPct val="90000"/>
              </a:lnSpc>
              <a:buFont typeface="Arial" pitchFamily="34" charset="0"/>
              <a:buNone/>
            </a:pPr>
            <a:r>
              <a:rPr lang="en-US" altLang="en-US">
                <a:solidFill>
                  <a:schemeClr val="tx1"/>
                </a:solidFill>
                <a:latin typeface="Arial" pitchFamily="34" charset="0"/>
                <a:cs typeface="Arial" pitchFamily="34" charset="0"/>
              </a:rPr>
              <a:t>1.9- DevOps and CI/CD</a:t>
            </a:r>
          </a:p>
        </p:txBody>
      </p:sp>
      <p:sp>
        <p:nvSpPr>
          <p:cNvPr id="29700"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60CCBF0F-2531-44FA-A3B3-4C4F48E0EF38}" type="slidenum">
              <a:rPr lang="en-US" altLang="en-US" sz="1200">
                <a:solidFill>
                  <a:srgbClr val="A6A6A6"/>
                </a:solidFill>
              </a:rPr>
              <a:pPr algn="r" eaLnBrk="1" hangingPunct="1">
                <a:spcBef>
                  <a:spcPct val="0"/>
                </a:spcBef>
                <a:buClrTx/>
                <a:buSzTx/>
                <a:buFontTx/>
                <a:buNone/>
              </a:pPr>
              <a:t>20</a:t>
            </a:fld>
            <a:endParaRPr lang="en-US" altLang="en-US" sz="1200">
              <a:solidFill>
                <a:srgbClr val="A6A6A6"/>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bwMode="auto">
          <a:xfrm>
            <a:off x="0" y="171450"/>
            <a:ext cx="8229600" cy="531813"/>
          </a:xfrm>
        </p:spPr>
        <p:txBody>
          <a:bodyPr anchor="t"/>
          <a:lstStyle/>
          <a:p>
            <a:pPr eaLnBrk="1" hangingPunct="1"/>
            <a:r>
              <a:rPr lang="en-US" altLang="en-US" sz="3200">
                <a:latin typeface="Open Sans"/>
                <a:ea typeface="Open Sans"/>
                <a:cs typeface="Open Sans"/>
              </a:rPr>
              <a:t>   Agile Model</a:t>
            </a:r>
          </a:p>
        </p:txBody>
      </p:sp>
      <p:sp>
        <p:nvSpPr>
          <p:cNvPr id="31749" name="Content Placeholder 2"/>
          <p:cNvSpPr>
            <a:spLocks noGrp="1"/>
          </p:cNvSpPr>
          <p:nvPr>
            <p:ph idx="1"/>
          </p:nvPr>
        </p:nvSpPr>
        <p:spPr>
          <a:xfrm>
            <a:off x="838200" y="1076325"/>
            <a:ext cx="7848600" cy="2562225"/>
          </a:xfrm>
        </p:spPr>
        <p:txBody>
          <a:bodyPr rtlCol="0">
            <a:noAutofit/>
          </a:bodyPr>
          <a:lstStyle/>
          <a:p>
            <a:pPr marL="0" lvl="2" indent="0" algn="just" eaLnBrk="1" hangingPunct="1">
              <a:lnSpc>
                <a:spcPct val="90000"/>
              </a:lnSpc>
              <a:spcBef>
                <a:spcPts val="600"/>
              </a:spcBef>
              <a:spcAft>
                <a:spcPts val="600"/>
              </a:spcAft>
              <a:buFont typeface="Wingdings 3" pitchFamily="18" charset="2"/>
              <a:buNone/>
              <a:defRPr/>
            </a:pPr>
            <a:r>
              <a:rPr lang="en-US" altLang="en-US" sz="1800" b="1" dirty="0">
                <a:solidFill>
                  <a:schemeClr val="tx1"/>
                </a:solidFill>
                <a:latin typeface="Arial" pitchFamily="34" charset="0"/>
                <a:cs typeface="Arial" pitchFamily="34" charset="0"/>
              </a:rPr>
              <a:t>Key principles of Agile:</a:t>
            </a:r>
          </a:p>
          <a:p>
            <a:pPr marL="342900" lvl="2" indent="-342900" algn="just" eaLnBrk="1" hangingPunct="1">
              <a:lnSpc>
                <a:spcPct val="90000"/>
              </a:lnSpc>
              <a:spcBef>
                <a:spcPts val="600"/>
              </a:spcBef>
              <a:spcAft>
                <a:spcPts val="600"/>
              </a:spcAft>
              <a:defRPr/>
            </a:pPr>
            <a:r>
              <a:rPr lang="en-US" altLang="en-US" sz="1800" dirty="0">
                <a:solidFill>
                  <a:schemeClr val="tx1"/>
                </a:solidFill>
                <a:latin typeface="Arial" pitchFamily="34" charset="0"/>
                <a:cs typeface="Arial" pitchFamily="34" charset="0"/>
              </a:rPr>
              <a:t>Top priority is customer satisfaction</a:t>
            </a:r>
          </a:p>
          <a:p>
            <a:pPr marL="342900" lvl="2" indent="-342900" algn="just" eaLnBrk="1" hangingPunct="1">
              <a:lnSpc>
                <a:spcPct val="90000"/>
              </a:lnSpc>
              <a:spcBef>
                <a:spcPts val="600"/>
              </a:spcBef>
              <a:spcAft>
                <a:spcPts val="600"/>
              </a:spcAft>
              <a:defRPr/>
            </a:pPr>
            <a:r>
              <a:rPr lang="en-US" altLang="en-US" sz="1800" dirty="0">
                <a:solidFill>
                  <a:schemeClr val="tx1"/>
                </a:solidFill>
                <a:latin typeface="Arial" pitchFamily="34" charset="0"/>
                <a:cs typeface="Arial" pitchFamily="34" charset="0"/>
              </a:rPr>
              <a:t>Welcome changing requirements, even late in the project</a:t>
            </a:r>
          </a:p>
          <a:p>
            <a:pPr marL="342900" lvl="2" indent="-342900" algn="just" eaLnBrk="1" hangingPunct="1">
              <a:lnSpc>
                <a:spcPct val="90000"/>
              </a:lnSpc>
              <a:spcBef>
                <a:spcPts val="600"/>
              </a:spcBef>
              <a:spcAft>
                <a:spcPts val="600"/>
              </a:spcAft>
              <a:defRPr/>
            </a:pPr>
            <a:r>
              <a:rPr lang="en-US" altLang="en-US" sz="1800" dirty="0">
                <a:solidFill>
                  <a:schemeClr val="tx1"/>
                </a:solidFill>
                <a:latin typeface="Arial" pitchFamily="34" charset="0"/>
                <a:cs typeface="Arial" pitchFamily="34" charset="0"/>
              </a:rPr>
              <a:t>Deliver working software frequently</a:t>
            </a:r>
          </a:p>
          <a:p>
            <a:pPr marL="342900" lvl="2" indent="-342900" algn="just" eaLnBrk="1" hangingPunct="1">
              <a:lnSpc>
                <a:spcPct val="90000"/>
              </a:lnSpc>
              <a:spcBef>
                <a:spcPts val="600"/>
              </a:spcBef>
              <a:spcAft>
                <a:spcPts val="600"/>
              </a:spcAft>
              <a:defRPr/>
            </a:pPr>
            <a:r>
              <a:rPr lang="en-US" altLang="en-US" sz="1800" dirty="0">
                <a:solidFill>
                  <a:schemeClr val="tx1"/>
                </a:solidFill>
                <a:latin typeface="Arial" pitchFamily="34" charset="0"/>
                <a:cs typeface="Arial" pitchFamily="34" charset="0"/>
              </a:rPr>
              <a:t>Business and development people should work together daily</a:t>
            </a:r>
          </a:p>
          <a:p>
            <a:pPr marL="342900" lvl="2" indent="-342900" algn="just" eaLnBrk="1" hangingPunct="1">
              <a:lnSpc>
                <a:spcPct val="90000"/>
              </a:lnSpc>
              <a:spcBef>
                <a:spcPts val="600"/>
              </a:spcBef>
              <a:spcAft>
                <a:spcPts val="600"/>
              </a:spcAft>
              <a:defRPr/>
            </a:pPr>
            <a:r>
              <a:rPr lang="en-US" altLang="en-US" sz="1800" dirty="0">
                <a:solidFill>
                  <a:schemeClr val="tx1"/>
                </a:solidFill>
                <a:latin typeface="Arial" pitchFamily="34" charset="0"/>
                <a:cs typeface="Arial" pitchFamily="34" charset="0"/>
              </a:rPr>
              <a:t>Communicate face-to-face, whenever possible</a:t>
            </a:r>
          </a:p>
          <a:p>
            <a:pPr marL="342900" lvl="2" indent="-342900" algn="just" eaLnBrk="1" hangingPunct="1">
              <a:lnSpc>
                <a:spcPct val="90000"/>
              </a:lnSpc>
              <a:spcBef>
                <a:spcPts val="600"/>
              </a:spcBef>
              <a:spcAft>
                <a:spcPts val="600"/>
              </a:spcAft>
              <a:defRPr/>
            </a:pPr>
            <a:r>
              <a:rPr lang="en-US" altLang="en-US" sz="1800" dirty="0">
                <a:solidFill>
                  <a:schemeClr val="tx1"/>
                </a:solidFill>
                <a:latin typeface="Arial" pitchFamily="34" charset="0"/>
                <a:cs typeface="Arial" pitchFamily="34" charset="0"/>
              </a:rPr>
              <a:t>Working software is the primary measure of progress</a:t>
            </a:r>
          </a:p>
          <a:p>
            <a:pPr marL="342900" lvl="2" indent="-342900" algn="just" eaLnBrk="1" hangingPunct="1">
              <a:lnSpc>
                <a:spcPct val="90000"/>
              </a:lnSpc>
              <a:spcBef>
                <a:spcPts val="600"/>
              </a:spcBef>
              <a:spcAft>
                <a:spcPts val="600"/>
              </a:spcAft>
              <a:defRPr/>
            </a:pPr>
            <a:r>
              <a:rPr lang="en-US" altLang="en-US" sz="1800" dirty="0">
                <a:solidFill>
                  <a:schemeClr val="tx1"/>
                </a:solidFill>
                <a:latin typeface="Arial" pitchFamily="34" charset="0"/>
                <a:cs typeface="Arial" pitchFamily="34" charset="0"/>
              </a:rPr>
              <a:t>Teams constantly reflect on how to improve their processes </a:t>
            </a:r>
            <a:r>
              <a:rPr lang="en-US" altLang="en-US" sz="1800">
                <a:solidFill>
                  <a:schemeClr val="tx1"/>
                </a:solidFill>
                <a:latin typeface="Arial" pitchFamily="34" charset="0"/>
                <a:cs typeface="Arial" pitchFamily="34" charset="0"/>
              </a:rPr>
              <a:t>and methods</a:t>
            </a:r>
            <a:endParaRPr lang="en-US" altLang="en-US" sz="1800" dirty="0">
              <a:solidFill>
                <a:schemeClr val="tx1"/>
              </a:solidFill>
              <a:latin typeface="Arial" pitchFamily="34" charset="0"/>
              <a:cs typeface="Arial" pitchFamily="34" charset="0"/>
            </a:endParaRPr>
          </a:p>
          <a:p>
            <a:pPr marL="0" indent="0" algn="r" eaLnBrk="1" fontAlgn="auto" hangingPunct="1">
              <a:spcBef>
                <a:spcPts val="0"/>
              </a:spcBef>
              <a:spcAft>
                <a:spcPts val="0"/>
              </a:spcAft>
              <a:buFont typeface="Arial" charset="0"/>
              <a:buNone/>
              <a:defRPr/>
            </a:pPr>
            <a:r>
              <a:rPr lang="en-US" altLang="en-US" sz="1100" i="1" dirty="0">
                <a:solidFill>
                  <a:schemeClr val="tx1"/>
                </a:solidFill>
                <a:latin typeface="Arial" charset="0"/>
                <a:cs typeface="Arial" charset="0"/>
              </a:rPr>
              <a:t>(From http://www.agilemanifesto.org/principles.html)</a:t>
            </a:r>
          </a:p>
          <a:p>
            <a:pPr eaLnBrk="1" fontAlgn="auto" hangingPunct="1">
              <a:spcAft>
                <a:spcPts val="0"/>
              </a:spcAft>
              <a:buFont typeface="Wingdings 3" charset="2"/>
              <a:buChar char=""/>
              <a:defRPr/>
            </a:pPr>
            <a:endParaRPr lang="en-US" altLang="en-US" dirty="0">
              <a:solidFill>
                <a:schemeClr val="tx1"/>
              </a:solidFill>
              <a:latin typeface="Arial" charset="0"/>
              <a:cs typeface="Arial" charset="0"/>
            </a:endParaRPr>
          </a:p>
        </p:txBody>
      </p:sp>
      <p:sp>
        <p:nvSpPr>
          <p:cNvPr id="30724"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B1048F29-F451-4B68-BA36-F7CCAC158DF1}" type="slidenum">
              <a:rPr lang="en-US" altLang="en-US" sz="1200">
                <a:solidFill>
                  <a:srgbClr val="A6A6A6"/>
                </a:solidFill>
              </a:rPr>
              <a:pPr algn="r" eaLnBrk="1" hangingPunct="1">
                <a:spcBef>
                  <a:spcPct val="0"/>
                </a:spcBef>
                <a:buClrTx/>
                <a:buSzTx/>
                <a:buFontTx/>
                <a:buNone/>
              </a:pPr>
              <a:t>21</a:t>
            </a:fld>
            <a:endParaRPr lang="en-US" altLang="en-US" sz="1200">
              <a:solidFill>
                <a:srgbClr val="A6A6A6"/>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bwMode="auto">
          <a:xfrm>
            <a:off x="0" y="171450"/>
            <a:ext cx="8229600" cy="531813"/>
          </a:xfrm>
        </p:spPr>
        <p:txBody>
          <a:bodyPr anchor="t"/>
          <a:lstStyle/>
          <a:p>
            <a:pPr eaLnBrk="1" hangingPunct="1"/>
            <a:r>
              <a:rPr lang="en-US" altLang="en-US" sz="3200">
                <a:latin typeface="Open Sans"/>
                <a:ea typeface="Open Sans"/>
                <a:cs typeface="Open Sans"/>
              </a:rPr>
              <a:t>   Agile Model</a:t>
            </a:r>
          </a:p>
        </p:txBody>
      </p:sp>
      <p:pic>
        <p:nvPicPr>
          <p:cNvPr id="31747" name="Picture_x0020_4" descr="image0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047750"/>
            <a:ext cx="72390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A43B64F3-7BDB-4FCD-AF61-AF930AEEB016}" type="slidenum">
              <a:rPr lang="en-US" altLang="en-US" sz="1200">
                <a:solidFill>
                  <a:srgbClr val="A6A6A6"/>
                </a:solidFill>
              </a:rPr>
              <a:pPr algn="r" eaLnBrk="1" hangingPunct="1">
                <a:spcBef>
                  <a:spcPct val="0"/>
                </a:spcBef>
                <a:buClrTx/>
                <a:buSzTx/>
                <a:buFontTx/>
                <a:buNone/>
              </a:pPr>
              <a:t>22</a:t>
            </a:fld>
            <a:endParaRPr lang="en-US" altLang="en-US" sz="1200">
              <a:solidFill>
                <a:srgbClr val="A6A6A6"/>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bwMode="auto">
          <a:xfrm>
            <a:off x="0" y="171450"/>
            <a:ext cx="8229600" cy="531813"/>
          </a:xfrm>
        </p:spPr>
        <p:txBody>
          <a:bodyPr/>
          <a:lstStyle/>
          <a:p>
            <a:pPr eaLnBrk="1" hangingPunct="1"/>
            <a:r>
              <a:rPr lang="en-US" altLang="en-US" sz="3200">
                <a:latin typeface="Open Sans"/>
                <a:ea typeface="Open Sans"/>
                <a:cs typeface="Open Sans"/>
              </a:rPr>
              <a:t>   Agile Model</a:t>
            </a:r>
          </a:p>
        </p:txBody>
      </p:sp>
      <p:sp>
        <p:nvSpPr>
          <p:cNvPr id="33795" name="Content Placeholder 2"/>
          <p:cNvSpPr>
            <a:spLocks noGrp="1"/>
          </p:cNvSpPr>
          <p:nvPr>
            <p:ph idx="1"/>
          </p:nvPr>
        </p:nvSpPr>
        <p:spPr>
          <a:xfrm>
            <a:off x="838200" y="1123950"/>
            <a:ext cx="7848600" cy="3394075"/>
          </a:xfrm>
        </p:spPr>
        <p:txBody>
          <a:bodyPr/>
          <a:lstStyle/>
          <a:p>
            <a:pPr marL="0" lvl="2" indent="0" algn="just" eaLnBrk="1" hangingPunct="1">
              <a:spcBef>
                <a:spcPts val="600"/>
              </a:spcBef>
              <a:spcAft>
                <a:spcPts val="600"/>
              </a:spcAft>
              <a:buFont typeface="Wingdings 3" pitchFamily="18" charset="2"/>
              <a:buNone/>
              <a:defRPr/>
            </a:pPr>
            <a:r>
              <a:rPr lang="en-US" altLang="en-US" sz="1800" b="1">
                <a:solidFill>
                  <a:schemeClr val="tx1"/>
                </a:solidFill>
                <a:latin typeface="Arial" pitchFamily="34" charset="0"/>
                <a:cs typeface="Arial" pitchFamily="34" charset="0"/>
              </a:rPr>
              <a:t>What is User Story?</a:t>
            </a:r>
          </a:p>
          <a:p>
            <a:pPr marL="342900" lvl="2" indent="-342900" algn="just" eaLnBrk="1" hangingPunct="1">
              <a:spcBef>
                <a:spcPts val="600"/>
              </a:spcBef>
              <a:spcAft>
                <a:spcPts val="600"/>
              </a:spcAft>
              <a:defRPr/>
            </a:pPr>
            <a:r>
              <a:rPr lang="en-US" altLang="en-US" sz="1800">
                <a:solidFill>
                  <a:schemeClr val="tx1"/>
                </a:solidFill>
                <a:latin typeface="Arial" pitchFamily="34" charset="0"/>
                <a:cs typeface="Arial" pitchFamily="34" charset="0"/>
              </a:rPr>
              <a:t>User Story is a story about how the system is supposed to solve a problem or support a business process</a:t>
            </a:r>
          </a:p>
          <a:p>
            <a:pPr marL="342900" lvl="2" indent="-342900" algn="just" eaLnBrk="1" hangingPunct="1">
              <a:spcBef>
                <a:spcPts val="600"/>
              </a:spcBef>
              <a:spcAft>
                <a:spcPts val="600"/>
              </a:spcAft>
              <a:defRPr/>
            </a:pPr>
            <a:r>
              <a:rPr lang="en-US" altLang="en-US" sz="1800">
                <a:solidFill>
                  <a:schemeClr val="tx1"/>
                </a:solidFill>
                <a:latin typeface="Arial" pitchFamily="34" charset="0"/>
                <a:cs typeface="Arial" pitchFamily="34" charset="0"/>
              </a:rPr>
              <a:t>A user story is a very high-level definition of a requirement, containing just enough information collected from client so that the developers can implement it.</a:t>
            </a:r>
          </a:p>
          <a:p>
            <a:pPr marL="342900" lvl="2" indent="-342900" algn="just" eaLnBrk="1" hangingPunct="1">
              <a:spcBef>
                <a:spcPts val="600"/>
              </a:spcBef>
              <a:spcAft>
                <a:spcPts val="600"/>
              </a:spcAft>
              <a:defRPr/>
            </a:pPr>
            <a:r>
              <a:rPr lang="en-US" altLang="en-US" sz="1800">
                <a:solidFill>
                  <a:schemeClr val="tx1"/>
                </a:solidFill>
                <a:latin typeface="Arial" pitchFamily="34" charset="0"/>
                <a:cs typeface="Arial" pitchFamily="34" charset="0"/>
              </a:rPr>
              <a:t>User stories are simple enough that people can understand easily</a:t>
            </a:r>
          </a:p>
          <a:p>
            <a:pPr marL="342900" lvl="2" indent="-342900" algn="just" eaLnBrk="1" hangingPunct="1">
              <a:spcBef>
                <a:spcPts val="600"/>
              </a:spcBef>
              <a:spcAft>
                <a:spcPts val="600"/>
              </a:spcAft>
              <a:defRPr/>
            </a:pPr>
            <a:r>
              <a:rPr lang="en-US" altLang="en-US" sz="1800">
                <a:solidFill>
                  <a:schemeClr val="tx1"/>
                </a:solidFill>
                <a:latin typeface="Arial" pitchFamily="34" charset="0"/>
                <a:cs typeface="Arial" pitchFamily="34" charset="0"/>
              </a:rPr>
              <a:t>Each User Story is written on a User Card (by collecting from client directly), stored in full documents or an ALM tool such as Rally, TFS or IBM Rational.</a:t>
            </a:r>
          </a:p>
        </p:txBody>
      </p:sp>
      <p:sp>
        <p:nvSpPr>
          <p:cNvPr id="32772"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CCEAA773-3C57-4F26-9F25-EA136F602F10}" type="slidenum">
              <a:rPr lang="en-US" altLang="en-US" sz="1200">
                <a:solidFill>
                  <a:srgbClr val="A6A6A6"/>
                </a:solidFill>
              </a:rPr>
              <a:pPr algn="r" eaLnBrk="1" hangingPunct="1">
                <a:spcBef>
                  <a:spcPct val="0"/>
                </a:spcBef>
                <a:buClrTx/>
                <a:buSzTx/>
                <a:buFontTx/>
                <a:buNone/>
              </a:pPr>
              <a:t>23</a:t>
            </a:fld>
            <a:endParaRPr lang="en-US" altLang="en-US" sz="1200">
              <a:solidFill>
                <a:srgbClr val="A6A6A6"/>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bwMode="auto">
          <a:xfrm>
            <a:off x="0" y="171450"/>
            <a:ext cx="8229600" cy="531813"/>
          </a:xfrm>
        </p:spPr>
        <p:txBody>
          <a:bodyPr/>
          <a:lstStyle/>
          <a:p>
            <a:pPr eaLnBrk="1" hangingPunct="1"/>
            <a:r>
              <a:rPr lang="en-US" altLang="en-US" sz="3200">
                <a:latin typeface="Open Sans"/>
                <a:ea typeface="Open Sans"/>
                <a:cs typeface="Open Sans"/>
              </a:rPr>
              <a:t>   Agile Model</a:t>
            </a:r>
          </a:p>
        </p:txBody>
      </p:sp>
      <p:sp>
        <p:nvSpPr>
          <p:cNvPr id="35843" name="Content Placeholder 2"/>
          <p:cNvSpPr>
            <a:spLocks noGrp="1"/>
          </p:cNvSpPr>
          <p:nvPr>
            <p:ph idx="1"/>
          </p:nvPr>
        </p:nvSpPr>
        <p:spPr>
          <a:xfrm>
            <a:off x="838200" y="1200150"/>
            <a:ext cx="7848600" cy="3394075"/>
          </a:xfrm>
        </p:spPr>
        <p:txBody>
          <a:bodyPr/>
          <a:lstStyle/>
          <a:p>
            <a:pPr marL="0" lvl="2" indent="0" algn="just" eaLnBrk="1" hangingPunct="1">
              <a:spcBef>
                <a:spcPts val="600"/>
              </a:spcBef>
              <a:spcAft>
                <a:spcPts val="600"/>
              </a:spcAft>
              <a:buFont typeface="Wingdings 3" pitchFamily="18" charset="2"/>
              <a:buNone/>
              <a:defRPr/>
            </a:pPr>
            <a:r>
              <a:rPr lang="en-US" altLang="en-US" sz="1800" b="1">
                <a:solidFill>
                  <a:schemeClr val="tx1"/>
                </a:solidFill>
                <a:latin typeface="Arial" pitchFamily="34" charset="0"/>
                <a:cs typeface="Arial" pitchFamily="34" charset="0"/>
              </a:rPr>
              <a:t>Acceptance Criteria</a:t>
            </a:r>
          </a:p>
          <a:p>
            <a:pPr marL="342900" lvl="2" indent="-342900" algn="just" eaLnBrk="1" hangingPunct="1">
              <a:spcBef>
                <a:spcPts val="600"/>
              </a:spcBef>
              <a:spcAft>
                <a:spcPts val="600"/>
              </a:spcAft>
              <a:defRPr/>
            </a:pPr>
            <a:r>
              <a:rPr lang="en-US" altLang="en-US" sz="1800">
                <a:solidFill>
                  <a:schemeClr val="tx1"/>
                </a:solidFill>
                <a:latin typeface="Arial" pitchFamily="34" charset="0"/>
                <a:cs typeface="Arial" pitchFamily="34" charset="0"/>
              </a:rPr>
              <a:t>An acceptance criterion is a set of accepted conditions or business rules which the functionality or feature should satisfy and meet, in order to be accepted by the Product Owner/Stakeholders.</a:t>
            </a:r>
          </a:p>
          <a:p>
            <a:pPr marL="342900" lvl="2" indent="-342900" algn="just" eaLnBrk="1" hangingPunct="1">
              <a:spcBef>
                <a:spcPts val="600"/>
              </a:spcBef>
              <a:spcAft>
                <a:spcPts val="600"/>
              </a:spcAft>
              <a:defRPr/>
            </a:pPr>
            <a:r>
              <a:rPr lang="en-US" altLang="en-US" sz="1800">
                <a:solidFill>
                  <a:schemeClr val="tx1"/>
                </a:solidFill>
                <a:latin typeface="Arial" pitchFamily="34" charset="0"/>
                <a:cs typeface="Arial" pitchFamily="34" charset="0"/>
              </a:rPr>
              <a:t>Acceptance criteria define the boundaries of a user story, and are used to confirm when a story is completed and working as intended.</a:t>
            </a:r>
          </a:p>
        </p:txBody>
      </p:sp>
      <p:sp>
        <p:nvSpPr>
          <p:cNvPr id="33796"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1711C0AD-0483-4200-AACA-35928B15D4B9}" type="slidenum">
              <a:rPr lang="en-US" altLang="en-US" sz="1200">
                <a:solidFill>
                  <a:srgbClr val="A6A6A6"/>
                </a:solidFill>
              </a:rPr>
              <a:pPr algn="r" eaLnBrk="1" hangingPunct="1">
                <a:spcBef>
                  <a:spcPct val="0"/>
                </a:spcBef>
                <a:buClrTx/>
                <a:buSzTx/>
                <a:buFontTx/>
                <a:buNone/>
              </a:pPr>
              <a:t>24</a:t>
            </a:fld>
            <a:endParaRPr lang="en-US" altLang="en-US" sz="1200">
              <a:solidFill>
                <a:srgbClr val="A6A6A6"/>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bwMode="auto">
          <a:xfrm>
            <a:off x="0" y="171450"/>
            <a:ext cx="8229600" cy="565150"/>
          </a:xfrm>
        </p:spPr>
        <p:txBody>
          <a:bodyPr anchor="t"/>
          <a:lstStyle/>
          <a:p>
            <a:pPr eaLnBrk="1" hangingPunct="1"/>
            <a:r>
              <a:rPr lang="en-US" altLang="en-US" sz="3200">
                <a:latin typeface="Open Sans"/>
                <a:ea typeface="Open Sans"/>
                <a:cs typeface="Open Sans"/>
              </a:rPr>
              <a:t>   Testing in Agile Model</a:t>
            </a:r>
          </a:p>
        </p:txBody>
      </p:sp>
      <p:sp>
        <p:nvSpPr>
          <p:cNvPr id="34819" name="Rectangle 3"/>
          <p:cNvSpPr>
            <a:spLocks noGrp="1" noChangeArrowheads="1"/>
          </p:cNvSpPr>
          <p:nvPr>
            <p:ph idx="1"/>
          </p:nvPr>
        </p:nvSpPr>
        <p:spPr>
          <a:xfrm>
            <a:off x="866775" y="1239838"/>
            <a:ext cx="7820025" cy="2562225"/>
          </a:xfrm>
        </p:spPr>
        <p:txBody>
          <a:bodyPr/>
          <a:lstStyle/>
          <a:p>
            <a:pPr marL="342900" lvl="2" indent="-342900" algn="just" eaLnBrk="1" hangingPunct="1">
              <a:spcBef>
                <a:spcPts val="600"/>
              </a:spcBef>
              <a:spcAft>
                <a:spcPts val="600"/>
              </a:spcAft>
            </a:pPr>
            <a:r>
              <a:rPr lang="en-US" altLang="en-US" sz="1800">
                <a:solidFill>
                  <a:schemeClr val="tx1"/>
                </a:solidFill>
                <a:latin typeface="Arial" pitchFamily="34" charset="0"/>
                <a:cs typeface="Arial" pitchFamily="34" charset="0"/>
              </a:rPr>
              <a:t>Delivery cycles are short. Development is very focused. Diagrams, use cases, user stories, index cards, or discussions of functionality serve as “documentation” to test against.</a:t>
            </a:r>
          </a:p>
          <a:p>
            <a:pPr marL="342900" lvl="2" indent="-342900" algn="just" eaLnBrk="1" hangingPunct="1">
              <a:spcBef>
                <a:spcPts val="600"/>
              </a:spcBef>
              <a:spcAft>
                <a:spcPts val="600"/>
              </a:spcAft>
            </a:pPr>
            <a:r>
              <a:rPr lang="en-US" altLang="en-US" sz="1800">
                <a:solidFill>
                  <a:schemeClr val="tx1"/>
                </a:solidFill>
                <a:latin typeface="Arial" pitchFamily="34" charset="0"/>
                <a:cs typeface="Arial" pitchFamily="34" charset="0"/>
              </a:rPr>
              <a:t>Agile projects usually have more unit testing by developers.</a:t>
            </a:r>
          </a:p>
          <a:p>
            <a:pPr marL="342900" lvl="2" indent="-342900" algn="just" eaLnBrk="1" hangingPunct="1">
              <a:spcBef>
                <a:spcPts val="600"/>
              </a:spcBef>
              <a:spcAft>
                <a:spcPts val="600"/>
              </a:spcAft>
            </a:pPr>
            <a:r>
              <a:rPr lang="en-US" altLang="en-US" sz="1800">
                <a:solidFill>
                  <a:schemeClr val="tx1"/>
                </a:solidFill>
                <a:latin typeface="Arial" pitchFamily="34" charset="0"/>
                <a:cs typeface="Arial" pitchFamily="34" charset="0"/>
              </a:rPr>
              <a:t>Dynamic nature of development needs structured regression testing.</a:t>
            </a:r>
          </a:p>
          <a:p>
            <a:pPr marL="342900" lvl="2" indent="-342900" algn="just" eaLnBrk="1" hangingPunct="1">
              <a:spcBef>
                <a:spcPts val="600"/>
              </a:spcBef>
              <a:spcAft>
                <a:spcPts val="600"/>
              </a:spcAft>
            </a:pPr>
            <a:r>
              <a:rPr lang="en-US" altLang="en-US" sz="1800">
                <a:solidFill>
                  <a:schemeClr val="tx1"/>
                </a:solidFill>
                <a:latin typeface="Arial" pitchFamily="34" charset="0"/>
                <a:cs typeface="Arial" pitchFamily="34" charset="0"/>
              </a:rPr>
              <a:t>Testing is often exploratory, but focused. </a:t>
            </a:r>
          </a:p>
          <a:p>
            <a:pPr marL="342900" lvl="2" indent="-342900" algn="just" eaLnBrk="1" hangingPunct="1">
              <a:spcBef>
                <a:spcPts val="600"/>
              </a:spcBef>
              <a:spcAft>
                <a:spcPts val="600"/>
              </a:spcAft>
            </a:pPr>
            <a:r>
              <a:rPr lang="en-US" altLang="en-US" sz="1800">
                <a:solidFill>
                  <a:schemeClr val="tx1"/>
                </a:solidFill>
                <a:latin typeface="Arial" pitchFamily="34" charset="0"/>
                <a:cs typeface="Arial" pitchFamily="34" charset="0"/>
              </a:rPr>
              <a:t>Dynamic style or projects include much change but the change is discussed and side-effects noted.</a:t>
            </a:r>
          </a:p>
        </p:txBody>
      </p:sp>
      <p:sp>
        <p:nvSpPr>
          <p:cNvPr id="34820"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7AAC26D2-070D-4D91-85C4-349D6AA1A7DF}" type="slidenum">
              <a:rPr lang="en-US" altLang="en-US" sz="1200">
                <a:solidFill>
                  <a:srgbClr val="A6A6A6"/>
                </a:solidFill>
              </a:rPr>
              <a:pPr algn="r" eaLnBrk="1" hangingPunct="1">
                <a:spcBef>
                  <a:spcPct val="0"/>
                </a:spcBef>
                <a:buClrTx/>
                <a:buSzTx/>
                <a:buFontTx/>
                <a:buNone/>
              </a:pPr>
              <a:t>25</a:t>
            </a:fld>
            <a:endParaRPr lang="en-US" altLang="en-US" sz="1200">
              <a:solidFill>
                <a:srgbClr val="A6A6A6"/>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bwMode="auto">
          <a:xfrm>
            <a:off x="0" y="171450"/>
            <a:ext cx="8229600" cy="541338"/>
          </a:xfrm>
        </p:spPr>
        <p:txBody>
          <a:bodyPr anchor="t"/>
          <a:lstStyle/>
          <a:p>
            <a:pPr eaLnBrk="1" hangingPunct="1"/>
            <a:r>
              <a:rPr lang="en-US" altLang="en-US" sz="3200">
                <a:latin typeface="Open Sans"/>
                <a:ea typeface="Open Sans"/>
                <a:cs typeface="Open Sans"/>
              </a:rPr>
              <a:t>   SDLC and Testing</a:t>
            </a:r>
          </a:p>
        </p:txBody>
      </p:sp>
      <p:sp>
        <p:nvSpPr>
          <p:cNvPr id="35843" name="Rectangle 3"/>
          <p:cNvSpPr>
            <a:spLocks noGrp="1" noChangeArrowheads="1"/>
          </p:cNvSpPr>
          <p:nvPr>
            <p:ph idx="1"/>
          </p:nvPr>
        </p:nvSpPr>
        <p:spPr>
          <a:xfrm>
            <a:off x="838200" y="1200150"/>
            <a:ext cx="7162800" cy="3394075"/>
          </a:xfrm>
        </p:spPr>
        <p:txBody>
          <a:bodyPr/>
          <a:lstStyle/>
          <a:p>
            <a:pPr eaLnBrk="1" hangingPunct="1">
              <a:lnSpc>
                <a:spcPct val="90000"/>
              </a:lnSpc>
              <a:buFontTx/>
              <a:buNone/>
            </a:pPr>
            <a:r>
              <a:rPr lang="en-US" altLang="en-US">
                <a:solidFill>
                  <a:schemeClr val="tx1"/>
                </a:solidFill>
                <a:latin typeface="Arial" pitchFamily="34" charset="0"/>
                <a:cs typeface="Arial" pitchFamily="34" charset="0"/>
              </a:rPr>
              <a:t>1.1- SDLC and Testing</a:t>
            </a:r>
          </a:p>
          <a:p>
            <a:pPr eaLnBrk="1" hangingPunct="1">
              <a:lnSpc>
                <a:spcPct val="90000"/>
              </a:lnSpc>
              <a:buFontTx/>
              <a:buNone/>
            </a:pPr>
            <a:r>
              <a:rPr lang="en-US" altLang="en-US">
                <a:solidFill>
                  <a:schemeClr val="tx1"/>
                </a:solidFill>
                <a:latin typeface="Arial" pitchFamily="34" charset="0"/>
                <a:cs typeface="Arial" pitchFamily="34" charset="0"/>
              </a:rPr>
              <a:t>1.2- Waterfall Model</a:t>
            </a:r>
          </a:p>
          <a:p>
            <a:pPr eaLnBrk="1" hangingPunct="1">
              <a:lnSpc>
                <a:spcPct val="90000"/>
              </a:lnSpc>
              <a:buFontTx/>
              <a:buNone/>
            </a:pPr>
            <a:r>
              <a:rPr lang="en-US" altLang="en-US">
                <a:solidFill>
                  <a:schemeClr val="tx1"/>
                </a:solidFill>
                <a:latin typeface="Arial" pitchFamily="34" charset="0"/>
                <a:cs typeface="Arial" pitchFamily="34" charset="0"/>
              </a:rPr>
              <a:t>1.3- Spiral Model</a:t>
            </a:r>
          </a:p>
          <a:p>
            <a:pPr eaLnBrk="1" hangingPunct="1">
              <a:lnSpc>
                <a:spcPct val="90000"/>
              </a:lnSpc>
              <a:buFontTx/>
              <a:buNone/>
            </a:pPr>
            <a:r>
              <a:rPr lang="en-US" altLang="en-US">
                <a:solidFill>
                  <a:schemeClr val="tx1"/>
                </a:solidFill>
                <a:latin typeface="Arial" pitchFamily="34" charset="0"/>
                <a:cs typeface="Arial" pitchFamily="34" charset="0"/>
              </a:rPr>
              <a:t>1.4- V-Model</a:t>
            </a:r>
          </a:p>
          <a:p>
            <a:pPr eaLnBrk="1" hangingPunct="1">
              <a:lnSpc>
                <a:spcPct val="90000"/>
              </a:lnSpc>
              <a:buFontTx/>
              <a:buNone/>
            </a:pPr>
            <a:r>
              <a:rPr lang="en-US" altLang="en-US">
                <a:solidFill>
                  <a:schemeClr val="tx1"/>
                </a:solidFill>
                <a:latin typeface="Arial" pitchFamily="34" charset="0"/>
                <a:cs typeface="Arial" pitchFamily="34" charset="0"/>
              </a:rPr>
              <a:t>1.5- Concurrent Model</a:t>
            </a:r>
          </a:p>
          <a:p>
            <a:pPr eaLnBrk="1" hangingPunct="1">
              <a:lnSpc>
                <a:spcPct val="90000"/>
              </a:lnSpc>
              <a:buFontTx/>
              <a:buNone/>
            </a:pPr>
            <a:r>
              <a:rPr lang="en-US" altLang="en-US">
                <a:solidFill>
                  <a:schemeClr val="tx1"/>
                </a:solidFill>
                <a:latin typeface="Arial" pitchFamily="34" charset="0"/>
                <a:cs typeface="Arial" pitchFamily="34" charset="0"/>
              </a:rPr>
              <a:t>1.6- Agile Model</a:t>
            </a:r>
          </a:p>
          <a:p>
            <a:pPr eaLnBrk="1" hangingPunct="1">
              <a:lnSpc>
                <a:spcPct val="90000"/>
              </a:lnSpc>
              <a:buFontTx/>
              <a:buNone/>
            </a:pPr>
            <a:r>
              <a:rPr lang="en-US" altLang="en-US" b="1">
                <a:solidFill>
                  <a:srgbClr val="000099"/>
                </a:solidFill>
                <a:latin typeface="Arial" pitchFamily="34" charset="0"/>
                <a:cs typeface="Arial" pitchFamily="34" charset="0"/>
              </a:rPr>
              <a:t>1.7- Other SDLC Models</a:t>
            </a:r>
          </a:p>
          <a:p>
            <a:pPr eaLnBrk="1" hangingPunct="1">
              <a:lnSpc>
                <a:spcPct val="90000"/>
              </a:lnSpc>
              <a:buFontTx/>
              <a:buNone/>
            </a:pPr>
            <a:r>
              <a:rPr lang="en-US" altLang="en-US">
                <a:solidFill>
                  <a:schemeClr val="tx1"/>
                </a:solidFill>
                <a:latin typeface="Arial" pitchFamily="34" charset="0"/>
                <a:cs typeface="Arial" pitchFamily="34" charset="0"/>
              </a:rPr>
              <a:t>1.8- Testing Phases and Milestones</a:t>
            </a:r>
          </a:p>
          <a:p>
            <a:pPr eaLnBrk="1" hangingPunct="1">
              <a:lnSpc>
                <a:spcPct val="90000"/>
              </a:lnSpc>
              <a:buFont typeface="Arial" pitchFamily="34" charset="0"/>
              <a:buNone/>
            </a:pPr>
            <a:r>
              <a:rPr lang="en-US" altLang="en-US">
                <a:solidFill>
                  <a:schemeClr val="tx1"/>
                </a:solidFill>
                <a:latin typeface="Arial" pitchFamily="34" charset="0"/>
                <a:cs typeface="Arial" pitchFamily="34" charset="0"/>
              </a:rPr>
              <a:t>1.9- DevOps and CI/CD</a:t>
            </a:r>
          </a:p>
        </p:txBody>
      </p:sp>
      <p:sp>
        <p:nvSpPr>
          <p:cNvPr id="35844"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5782A53A-4104-4BB7-94A7-58CC6095F97B}" type="slidenum">
              <a:rPr lang="en-US" altLang="en-US" sz="1200">
                <a:solidFill>
                  <a:srgbClr val="A6A6A6"/>
                </a:solidFill>
              </a:rPr>
              <a:pPr algn="r" eaLnBrk="1" hangingPunct="1">
                <a:spcBef>
                  <a:spcPct val="0"/>
                </a:spcBef>
                <a:buClrTx/>
                <a:buSzTx/>
                <a:buFontTx/>
                <a:buNone/>
              </a:pPr>
              <a:t>26</a:t>
            </a:fld>
            <a:endParaRPr lang="en-US" altLang="en-US" sz="1200">
              <a:solidFill>
                <a:srgbClr val="A6A6A6"/>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bwMode="auto">
          <a:xfrm>
            <a:off x="0" y="228600"/>
            <a:ext cx="8229600" cy="476250"/>
          </a:xfrm>
        </p:spPr>
        <p:txBody>
          <a:bodyPr anchor="t"/>
          <a:lstStyle/>
          <a:p>
            <a:pPr eaLnBrk="1" hangingPunct="1"/>
            <a:r>
              <a:rPr lang="en-US" altLang="en-US" sz="3200">
                <a:latin typeface="Open Sans"/>
                <a:ea typeface="Open Sans"/>
                <a:cs typeface="Open Sans"/>
              </a:rPr>
              <a:t>   Other SDLC Models</a:t>
            </a:r>
          </a:p>
        </p:txBody>
      </p:sp>
      <p:sp>
        <p:nvSpPr>
          <p:cNvPr id="36867" name="Rectangle 3"/>
          <p:cNvSpPr>
            <a:spLocks noGrp="1" noChangeArrowheads="1"/>
          </p:cNvSpPr>
          <p:nvPr>
            <p:ph idx="1"/>
          </p:nvPr>
        </p:nvSpPr>
        <p:spPr>
          <a:xfrm>
            <a:off x="838200" y="1200150"/>
            <a:ext cx="7848600" cy="3394075"/>
          </a:xfrm>
        </p:spPr>
        <p:txBody>
          <a:bodyPr/>
          <a:lstStyle/>
          <a:p>
            <a:pPr marL="342900" lvl="2" indent="-342900" algn="just" eaLnBrk="1" hangingPunct="1">
              <a:spcBef>
                <a:spcPts val="600"/>
              </a:spcBef>
              <a:spcAft>
                <a:spcPts val="600"/>
              </a:spcAft>
            </a:pPr>
            <a:r>
              <a:rPr lang="en-US" altLang="en-US" sz="1800">
                <a:solidFill>
                  <a:schemeClr val="tx1"/>
                </a:solidFill>
                <a:latin typeface="Arial" pitchFamily="34" charset="0"/>
                <a:cs typeface="Arial" pitchFamily="34" charset="0"/>
              </a:rPr>
              <a:t>Rapid Application Development (RAD) Model</a:t>
            </a:r>
          </a:p>
          <a:p>
            <a:pPr marL="342900" lvl="2" indent="-342900" algn="just" eaLnBrk="1" hangingPunct="1">
              <a:spcBef>
                <a:spcPts val="600"/>
              </a:spcBef>
              <a:spcAft>
                <a:spcPts val="600"/>
              </a:spcAft>
            </a:pPr>
            <a:r>
              <a:rPr lang="en-US" altLang="en-US" sz="1800">
                <a:solidFill>
                  <a:schemeClr val="tx1"/>
                </a:solidFill>
                <a:latin typeface="Arial" pitchFamily="34" charset="0"/>
                <a:cs typeface="Arial" pitchFamily="34" charset="0"/>
              </a:rPr>
              <a:t>TDD – Test Driven Development, an XP practice</a:t>
            </a:r>
          </a:p>
          <a:p>
            <a:pPr marL="342900" lvl="2" indent="-342900" algn="just" eaLnBrk="1" hangingPunct="1">
              <a:spcBef>
                <a:spcPts val="600"/>
              </a:spcBef>
              <a:spcAft>
                <a:spcPts val="600"/>
              </a:spcAft>
            </a:pPr>
            <a:r>
              <a:rPr lang="en-US" altLang="en-US" sz="1800">
                <a:solidFill>
                  <a:schemeClr val="tx1"/>
                </a:solidFill>
                <a:latin typeface="Arial" pitchFamily="34" charset="0"/>
                <a:cs typeface="Arial" pitchFamily="34" charset="0"/>
              </a:rPr>
              <a:t>eXtreme Programming (XP)</a:t>
            </a:r>
          </a:p>
          <a:p>
            <a:pPr marL="342900" lvl="2" indent="-342900" algn="just" eaLnBrk="1" hangingPunct="1">
              <a:spcBef>
                <a:spcPts val="600"/>
              </a:spcBef>
              <a:spcAft>
                <a:spcPts val="600"/>
              </a:spcAft>
            </a:pPr>
            <a:r>
              <a:rPr lang="en-US" altLang="en-US" sz="1800">
                <a:solidFill>
                  <a:schemeClr val="tx1"/>
                </a:solidFill>
                <a:latin typeface="Arial" pitchFamily="34" charset="0"/>
                <a:cs typeface="Arial" pitchFamily="34" charset="0"/>
              </a:rPr>
              <a:t>Kanban</a:t>
            </a:r>
          </a:p>
          <a:p>
            <a:pPr marL="342900" lvl="2" indent="-342900" algn="just" eaLnBrk="1" hangingPunct="1">
              <a:spcBef>
                <a:spcPts val="600"/>
              </a:spcBef>
              <a:spcAft>
                <a:spcPts val="600"/>
              </a:spcAft>
            </a:pPr>
            <a:r>
              <a:rPr lang="en-US" altLang="en-US" sz="1800">
                <a:solidFill>
                  <a:schemeClr val="tx1"/>
                </a:solidFill>
                <a:latin typeface="Arial" pitchFamily="34" charset="0"/>
                <a:cs typeface="Arial" pitchFamily="34" charset="0"/>
              </a:rPr>
              <a:t>Lean Software Development (LSD)</a:t>
            </a:r>
          </a:p>
          <a:p>
            <a:pPr marL="342900" lvl="2" indent="-342900" algn="just" eaLnBrk="1" hangingPunct="1">
              <a:spcBef>
                <a:spcPts val="600"/>
              </a:spcBef>
              <a:spcAft>
                <a:spcPts val="600"/>
              </a:spcAft>
            </a:pPr>
            <a:r>
              <a:rPr lang="en-US" altLang="en-US" sz="1800">
                <a:solidFill>
                  <a:schemeClr val="tx1"/>
                </a:solidFill>
                <a:latin typeface="Arial" pitchFamily="34" charset="0"/>
                <a:cs typeface="Arial" pitchFamily="34" charset="0"/>
              </a:rPr>
              <a:t>…the list goes on</a:t>
            </a:r>
          </a:p>
        </p:txBody>
      </p:sp>
      <p:sp>
        <p:nvSpPr>
          <p:cNvPr id="36868"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B9654EA6-67D6-4D08-8494-9E0722A71DD8}" type="slidenum">
              <a:rPr lang="en-US" altLang="en-US" sz="1200">
                <a:solidFill>
                  <a:srgbClr val="A6A6A6"/>
                </a:solidFill>
              </a:rPr>
              <a:pPr algn="r" eaLnBrk="1" hangingPunct="1">
                <a:spcBef>
                  <a:spcPct val="0"/>
                </a:spcBef>
                <a:buClrTx/>
                <a:buSzTx/>
                <a:buFontTx/>
                <a:buNone/>
              </a:pPr>
              <a:t>27</a:t>
            </a:fld>
            <a:endParaRPr lang="en-US" altLang="en-US" sz="1200">
              <a:solidFill>
                <a:srgbClr val="A6A6A6"/>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bwMode="auto">
          <a:xfrm>
            <a:off x="0" y="228600"/>
            <a:ext cx="8229600" cy="476250"/>
          </a:xfrm>
        </p:spPr>
        <p:txBody>
          <a:bodyPr anchor="t"/>
          <a:lstStyle/>
          <a:p>
            <a:pPr eaLnBrk="1" hangingPunct="1"/>
            <a:r>
              <a:rPr lang="en-US" altLang="en-US" sz="3200">
                <a:latin typeface="Open Sans"/>
                <a:ea typeface="Open Sans"/>
                <a:cs typeface="Open Sans"/>
              </a:rPr>
              <a:t>   SDLC and Testing</a:t>
            </a:r>
          </a:p>
        </p:txBody>
      </p:sp>
      <p:sp>
        <p:nvSpPr>
          <p:cNvPr id="37891" name="Rectangle 3"/>
          <p:cNvSpPr>
            <a:spLocks noGrp="1" noChangeArrowheads="1"/>
          </p:cNvSpPr>
          <p:nvPr>
            <p:ph idx="1"/>
          </p:nvPr>
        </p:nvSpPr>
        <p:spPr>
          <a:xfrm>
            <a:off x="838200" y="1158875"/>
            <a:ext cx="6705600" cy="3394075"/>
          </a:xfrm>
        </p:spPr>
        <p:txBody>
          <a:bodyPr/>
          <a:lstStyle/>
          <a:p>
            <a:pPr eaLnBrk="1" hangingPunct="1">
              <a:lnSpc>
                <a:spcPct val="90000"/>
              </a:lnSpc>
              <a:buFontTx/>
              <a:buNone/>
            </a:pPr>
            <a:r>
              <a:rPr lang="en-US" altLang="en-US">
                <a:solidFill>
                  <a:schemeClr val="tx1"/>
                </a:solidFill>
                <a:latin typeface="Arial" pitchFamily="34" charset="0"/>
                <a:cs typeface="Arial" pitchFamily="34" charset="0"/>
              </a:rPr>
              <a:t>1.1- SDLC and Testing</a:t>
            </a:r>
          </a:p>
          <a:p>
            <a:pPr eaLnBrk="1" hangingPunct="1">
              <a:lnSpc>
                <a:spcPct val="90000"/>
              </a:lnSpc>
              <a:buFontTx/>
              <a:buNone/>
            </a:pPr>
            <a:r>
              <a:rPr lang="en-US" altLang="en-US">
                <a:solidFill>
                  <a:schemeClr val="tx1"/>
                </a:solidFill>
                <a:latin typeface="Arial" pitchFamily="34" charset="0"/>
                <a:cs typeface="Arial" pitchFamily="34" charset="0"/>
              </a:rPr>
              <a:t>1.2- Waterfall Model</a:t>
            </a:r>
          </a:p>
          <a:p>
            <a:pPr eaLnBrk="1" hangingPunct="1">
              <a:lnSpc>
                <a:spcPct val="90000"/>
              </a:lnSpc>
              <a:buFontTx/>
              <a:buNone/>
            </a:pPr>
            <a:r>
              <a:rPr lang="en-US" altLang="en-US">
                <a:solidFill>
                  <a:schemeClr val="tx1"/>
                </a:solidFill>
                <a:latin typeface="Arial" pitchFamily="34" charset="0"/>
                <a:cs typeface="Arial" pitchFamily="34" charset="0"/>
              </a:rPr>
              <a:t>1.3- Spiral Model</a:t>
            </a:r>
          </a:p>
          <a:p>
            <a:pPr eaLnBrk="1" hangingPunct="1">
              <a:lnSpc>
                <a:spcPct val="90000"/>
              </a:lnSpc>
              <a:buFontTx/>
              <a:buNone/>
            </a:pPr>
            <a:r>
              <a:rPr lang="en-US" altLang="en-US">
                <a:solidFill>
                  <a:schemeClr val="tx1"/>
                </a:solidFill>
                <a:latin typeface="Arial" pitchFamily="34" charset="0"/>
                <a:cs typeface="Arial" pitchFamily="34" charset="0"/>
              </a:rPr>
              <a:t>1.4- V-Model</a:t>
            </a:r>
          </a:p>
          <a:p>
            <a:pPr eaLnBrk="1" hangingPunct="1">
              <a:lnSpc>
                <a:spcPct val="90000"/>
              </a:lnSpc>
              <a:buFontTx/>
              <a:buNone/>
            </a:pPr>
            <a:r>
              <a:rPr lang="en-US" altLang="en-US">
                <a:solidFill>
                  <a:schemeClr val="tx1"/>
                </a:solidFill>
                <a:latin typeface="Arial" pitchFamily="34" charset="0"/>
                <a:cs typeface="Arial" pitchFamily="34" charset="0"/>
              </a:rPr>
              <a:t>1.5- Concurrent Model</a:t>
            </a:r>
          </a:p>
          <a:p>
            <a:pPr eaLnBrk="1" hangingPunct="1">
              <a:lnSpc>
                <a:spcPct val="90000"/>
              </a:lnSpc>
              <a:buFontTx/>
              <a:buNone/>
            </a:pPr>
            <a:r>
              <a:rPr lang="en-US" altLang="en-US">
                <a:solidFill>
                  <a:schemeClr val="tx1"/>
                </a:solidFill>
                <a:latin typeface="Arial" pitchFamily="34" charset="0"/>
                <a:cs typeface="Arial" pitchFamily="34" charset="0"/>
              </a:rPr>
              <a:t>1.6- Agile Model</a:t>
            </a:r>
          </a:p>
          <a:p>
            <a:pPr eaLnBrk="1" hangingPunct="1">
              <a:lnSpc>
                <a:spcPct val="90000"/>
              </a:lnSpc>
              <a:buFontTx/>
              <a:buNone/>
            </a:pPr>
            <a:r>
              <a:rPr lang="en-US" altLang="en-US">
                <a:solidFill>
                  <a:schemeClr val="tx1"/>
                </a:solidFill>
                <a:latin typeface="Arial" pitchFamily="34" charset="0"/>
                <a:cs typeface="Arial" pitchFamily="34" charset="0"/>
              </a:rPr>
              <a:t>1.7- Other SDLC Models</a:t>
            </a:r>
          </a:p>
          <a:p>
            <a:pPr eaLnBrk="1" hangingPunct="1">
              <a:lnSpc>
                <a:spcPct val="90000"/>
              </a:lnSpc>
              <a:buFontTx/>
              <a:buNone/>
            </a:pPr>
            <a:r>
              <a:rPr lang="en-US" altLang="en-US" b="1">
                <a:solidFill>
                  <a:srgbClr val="000099"/>
                </a:solidFill>
                <a:latin typeface="Arial" pitchFamily="34" charset="0"/>
                <a:cs typeface="Arial" pitchFamily="34" charset="0"/>
              </a:rPr>
              <a:t>1.8- Testing Phases and Milestones</a:t>
            </a:r>
          </a:p>
          <a:p>
            <a:pPr eaLnBrk="1" hangingPunct="1">
              <a:lnSpc>
                <a:spcPct val="90000"/>
              </a:lnSpc>
              <a:buFont typeface="Arial" pitchFamily="34" charset="0"/>
              <a:buNone/>
            </a:pPr>
            <a:r>
              <a:rPr lang="en-US" altLang="en-US">
                <a:solidFill>
                  <a:schemeClr val="tx1"/>
                </a:solidFill>
                <a:latin typeface="Arial" pitchFamily="34" charset="0"/>
                <a:cs typeface="Arial" pitchFamily="34" charset="0"/>
              </a:rPr>
              <a:t>1.9- DevOps and CI/CD</a:t>
            </a:r>
          </a:p>
        </p:txBody>
      </p:sp>
      <p:sp>
        <p:nvSpPr>
          <p:cNvPr id="37892"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140C227B-6B44-4E9F-85C8-ADDD4304D25B}" type="slidenum">
              <a:rPr lang="en-US" altLang="en-US" sz="1200">
                <a:solidFill>
                  <a:srgbClr val="A6A6A6"/>
                </a:solidFill>
              </a:rPr>
              <a:pPr algn="r" eaLnBrk="1" hangingPunct="1">
                <a:spcBef>
                  <a:spcPct val="0"/>
                </a:spcBef>
                <a:buClrTx/>
                <a:buSzTx/>
                <a:buFontTx/>
                <a:buNone/>
              </a:pPr>
              <a:t>28</a:t>
            </a:fld>
            <a:endParaRPr lang="en-US" altLang="en-US" sz="1200">
              <a:solidFill>
                <a:srgbClr val="A6A6A6"/>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p:cNvSpPr>
            <a:spLocks noGrp="1" noChangeArrowheads="1"/>
          </p:cNvSpPr>
          <p:nvPr>
            <p:ph idx="1"/>
          </p:nvPr>
        </p:nvSpPr>
        <p:spPr>
          <a:xfrm>
            <a:off x="866775" y="1239838"/>
            <a:ext cx="7743825" cy="2562225"/>
          </a:xfrm>
        </p:spPr>
        <p:txBody>
          <a:bodyPr/>
          <a:lstStyle/>
          <a:p>
            <a:pPr marL="342900" lvl="2" indent="-342900" algn="just" eaLnBrk="1" hangingPunct="1">
              <a:spcBef>
                <a:spcPts val="600"/>
              </a:spcBef>
              <a:spcAft>
                <a:spcPts val="600"/>
              </a:spcAft>
            </a:pPr>
            <a:r>
              <a:rPr lang="en-US" altLang="en-US" sz="1800">
                <a:solidFill>
                  <a:schemeClr val="tx1"/>
                </a:solidFill>
                <a:latin typeface="Arial" pitchFamily="34" charset="0"/>
                <a:cs typeface="Arial" pitchFamily="34" charset="0"/>
              </a:rPr>
              <a:t>Development Phase: A time block within SDLC. There are a number of activities that have to be done in this time block. </a:t>
            </a:r>
          </a:p>
          <a:p>
            <a:pPr marL="342900" lvl="2" indent="-342900" algn="just" eaLnBrk="1" hangingPunct="1">
              <a:spcBef>
                <a:spcPts val="600"/>
              </a:spcBef>
              <a:spcAft>
                <a:spcPts val="600"/>
              </a:spcAft>
            </a:pPr>
            <a:r>
              <a:rPr lang="en-US" altLang="en-US" sz="1800">
                <a:solidFill>
                  <a:schemeClr val="tx1"/>
                </a:solidFill>
                <a:latin typeface="Arial" pitchFamily="34" charset="0"/>
                <a:cs typeface="Arial" pitchFamily="34" charset="0"/>
              </a:rPr>
              <a:t>Examples of some Test Phases: Unit Test, Integration Test, System Test, User Acceptance Test, Release Test and Maintenance Test.</a:t>
            </a:r>
          </a:p>
          <a:p>
            <a:pPr marL="342900" lvl="2" indent="-342900" algn="just" eaLnBrk="1" hangingPunct="1">
              <a:spcBef>
                <a:spcPts val="600"/>
              </a:spcBef>
              <a:spcAft>
                <a:spcPts val="600"/>
              </a:spcAft>
            </a:pPr>
            <a:r>
              <a:rPr lang="en-US" altLang="en-US" sz="1800">
                <a:solidFill>
                  <a:schemeClr val="tx1"/>
                </a:solidFill>
                <a:latin typeface="Arial" pitchFamily="34" charset="0"/>
                <a:cs typeface="Arial" pitchFamily="34" charset="0"/>
              </a:rPr>
              <a:t>Development Milestone: A significant event in the software developing process in which, the software moves from one phase to another. The milestone let us know where the application is in SDLC</a:t>
            </a:r>
          </a:p>
          <a:p>
            <a:pPr marL="342900" lvl="2" indent="-342900" algn="just" eaLnBrk="1" hangingPunct="1">
              <a:spcBef>
                <a:spcPts val="600"/>
              </a:spcBef>
              <a:spcAft>
                <a:spcPts val="600"/>
              </a:spcAft>
            </a:pPr>
            <a:r>
              <a:rPr lang="en-US" altLang="en-US" sz="1800">
                <a:solidFill>
                  <a:schemeClr val="tx1"/>
                </a:solidFill>
                <a:latin typeface="Arial" pitchFamily="34" charset="0"/>
                <a:cs typeface="Arial" pitchFamily="34" charset="0"/>
              </a:rPr>
              <a:t>Criteria: Built or created from the standard of the project.</a:t>
            </a:r>
          </a:p>
        </p:txBody>
      </p:sp>
      <p:sp>
        <p:nvSpPr>
          <p:cNvPr id="38915" name="Rectangle 4"/>
          <p:cNvSpPr>
            <a:spLocks noChangeArrowheads="1"/>
          </p:cNvSpPr>
          <p:nvPr/>
        </p:nvSpPr>
        <p:spPr bwMode="auto">
          <a:xfrm>
            <a:off x="4763" y="171450"/>
            <a:ext cx="6197600"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defTabSz="457200">
              <a:defRPr sz="2400">
                <a:solidFill>
                  <a:schemeClr val="tx1"/>
                </a:solidFill>
                <a:latin typeface="Arial" pitchFamily="34" charset="0"/>
              </a:defRPr>
            </a:lvl1pPr>
            <a:lvl2pPr marL="742950" indent="-285750" defTabSz="457200">
              <a:defRPr sz="2400">
                <a:solidFill>
                  <a:schemeClr val="tx1"/>
                </a:solidFill>
                <a:latin typeface="Arial" pitchFamily="34" charset="0"/>
              </a:defRPr>
            </a:lvl2pPr>
            <a:lvl3pPr marL="1143000" indent="-228600" defTabSz="457200">
              <a:defRPr sz="2400">
                <a:solidFill>
                  <a:schemeClr val="tx1"/>
                </a:solidFill>
                <a:latin typeface="Arial" pitchFamily="34" charset="0"/>
              </a:defRPr>
            </a:lvl3pPr>
            <a:lvl4pPr marL="1600200" indent="-228600" defTabSz="457200">
              <a:defRPr sz="2400">
                <a:solidFill>
                  <a:schemeClr val="tx1"/>
                </a:solidFill>
                <a:latin typeface="Arial" pitchFamily="34" charset="0"/>
              </a:defRPr>
            </a:lvl4pPr>
            <a:lvl5pPr marL="2057400" indent="-228600" defTabSz="457200">
              <a:defRPr sz="2400">
                <a:solidFill>
                  <a:schemeClr val="tx1"/>
                </a:solidFill>
                <a:latin typeface="Arial" pitchFamily="34" charset="0"/>
              </a:defRPr>
            </a:lvl5pPr>
            <a:lvl6pPr marL="2514600" indent="-228600" defTabSz="457200" eaLnBrk="0" fontAlgn="base" hangingPunct="0">
              <a:spcBef>
                <a:spcPct val="0"/>
              </a:spcBef>
              <a:spcAft>
                <a:spcPct val="0"/>
              </a:spcAft>
              <a:defRPr sz="2400">
                <a:solidFill>
                  <a:schemeClr val="tx1"/>
                </a:solidFill>
                <a:latin typeface="Arial" pitchFamily="34" charset="0"/>
              </a:defRPr>
            </a:lvl6pPr>
            <a:lvl7pPr marL="2971800" indent="-228600" defTabSz="457200" eaLnBrk="0" fontAlgn="base" hangingPunct="0">
              <a:spcBef>
                <a:spcPct val="0"/>
              </a:spcBef>
              <a:spcAft>
                <a:spcPct val="0"/>
              </a:spcAft>
              <a:defRPr sz="2400">
                <a:solidFill>
                  <a:schemeClr val="tx1"/>
                </a:solidFill>
                <a:latin typeface="Arial" pitchFamily="34" charset="0"/>
              </a:defRPr>
            </a:lvl7pPr>
            <a:lvl8pPr marL="3429000" indent="-228600" defTabSz="457200" eaLnBrk="0" fontAlgn="base" hangingPunct="0">
              <a:spcBef>
                <a:spcPct val="0"/>
              </a:spcBef>
              <a:spcAft>
                <a:spcPct val="0"/>
              </a:spcAft>
              <a:defRPr sz="2400">
                <a:solidFill>
                  <a:schemeClr val="tx1"/>
                </a:solidFill>
                <a:latin typeface="Arial" pitchFamily="34" charset="0"/>
              </a:defRPr>
            </a:lvl8pPr>
            <a:lvl9pPr marL="3886200" indent="-228600" defTabSz="457200" eaLnBrk="0" fontAlgn="base" hangingPunct="0">
              <a:spcBef>
                <a:spcPct val="0"/>
              </a:spcBef>
              <a:spcAft>
                <a:spcPct val="0"/>
              </a:spcAft>
              <a:defRPr sz="2400">
                <a:solidFill>
                  <a:schemeClr val="tx1"/>
                </a:solidFill>
                <a:latin typeface="Arial" pitchFamily="34" charset="0"/>
              </a:defRPr>
            </a:lvl9pPr>
          </a:lstStyle>
          <a:p>
            <a:r>
              <a:rPr lang="en-US" altLang="en-US" sz="3200" b="1">
                <a:solidFill>
                  <a:srgbClr val="164D90"/>
                </a:solidFill>
                <a:latin typeface="Open Sans"/>
                <a:ea typeface="Open Sans"/>
                <a:cs typeface="Open Sans"/>
              </a:rPr>
              <a:t>   Phases &amp; Milestones</a:t>
            </a:r>
          </a:p>
        </p:txBody>
      </p:sp>
      <p:sp>
        <p:nvSpPr>
          <p:cNvPr id="38916"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8B1A1E98-7950-4976-BF9C-BCCDCD561DEA}" type="slidenum">
              <a:rPr lang="en-US" altLang="en-US" sz="1200">
                <a:solidFill>
                  <a:srgbClr val="A6A6A6"/>
                </a:solidFill>
              </a:rPr>
              <a:pPr algn="r" eaLnBrk="1" hangingPunct="1">
                <a:spcBef>
                  <a:spcPct val="0"/>
                </a:spcBef>
                <a:buClrTx/>
                <a:buSzTx/>
                <a:buFontTx/>
                <a:buNone/>
              </a:pPr>
              <a:t>29</a:t>
            </a:fld>
            <a:endParaRPr lang="en-US" altLang="en-US" sz="1200">
              <a:solidFill>
                <a:srgbClr val="A6A6A6"/>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bwMode="auto">
          <a:xfrm>
            <a:off x="0" y="171450"/>
            <a:ext cx="8229600" cy="522288"/>
          </a:xfrm>
        </p:spPr>
        <p:txBody>
          <a:bodyPr anchor="t"/>
          <a:lstStyle/>
          <a:p>
            <a:r>
              <a:rPr lang="en-US" altLang="en-US" sz="3200">
                <a:latin typeface="Open Sans"/>
                <a:ea typeface="Open Sans"/>
                <a:cs typeface="Open Sans"/>
              </a:rPr>
              <a:t>   Testing Phases and Milestones</a:t>
            </a:r>
          </a:p>
        </p:txBody>
      </p:sp>
      <p:graphicFrame>
        <p:nvGraphicFramePr>
          <p:cNvPr id="6" name="Group 48"/>
          <p:cNvGraphicFramePr>
            <a:graphicFrameLocks/>
          </p:cNvGraphicFramePr>
          <p:nvPr>
            <p:extLst>
              <p:ext uri="{D42A27DB-BD31-4B8C-83A1-F6EECF244321}">
                <p14:modId xmlns:p14="http://schemas.microsoft.com/office/powerpoint/2010/main" val="920336977"/>
              </p:ext>
            </p:extLst>
          </p:nvPr>
        </p:nvGraphicFramePr>
        <p:xfrm>
          <a:off x="304800" y="1190590"/>
          <a:ext cx="8610600" cy="3514760"/>
        </p:xfrm>
        <a:graphic>
          <a:graphicData uri="http://schemas.openxmlformats.org/drawingml/2006/table">
            <a:tbl>
              <a:tblPr/>
              <a:tblGrid>
                <a:gridCol w="1295400">
                  <a:extLst>
                    <a:ext uri="{9D8B030D-6E8A-4147-A177-3AD203B41FA5}">
                      <a16:colId xmlns:a16="http://schemas.microsoft.com/office/drawing/2014/main" val="20000"/>
                    </a:ext>
                  </a:extLst>
                </a:gridCol>
                <a:gridCol w="1415915">
                  <a:extLst>
                    <a:ext uri="{9D8B030D-6E8A-4147-A177-3AD203B41FA5}">
                      <a16:colId xmlns:a16="http://schemas.microsoft.com/office/drawing/2014/main" val="20001"/>
                    </a:ext>
                  </a:extLst>
                </a:gridCol>
                <a:gridCol w="2291034">
                  <a:extLst>
                    <a:ext uri="{9D8B030D-6E8A-4147-A177-3AD203B41FA5}">
                      <a16:colId xmlns:a16="http://schemas.microsoft.com/office/drawing/2014/main" val="20002"/>
                    </a:ext>
                  </a:extLst>
                </a:gridCol>
                <a:gridCol w="1855651">
                  <a:extLst>
                    <a:ext uri="{9D8B030D-6E8A-4147-A177-3AD203B41FA5}">
                      <a16:colId xmlns:a16="http://schemas.microsoft.com/office/drawing/2014/main" val="20003"/>
                    </a:ext>
                  </a:extLst>
                </a:gridCol>
                <a:gridCol w="1752600">
                  <a:extLst>
                    <a:ext uri="{9D8B030D-6E8A-4147-A177-3AD203B41FA5}">
                      <a16:colId xmlns:a16="http://schemas.microsoft.com/office/drawing/2014/main" val="20004"/>
                    </a:ext>
                  </a:extLst>
                </a:gridCol>
              </a:tblGrid>
              <a:tr h="298061">
                <a:tc row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rPr>
                        <a:t>Test Phase</a:t>
                      </a:r>
                    </a:p>
                  </a:txBody>
                  <a:tcPr marT="34287" marB="3428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rPr>
                        <a:t>Pre – Alpha</a:t>
                      </a:r>
                    </a:p>
                  </a:txBody>
                  <a:tcPr marT="34287" marB="342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rPr>
                        <a:t>Alpha</a:t>
                      </a:r>
                    </a:p>
                  </a:txBody>
                  <a:tcPr marT="34287" marB="342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rPr>
                        <a:t>Beta</a:t>
                      </a:r>
                    </a:p>
                  </a:txBody>
                  <a:tcPr marT="34287" marB="342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rPr>
                        <a:t>GM/Release</a:t>
                      </a:r>
                    </a:p>
                  </a:txBody>
                  <a:tcPr marT="34287" marB="3428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0000"/>
                  </a:ext>
                </a:extLst>
              </a:tr>
              <a:tr h="281930">
                <a:tc v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rPr>
                        <a:t>Unit</a:t>
                      </a:r>
                    </a:p>
                  </a:txBody>
                  <a:tcPr marT="34287" marB="342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rPr>
                        <a:t>Integration</a:t>
                      </a:r>
                    </a:p>
                  </a:txBody>
                  <a:tcPr marT="34287" marB="342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rPr>
                        <a:t>System</a:t>
                      </a:r>
                    </a:p>
                  </a:txBody>
                  <a:tcPr marT="34287" marB="342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rPr>
                        <a:t>User Acceptance</a:t>
                      </a:r>
                    </a:p>
                  </a:txBody>
                  <a:tcPr marT="34287" marB="3428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0001"/>
                  </a:ext>
                </a:extLst>
              </a:tr>
              <a:tr h="49528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rPr>
                        <a:t>Performed by</a:t>
                      </a:r>
                    </a:p>
                  </a:txBody>
                  <a:tcPr marT="34287" marB="3428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Developers</a:t>
                      </a:r>
                    </a:p>
                  </a:txBody>
                  <a:tcPr marT="34287" marB="342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rPr>
                        <a:t>Developers/(Technical) Testers</a:t>
                      </a:r>
                    </a:p>
                  </a:txBody>
                  <a:tcPr marT="34287" marB="342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rPr>
                        <a:t>Testers</a:t>
                      </a:r>
                    </a:p>
                  </a:txBody>
                  <a:tcPr marT="34287" marB="342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Users</a:t>
                      </a:r>
                    </a:p>
                  </a:txBody>
                  <a:tcPr marT="34287" marB="3428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13535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Definition</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marT="34287" marB="3428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Test one unit of code at a time</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marT="34287" marB="342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rPr>
                        <a:t>Iteratively more complex system components integrated. Checking the units of code work together incrementally</a:t>
                      </a:r>
                    </a:p>
                  </a:txBody>
                  <a:tcPr marT="34287" marB="342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rPr>
                        <a:t>Big bang. The entire product as it is intended to be used</a:t>
                      </a:r>
                    </a:p>
                  </a:txBody>
                  <a:tcPr marT="34287" marB="342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rPr>
                        <a:t>Requirements-based testing by the project sponsor, testing the production system</a:t>
                      </a:r>
                    </a:p>
                  </a:txBody>
                  <a:tcPr marT="34287" marB="3428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193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Outcome</a:t>
                      </a:r>
                    </a:p>
                  </a:txBody>
                  <a:tcPr marT="34287" marB="3428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Fewer Bugs</a:t>
                      </a:r>
                    </a:p>
                  </a:txBody>
                  <a:tcPr marT="34287" marB="342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Bug Finding</a:t>
                      </a:r>
                    </a:p>
                  </a:txBody>
                  <a:tcPr marT="34287" marB="342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rPr>
                        <a:t>Bug Finding/QC</a:t>
                      </a:r>
                    </a:p>
                  </a:txBody>
                  <a:tcPr marT="34287" marB="342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QC</a:t>
                      </a:r>
                    </a:p>
                  </a:txBody>
                  <a:tcPr marT="34287" marB="3428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0221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rPr>
                        <a:t>Goals of Testing</a:t>
                      </a:r>
                    </a:p>
                  </a:txBody>
                  <a:tcPr marT="34287" marB="3428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To validate each module in isolation</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marT="34287" marB="342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To find bugs, to learn about the product, to validate the integration requirements</a:t>
                      </a:r>
                    </a:p>
                  </a:txBody>
                  <a:tcPr marT="34287" marB="342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rPr>
                        <a:t>To find bugs, to validate the system requirements, data flow, scenarios, load</a:t>
                      </a:r>
                    </a:p>
                  </a:txBody>
                  <a:tcPr marT="34287" marB="342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rPr>
                        <a:t>To validate user requirements</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Arial" charset="0"/>
                      </a:endParaRPr>
                    </a:p>
                  </a:txBody>
                  <a:tcPr marT="34287" marB="3428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39982"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9FA77133-4727-4645-B01D-80EE9F8DB898}" type="slidenum">
              <a:rPr lang="en-US" altLang="en-US" sz="1200">
                <a:solidFill>
                  <a:srgbClr val="A6A6A6"/>
                </a:solidFill>
              </a:rPr>
              <a:pPr algn="r" eaLnBrk="1" hangingPunct="1">
                <a:spcBef>
                  <a:spcPct val="0"/>
                </a:spcBef>
                <a:buClrTx/>
                <a:buSzTx/>
                <a:buFontTx/>
                <a:buNone/>
              </a:pPr>
              <a:t>30</a:t>
            </a:fld>
            <a:endParaRPr lang="en-US" altLang="en-US" sz="1200">
              <a:solidFill>
                <a:srgbClr val="A6A6A6"/>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bwMode="auto">
          <a:xfrm>
            <a:off x="0" y="228600"/>
            <a:ext cx="8229600" cy="476250"/>
          </a:xfrm>
        </p:spPr>
        <p:txBody>
          <a:bodyPr anchor="t"/>
          <a:lstStyle/>
          <a:p>
            <a:r>
              <a:rPr lang="en-US" altLang="en-US" sz="3200">
                <a:latin typeface="Open Sans"/>
                <a:ea typeface="Open Sans"/>
                <a:cs typeface="Open Sans"/>
              </a:rPr>
              <a:t>   SDLC and Testing</a:t>
            </a:r>
          </a:p>
        </p:txBody>
      </p:sp>
      <p:sp>
        <p:nvSpPr>
          <p:cNvPr id="40963" name="Rectangle 3"/>
          <p:cNvSpPr>
            <a:spLocks noGrp="1" noChangeArrowheads="1"/>
          </p:cNvSpPr>
          <p:nvPr>
            <p:ph idx="1"/>
          </p:nvPr>
        </p:nvSpPr>
        <p:spPr>
          <a:xfrm>
            <a:off x="838200" y="1123950"/>
            <a:ext cx="7696200" cy="3394075"/>
          </a:xfrm>
        </p:spPr>
        <p:txBody>
          <a:bodyPr/>
          <a:lstStyle/>
          <a:p>
            <a:pPr eaLnBrk="1" hangingPunct="1">
              <a:lnSpc>
                <a:spcPct val="90000"/>
              </a:lnSpc>
              <a:buFontTx/>
              <a:buNone/>
            </a:pPr>
            <a:r>
              <a:rPr lang="en-US" altLang="en-US">
                <a:latin typeface="Arial" pitchFamily="34" charset="0"/>
                <a:cs typeface="Arial" pitchFamily="34" charset="0"/>
              </a:rPr>
              <a:t>1.1- SDLC and Testing</a:t>
            </a:r>
          </a:p>
          <a:p>
            <a:pPr eaLnBrk="1" hangingPunct="1">
              <a:lnSpc>
                <a:spcPct val="90000"/>
              </a:lnSpc>
              <a:buFontTx/>
              <a:buNone/>
            </a:pPr>
            <a:r>
              <a:rPr lang="en-US" altLang="en-US">
                <a:latin typeface="Arial" pitchFamily="34" charset="0"/>
                <a:cs typeface="Arial" pitchFamily="34" charset="0"/>
              </a:rPr>
              <a:t>1.2- Waterfall Model</a:t>
            </a:r>
          </a:p>
          <a:p>
            <a:pPr eaLnBrk="1" hangingPunct="1">
              <a:lnSpc>
                <a:spcPct val="90000"/>
              </a:lnSpc>
              <a:buFontTx/>
              <a:buNone/>
            </a:pPr>
            <a:r>
              <a:rPr lang="en-US" altLang="en-US">
                <a:latin typeface="Arial" pitchFamily="34" charset="0"/>
                <a:cs typeface="Arial" pitchFamily="34" charset="0"/>
              </a:rPr>
              <a:t>1.3- Spiral Model</a:t>
            </a:r>
          </a:p>
          <a:p>
            <a:pPr eaLnBrk="1" hangingPunct="1">
              <a:lnSpc>
                <a:spcPct val="90000"/>
              </a:lnSpc>
              <a:buFontTx/>
              <a:buNone/>
            </a:pPr>
            <a:r>
              <a:rPr lang="en-US" altLang="en-US">
                <a:latin typeface="Arial" pitchFamily="34" charset="0"/>
                <a:cs typeface="Arial" pitchFamily="34" charset="0"/>
              </a:rPr>
              <a:t>1.4- V-Model</a:t>
            </a:r>
          </a:p>
          <a:p>
            <a:pPr eaLnBrk="1" hangingPunct="1">
              <a:lnSpc>
                <a:spcPct val="90000"/>
              </a:lnSpc>
              <a:buFontTx/>
              <a:buNone/>
            </a:pPr>
            <a:r>
              <a:rPr lang="en-US" altLang="en-US">
                <a:latin typeface="Arial" pitchFamily="34" charset="0"/>
                <a:cs typeface="Arial" pitchFamily="34" charset="0"/>
              </a:rPr>
              <a:t>1.5- Concurrent Model</a:t>
            </a:r>
          </a:p>
          <a:p>
            <a:pPr eaLnBrk="1" hangingPunct="1">
              <a:lnSpc>
                <a:spcPct val="90000"/>
              </a:lnSpc>
              <a:buFontTx/>
              <a:buNone/>
            </a:pPr>
            <a:r>
              <a:rPr lang="en-US" altLang="en-US">
                <a:latin typeface="Arial" pitchFamily="34" charset="0"/>
                <a:cs typeface="Arial" pitchFamily="34" charset="0"/>
              </a:rPr>
              <a:t>1.6- Agile Model</a:t>
            </a:r>
          </a:p>
          <a:p>
            <a:pPr eaLnBrk="1" hangingPunct="1">
              <a:lnSpc>
                <a:spcPct val="90000"/>
              </a:lnSpc>
              <a:buFontTx/>
              <a:buNone/>
            </a:pPr>
            <a:r>
              <a:rPr lang="en-US" altLang="en-US">
                <a:latin typeface="Arial" pitchFamily="34" charset="0"/>
                <a:cs typeface="Arial" pitchFamily="34" charset="0"/>
              </a:rPr>
              <a:t>1.7- Other SDLC Models</a:t>
            </a:r>
          </a:p>
          <a:p>
            <a:pPr eaLnBrk="1" hangingPunct="1">
              <a:lnSpc>
                <a:spcPct val="90000"/>
              </a:lnSpc>
              <a:buFont typeface="Arial" pitchFamily="34" charset="0"/>
              <a:buNone/>
            </a:pPr>
            <a:r>
              <a:rPr lang="en-US" altLang="en-US">
                <a:latin typeface="Arial" pitchFamily="34" charset="0"/>
                <a:cs typeface="Arial" pitchFamily="34" charset="0"/>
              </a:rPr>
              <a:t>1.8- Testing Phases and Milestones</a:t>
            </a:r>
          </a:p>
          <a:p>
            <a:pPr eaLnBrk="1" hangingPunct="1">
              <a:lnSpc>
                <a:spcPct val="90000"/>
              </a:lnSpc>
              <a:buFont typeface="Arial" pitchFamily="34" charset="0"/>
              <a:buNone/>
            </a:pPr>
            <a:r>
              <a:rPr lang="en-US" altLang="en-US" b="1">
                <a:solidFill>
                  <a:srgbClr val="000099"/>
                </a:solidFill>
                <a:latin typeface="Arial" pitchFamily="34" charset="0"/>
                <a:cs typeface="Arial" pitchFamily="34" charset="0"/>
              </a:rPr>
              <a:t>1.9- DevOps and CI/CD</a:t>
            </a:r>
          </a:p>
          <a:p>
            <a:pPr eaLnBrk="1" hangingPunct="1">
              <a:lnSpc>
                <a:spcPct val="90000"/>
              </a:lnSpc>
              <a:buFontTx/>
              <a:buNone/>
            </a:pPr>
            <a:endParaRPr lang="en-US" altLang="en-US" b="1">
              <a:solidFill>
                <a:srgbClr val="000099"/>
              </a:solidFill>
              <a:latin typeface="Arial" pitchFamily="34" charset="0"/>
              <a:cs typeface="Arial" pitchFamily="34" charset="0"/>
            </a:endParaRPr>
          </a:p>
        </p:txBody>
      </p:sp>
      <p:sp>
        <p:nvSpPr>
          <p:cNvPr id="40964"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C0D25B1C-6844-4350-93F6-F31C8425068C}" type="slidenum">
              <a:rPr lang="en-US" altLang="en-US" sz="1200">
                <a:solidFill>
                  <a:srgbClr val="A6A6A6"/>
                </a:solidFill>
              </a:rPr>
              <a:pPr algn="r" eaLnBrk="1" hangingPunct="1">
                <a:spcBef>
                  <a:spcPct val="0"/>
                </a:spcBef>
                <a:buClrTx/>
                <a:buSzTx/>
                <a:buFontTx/>
                <a:buNone/>
              </a:pPr>
              <a:t>31</a:t>
            </a:fld>
            <a:endParaRPr lang="en-US" altLang="en-US" sz="1200">
              <a:solidFill>
                <a:srgbClr val="A6A6A6"/>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p:cNvSpPr>
            <a:spLocks noGrp="1" noChangeArrowheads="1"/>
          </p:cNvSpPr>
          <p:nvPr>
            <p:ph idx="1"/>
          </p:nvPr>
        </p:nvSpPr>
        <p:spPr>
          <a:xfrm>
            <a:off x="838200" y="1047750"/>
            <a:ext cx="7772400" cy="2562225"/>
          </a:xfrm>
        </p:spPr>
        <p:txBody>
          <a:bodyPr/>
          <a:lstStyle/>
          <a:p>
            <a:pPr marL="342900" lvl="2" indent="-342900" algn="just" eaLnBrk="1" hangingPunct="1">
              <a:spcBef>
                <a:spcPts val="600"/>
              </a:spcBef>
              <a:spcAft>
                <a:spcPts val="600"/>
              </a:spcAft>
            </a:pPr>
            <a:r>
              <a:rPr lang="en-US" altLang="en-US" sz="1800" b="1">
                <a:solidFill>
                  <a:schemeClr val="tx1"/>
                </a:solidFill>
                <a:latin typeface="Arial" pitchFamily="34" charset="0"/>
                <a:cs typeface="Arial" pitchFamily="34" charset="0"/>
              </a:rPr>
              <a:t>DevOps</a:t>
            </a:r>
            <a:r>
              <a:rPr lang="en-US" altLang="en-US" sz="1800">
                <a:solidFill>
                  <a:schemeClr val="tx1"/>
                </a:solidFill>
                <a:latin typeface="Arial" pitchFamily="34" charset="0"/>
                <a:cs typeface="Arial" pitchFamily="34" charset="0"/>
              </a:rPr>
              <a:t> = “software </a:t>
            </a:r>
            <a:r>
              <a:rPr lang="en-US" altLang="en-US" sz="1800" b="1">
                <a:solidFill>
                  <a:schemeClr val="tx1"/>
                </a:solidFill>
                <a:latin typeface="Arial" pitchFamily="34" charset="0"/>
                <a:cs typeface="Arial" pitchFamily="34" charset="0"/>
              </a:rPr>
              <a:t>DEV</a:t>
            </a:r>
            <a:r>
              <a:rPr lang="en-US" altLang="en-US" sz="1800">
                <a:solidFill>
                  <a:schemeClr val="tx1"/>
                </a:solidFill>
                <a:latin typeface="Arial" pitchFamily="34" charset="0"/>
                <a:cs typeface="Arial" pitchFamily="34" charset="0"/>
              </a:rPr>
              <a:t>elopment” and “</a:t>
            </a:r>
            <a:r>
              <a:rPr lang="en-US" altLang="en-US" sz="1800" b="1">
                <a:solidFill>
                  <a:schemeClr val="tx1"/>
                </a:solidFill>
                <a:latin typeface="Arial" pitchFamily="34" charset="0"/>
                <a:cs typeface="Arial" pitchFamily="34" charset="0"/>
              </a:rPr>
              <a:t>OP</a:t>
            </a:r>
            <a:r>
              <a:rPr lang="en-US" altLang="en-US" sz="1800">
                <a:solidFill>
                  <a:schemeClr val="tx1"/>
                </a:solidFill>
                <a:latin typeface="Arial" pitchFamily="34" charset="0"/>
                <a:cs typeface="Arial" pitchFamily="34" charset="0"/>
              </a:rPr>
              <a:t>eration</a:t>
            </a:r>
            <a:r>
              <a:rPr lang="en-US" altLang="en-US" sz="1800" b="1">
                <a:solidFill>
                  <a:schemeClr val="tx1"/>
                </a:solidFill>
                <a:latin typeface="Arial" pitchFamily="34" charset="0"/>
                <a:cs typeface="Arial" pitchFamily="34" charset="0"/>
              </a:rPr>
              <a:t>S</a:t>
            </a:r>
            <a:r>
              <a:rPr lang="en-US" altLang="en-US" sz="1800">
                <a:solidFill>
                  <a:schemeClr val="tx1"/>
                </a:solidFill>
                <a:latin typeface="Arial" pitchFamily="34" charset="0"/>
                <a:cs typeface="Arial" pitchFamily="34" charset="0"/>
              </a:rPr>
              <a:t>”</a:t>
            </a:r>
          </a:p>
          <a:p>
            <a:pPr marL="342900" lvl="2" indent="-342900" algn="just" eaLnBrk="1" hangingPunct="1">
              <a:spcBef>
                <a:spcPts val="600"/>
              </a:spcBef>
              <a:spcAft>
                <a:spcPts val="600"/>
              </a:spcAft>
            </a:pPr>
            <a:r>
              <a:rPr lang="en-US" altLang="en-US" sz="1800">
                <a:solidFill>
                  <a:schemeClr val="tx1"/>
                </a:solidFill>
                <a:latin typeface="Arial" pitchFamily="34" charset="0"/>
                <a:cs typeface="Arial" pitchFamily="34" charset="0"/>
              </a:rPr>
              <a:t>DevOps is a software engineering culture and practice that aims at unifying software development (Dev) and software operation (Ops). The main characteristic of the DevOps movement is to strongly advocate automation and monitoring at all steps of software construction, from integration, testing, releasing to deployment and infrastructure management.</a:t>
            </a:r>
          </a:p>
        </p:txBody>
      </p:sp>
      <p:sp>
        <p:nvSpPr>
          <p:cNvPr id="41987" name="Rectangle 4"/>
          <p:cNvSpPr>
            <a:spLocks noChangeArrowheads="1"/>
          </p:cNvSpPr>
          <p:nvPr/>
        </p:nvSpPr>
        <p:spPr bwMode="auto">
          <a:xfrm>
            <a:off x="4763" y="171450"/>
            <a:ext cx="6197600"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defTabSz="457200">
              <a:defRPr sz="2400">
                <a:solidFill>
                  <a:schemeClr val="tx1"/>
                </a:solidFill>
                <a:latin typeface="Arial" pitchFamily="34" charset="0"/>
              </a:defRPr>
            </a:lvl1pPr>
            <a:lvl2pPr marL="742950" indent="-285750" defTabSz="457200">
              <a:defRPr sz="2400">
                <a:solidFill>
                  <a:schemeClr val="tx1"/>
                </a:solidFill>
                <a:latin typeface="Arial" pitchFamily="34" charset="0"/>
              </a:defRPr>
            </a:lvl2pPr>
            <a:lvl3pPr marL="1143000" indent="-228600" defTabSz="457200">
              <a:defRPr sz="2400">
                <a:solidFill>
                  <a:schemeClr val="tx1"/>
                </a:solidFill>
                <a:latin typeface="Arial" pitchFamily="34" charset="0"/>
              </a:defRPr>
            </a:lvl3pPr>
            <a:lvl4pPr marL="1600200" indent="-228600" defTabSz="457200">
              <a:defRPr sz="2400">
                <a:solidFill>
                  <a:schemeClr val="tx1"/>
                </a:solidFill>
                <a:latin typeface="Arial" pitchFamily="34" charset="0"/>
              </a:defRPr>
            </a:lvl4pPr>
            <a:lvl5pPr marL="2057400" indent="-228600" defTabSz="457200">
              <a:defRPr sz="2400">
                <a:solidFill>
                  <a:schemeClr val="tx1"/>
                </a:solidFill>
                <a:latin typeface="Arial" pitchFamily="34" charset="0"/>
              </a:defRPr>
            </a:lvl5pPr>
            <a:lvl6pPr marL="2514600" indent="-228600" defTabSz="457200" eaLnBrk="0" fontAlgn="base" hangingPunct="0">
              <a:spcBef>
                <a:spcPct val="0"/>
              </a:spcBef>
              <a:spcAft>
                <a:spcPct val="0"/>
              </a:spcAft>
              <a:defRPr sz="2400">
                <a:solidFill>
                  <a:schemeClr val="tx1"/>
                </a:solidFill>
                <a:latin typeface="Arial" pitchFamily="34" charset="0"/>
              </a:defRPr>
            </a:lvl6pPr>
            <a:lvl7pPr marL="2971800" indent="-228600" defTabSz="457200" eaLnBrk="0" fontAlgn="base" hangingPunct="0">
              <a:spcBef>
                <a:spcPct val="0"/>
              </a:spcBef>
              <a:spcAft>
                <a:spcPct val="0"/>
              </a:spcAft>
              <a:defRPr sz="2400">
                <a:solidFill>
                  <a:schemeClr val="tx1"/>
                </a:solidFill>
                <a:latin typeface="Arial" pitchFamily="34" charset="0"/>
              </a:defRPr>
            </a:lvl7pPr>
            <a:lvl8pPr marL="3429000" indent="-228600" defTabSz="457200" eaLnBrk="0" fontAlgn="base" hangingPunct="0">
              <a:spcBef>
                <a:spcPct val="0"/>
              </a:spcBef>
              <a:spcAft>
                <a:spcPct val="0"/>
              </a:spcAft>
              <a:defRPr sz="2400">
                <a:solidFill>
                  <a:schemeClr val="tx1"/>
                </a:solidFill>
                <a:latin typeface="Arial" pitchFamily="34" charset="0"/>
              </a:defRPr>
            </a:lvl8pPr>
            <a:lvl9pPr marL="3886200" indent="-228600" defTabSz="457200" eaLnBrk="0" fontAlgn="base" hangingPunct="0">
              <a:spcBef>
                <a:spcPct val="0"/>
              </a:spcBef>
              <a:spcAft>
                <a:spcPct val="0"/>
              </a:spcAft>
              <a:defRPr sz="2400">
                <a:solidFill>
                  <a:schemeClr val="tx1"/>
                </a:solidFill>
                <a:latin typeface="Arial" pitchFamily="34" charset="0"/>
              </a:defRPr>
            </a:lvl9pPr>
          </a:lstStyle>
          <a:p>
            <a:r>
              <a:rPr lang="en-US" altLang="en-US" sz="3200" b="1">
                <a:solidFill>
                  <a:srgbClr val="164D90"/>
                </a:solidFill>
                <a:latin typeface="Open Sans"/>
                <a:ea typeface="Open Sans"/>
                <a:cs typeface="Open Sans"/>
              </a:rPr>
              <a:t>   DevOps Overview</a:t>
            </a:r>
          </a:p>
        </p:txBody>
      </p:sp>
      <p:sp>
        <p:nvSpPr>
          <p:cNvPr id="48" name="Rectangle 3"/>
          <p:cNvSpPr txBox="1">
            <a:spLocks noChangeArrowheads="1"/>
          </p:cNvSpPr>
          <p:nvPr/>
        </p:nvSpPr>
        <p:spPr bwMode="auto">
          <a:xfrm>
            <a:off x="838200" y="3181350"/>
            <a:ext cx="5257800" cy="1530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2" indent="-342900" algn="just" defTabSz="457200">
              <a:spcBef>
                <a:spcPts val="600"/>
              </a:spcBef>
              <a:spcAft>
                <a:spcPts val="600"/>
              </a:spcAft>
              <a:buClr>
                <a:schemeClr val="accent1"/>
              </a:buClr>
              <a:buSzPct val="80000"/>
              <a:buFont typeface="Wingdings 3" pitchFamily="18" charset="2"/>
              <a:buChar char=""/>
              <a:defRPr/>
            </a:pPr>
            <a:r>
              <a:rPr lang="en-US" sz="1800" dirty="0">
                <a:solidFill>
                  <a:srgbClr val="404040"/>
                </a:solidFill>
              </a:rPr>
              <a:t>DevOps aims at shorter development cycles, increased deployment frequency, and more dependable releases, in close alignment with business </a:t>
            </a:r>
            <a:r>
              <a:rPr lang="en-US" sz="1800">
                <a:solidFill>
                  <a:srgbClr val="404040"/>
                </a:solidFill>
              </a:rPr>
              <a:t>objectives.</a:t>
            </a:r>
            <a:endParaRPr lang="en-US" sz="1800" dirty="0">
              <a:solidFill>
                <a:srgbClr val="404040"/>
              </a:solidFill>
            </a:endParaRPr>
          </a:p>
          <a:p>
            <a:pPr marL="0" indent="0" algn="ctr" eaLnBrk="1" hangingPunct="1">
              <a:lnSpc>
                <a:spcPct val="90000"/>
              </a:lnSpc>
              <a:buFont typeface="Arial" charset="0"/>
              <a:buNone/>
              <a:defRPr/>
            </a:pPr>
            <a:endParaRPr lang="en-US" altLang="en-US" sz="2000" dirty="0">
              <a:latin typeface="Arial" charset="0"/>
              <a:cs typeface="Arial" charset="0"/>
            </a:endParaRPr>
          </a:p>
        </p:txBody>
      </p:sp>
      <p:pic>
        <p:nvPicPr>
          <p:cNvPr id="41989" name="Picture 4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021013"/>
            <a:ext cx="2590800" cy="1760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41990"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E95C693A-F0F1-4A71-B59D-88654402D488}" type="slidenum">
              <a:rPr lang="en-US" altLang="en-US" sz="1200">
                <a:solidFill>
                  <a:srgbClr val="A6A6A6"/>
                </a:solidFill>
              </a:rPr>
              <a:pPr algn="r" eaLnBrk="1" hangingPunct="1">
                <a:spcBef>
                  <a:spcPct val="0"/>
                </a:spcBef>
                <a:buClrTx/>
                <a:buSzTx/>
                <a:buFontTx/>
                <a:buNone/>
              </a:pPr>
              <a:t>32</a:t>
            </a:fld>
            <a:endParaRPr lang="en-US" altLang="en-US" sz="1200">
              <a:solidFill>
                <a:srgbClr val="A6A6A6"/>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4"/>
          <p:cNvSpPr>
            <a:spLocks noChangeArrowheads="1"/>
          </p:cNvSpPr>
          <p:nvPr/>
        </p:nvSpPr>
        <p:spPr bwMode="auto">
          <a:xfrm>
            <a:off x="4763" y="171450"/>
            <a:ext cx="7386637"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defTabSz="457200">
              <a:defRPr sz="2400">
                <a:solidFill>
                  <a:schemeClr val="tx1"/>
                </a:solidFill>
                <a:latin typeface="Arial" pitchFamily="34" charset="0"/>
              </a:defRPr>
            </a:lvl1pPr>
            <a:lvl2pPr marL="742950" indent="-285750" defTabSz="457200">
              <a:defRPr sz="2400">
                <a:solidFill>
                  <a:schemeClr val="tx1"/>
                </a:solidFill>
                <a:latin typeface="Arial" pitchFamily="34" charset="0"/>
              </a:defRPr>
            </a:lvl2pPr>
            <a:lvl3pPr marL="1143000" indent="-228600" defTabSz="457200">
              <a:defRPr sz="2400">
                <a:solidFill>
                  <a:schemeClr val="tx1"/>
                </a:solidFill>
                <a:latin typeface="Arial" pitchFamily="34" charset="0"/>
              </a:defRPr>
            </a:lvl3pPr>
            <a:lvl4pPr marL="1600200" indent="-228600" defTabSz="457200">
              <a:defRPr sz="2400">
                <a:solidFill>
                  <a:schemeClr val="tx1"/>
                </a:solidFill>
                <a:latin typeface="Arial" pitchFamily="34" charset="0"/>
              </a:defRPr>
            </a:lvl4pPr>
            <a:lvl5pPr marL="2057400" indent="-228600" defTabSz="457200">
              <a:defRPr sz="2400">
                <a:solidFill>
                  <a:schemeClr val="tx1"/>
                </a:solidFill>
                <a:latin typeface="Arial" pitchFamily="34" charset="0"/>
              </a:defRPr>
            </a:lvl5pPr>
            <a:lvl6pPr marL="2514600" indent="-228600" defTabSz="457200" eaLnBrk="0" fontAlgn="base" hangingPunct="0">
              <a:spcBef>
                <a:spcPct val="0"/>
              </a:spcBef>
              <a:spcAft>
                <a:spcPct val="0"/>
              </a:spcAft>
              <a:defRPr sz="2400">
                <a:solidFill>
                  <a:schemeClr val="tx1"/>
                </a:solidFill>
                <a:latin typeface="Arial" pitchFamily="34" charset="0"/>
              </a:defRPr>
            </a:lvl6pPr>
            <a:lvl7pPr marL="2971800" indent="-228600" defTabSz="457200" eaLnBrk="0" fontAlgn="base" hangingPunct="0">
              <a:spcBef>
                <a:spcPct val="0"/>
              </a:spcBef>
              <a:spcAft>
                <a:spcPct val="0"/>
              </a:spcAft>
              <a:defRPr sz="2400">
                <a:solidFill>
                  <a:schemeClr val="tx1"/>
                </a:solidFill>
                <a:latin typeface="Arial" pitchFamily="34" charset="0"/>
              </a:defRPr>
            </a:lvl7pPr>
            <a:lvl8pPr marL="3429000" indent="-228600" defTabSz="457200" eaLnBrk="0" fontAlgn="base" hangingPunct="0">
              <a:spcBef>
                <a:spcPct val="0"/>
              </a:spcBef>
              <a:spcAft>
                <a:spcPct val="0"/>
              </a:spcAft>
              <a:defRPr sz="2400">
                <a:solidFill>
                  <a:schemeClr val="tx1"/>
                </a:solidFill>
                <a:latin typeface="Arial" pitchFamily="34" charset="0"/>
              </a:defRPr>
            </a:lvl8pPr>
            <a:lvl9pPr marL="3886200" indent="-228600" defTabSz="457200" eaLnBrk="0" fontAlgn="base" hangingPunct="0">
              <a:spcBef>
                <a:spcPct val="0"/>
              </a:spcBef>
              <a:spcAft>
                <a:spcPct val="0"/>
              </a:spcAft>
              <a:defRPr sz="2400">
                <a:solidFill>
                  <a:schemeClr val="tx1"/>
                </a:solidFill>
                <a:latin typeface="Arial" pitchFamily="34" charset="0"/>
              </a:defRPr>
            </a:lvl9pPr>
          </a:lstStyle>
          <a:p>
            <a:r>
              <a:rPr lang="en-US" altLang="en-US" sz="3200" b="1">
                <a:solidFill>
                  <a:srgbClr val="164D90"/>
                </a:solidFill>
                <a:latin typeface="Open Sans"/>
                <a:ea typeface="Open Sans"/>
                <a:cs typeface="Open Sans"/>
              </a:rPr>
              <a:t>   Life Before DevOps</a:t>
            </a:r>
          </a:p>
        </p:txBody>
      </p:sp>
      <p:pic>
        <p:nvPicPr>
          <p:cNvPr id="430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9425" y="3581400"/>
            <a:ext cx="1298575" cy="11699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4301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3" y="1027113"/>
            <a:ext cx="9139237" cy="23733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4301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73525" y="2400300"/>
            <a:ext cx="1031875" cy="776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43014"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19800" y="3543300"/>
            <a:ext cx="3048000" cy="1165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43015"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24200" y="1485900"/>
            <a:ext cx="2832100" cy="8874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43016"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13088" y="3257550"/>
            <a:ext cx="2830512" cy="15065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43017"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F261F930-329A-487D-8A2F-39B1E646F6C5}" type="slidenum">
              <a:rPr lang="en-US" altLang="en-US" sz="1200">
                <a:solidFill>
                  <a:srgbClr val="A6A6A6"/>
                </a:solidFill>
              </a:rPr>
              <a:pPr algn="r" eaLnBrk="1" hangingPunct="1">
                <a:spcBef>
                  <a:spcPct val="0"/>
                </a:spcBef>
                <a:buClrTx/>
                <a:buSzTx/>
                <a:buFontTx/>
                <a:buNone/>
              </a:pPr>
              <a:t>33</a:t>
            </a:fld>
            <a:endParaRPr lang="en-US" altLang="en-US" sz="1200">
              <a:solidFill>
                <a:srgbClr val="A6A6A6"/>
              </a:solidFill>
            </a:endParaRPr>
          </a:p>
        </p:txBody>
      </p:sp>
      <p:pic>
        <p:nvPicPr>
          <p:cNvPr id="43018"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8600" y="3371850"/>
            <a:ext cx="1520825" cy="1200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361950"/>
            <a:ext cx="45720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5" name="Rectangle 4"/>
          <p:cNvSpPr>
            <a:spLocks noChangeArrowheads="1"/>
          </p:cNvSpPr>
          <p:nvPr/>
        </p:nvSpPr>
        <p:spPr bwMode="auto">
          <a:xfrm>
            <a:off x="4763" y="171450"/>
            <a:ext cx="7691437"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defTabSz="457200">
              <a:defRPr sz="2400">
                <a:solidFill>
                  <a:schemeClr val="tx1"/>
                </a:solidFill>
                <a:latin typeface="Arial" pitchFamily="34" charset="0"/>
              </a:defRPr>
            </a:lvl1pPr>
            <a:lvl2pPr marL="742950" indent="-285750" defTabSz="457200">
              <a:defRPr sz="2400">
                <a:solidFill>
                  <a:schemeClr val="tx1"/>
                </a:solidFill>
                <a:latin typeface="Arial" pitchFamily="34" charset="0"/>
              </a:defRPr>
            </a:lvl2pPr>
            <a:lvl3pPr marL="1143000" indent="-228600" defTabSz="457200">
              <a:defRPr sz="2400">
                <a:solidFill>
                  <a:schemeClr val="tx1"/>
                </a:solidFill>
                <a:latin typeface="Arial" pitchFamily="34" charset="0"/>
              </a:defRPr>
            </a:lvl3pPr>
            <a:lvl4pPr marL="1600200" indent="-228600" defTabSz="457200">
              <a:defRPr sz="2400">
                <a:solidFill>
                  <a:schemeClr val="tx1"/>
                </a:solidFill>
                <a:latin typeface="Arial" pitchFamily="34" charset="0"/>
              </a:defRPr>
            </a:lvl4pPr>
            <a:lvl5pPr marL="2057400" indent="-228600" defTabSz="457200">
              <a:defRPr sz="2400">
                <a:solidFill>
                  <a:schemeClr val="tx1"/>
                </a:solidFill>
                <a:latin typeface="Arial" pitchFamily="34" charset="0"/>
              </a:defRPr>
            </a:lvl5pPr>
            <a:lvl6pPr marL="2514600" indent="-228600" defTabSz="457200" eaLnBrk="0" fontAlgn="base" hangingPunct="0">
              <a:spcBef>
                <a:spcPct val="0"/>
              </a:spcBef>
              <a:spcAft>
                <a:spcPct val="0"/>
              </a:spcAft>
              <a:defRPr sz="2400">
                <a:solidFill>
                  <a:schemeClr val="tx1"/>
                </a:solidFill>
                <a:latin typeface="Arial" pitchFamily="34" charset="0"/>
              </a:defRPr>
            </a:lvl6pPr>
            <a:lvl7pPr marL="2971800" indent="-228600" defTabSz="457200" eaLnBrk="0" fontAlgn="base" hangingPunct="0">
              <a:spcBef>
                <a:spcPct val="0"/>
              </a:spcBef>
              <a:spcAft>
                <a:spcPct val="0"/>
              </a:spcAft>
              <a:defRPr sz="2400">
                <a:solidFill>
                  <a:schemeClr val="tx1"/>
                </a:solidFill>
                <a:latin typeface="Arial" pitchFamily="34" charset="0"/>
              </a:defRPr>
            </a:lvl7pPr>
            <a:lvl8pPr marL="3429000" indent="-228600" defTabSz="457200" eaLnBrk="0" fontAlgn="base" hangingPunct="0">
              <a:spcBef>
                <a:spcPct val="0"/>
              </a:spcBef>
              <a:spcAft>
                <a:spcPct val="0"/>
              </a:spcAft>
              <a:defRPr sz="2400">
                <a:solidFill>
                  <a:schemeClr val="tx1"/>
                </a:solidFill>
                <a:latin typeface="Arial" pitchFamily="34" charset="0"/>
              </a:defRPr>
            </a:lvl8pPr>
            <a:lvl9pPr marL="3886200" indent="-228600" defTabSz="457200" eaLnBrk="0" fontAlgn="base" hangingPunct="0">
              <a:spcBef>
                <a:spcPct val="0"/>
              </a:spcBef>
              <a:spcAft>
                <a:spcPct val="0"/>
              </a:spcAft>
              <a:defRPr sz="2400">
                <a:solidFill>
                  <a:schemeClr val="tx1"/>
                </a:solidFill>
                <a:latin typeface="Arial" pitchFamily="34" charset="0"/>
              </a:defRPr>
            </a:lvl9pPr>
          </a:lstStyle>
          <a:p>
            <a:r>
              <a:rPr lang="en-US" altLang="en-US" sz="3200" b="1">
                <a:solidFill>
                  <a:srgbClr val="164D90"/>
                </a:solidFill>
                <a:latin typeface="Open Sans"/>
                <a:ea typeface="Open Sans"/>
                <a:cs typeface="Open Sans"/>
              </a:rPr>
              <a:t>   DevOps Goals</a:t>
            </a:r>
          </a:p>
        </p:txBody>
      </p:sp>
      <p:sp>
        <p:nvSpPr>
          <p:cNvPr id="44036" name="Rectangle 3"/>
          <p:cNvSpPr txBox="1">
            <a:spLocks noChangeArrowheads="1"/>
          </p:cNvSpPr>
          <p:nvPr/>
        </p:nvSpPr>
        <p:spPr bwMode="auto">
          <a:xfrm>
            <a:off x="838200" y="2949575"/>
            <a:ext cx="7848600" cy="122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457200">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defTabSz="45720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342900" indent="-342900" defTabSz="4572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defTabSz="4572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defTabSz="4572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defTabSz="4572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defTabSz="4572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defTabSz="4572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defTabSz="4572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lvl="2" algn="just">
              <a:spcBef>
                <a:spcPct val="0"/>
              </a:spcBef>
            </a:pPr>
            <a:r>
              <a:rPr lang="en-US" altLang="en-US" sz="1800">
                <a:solidFill>
                  <a:schemeClr val="tx1"/>
                </a:solidFill>
                <a:latin typeface="Arial" pitchFamily="34" charset="0"/>
                <a:cs typeface="Arial" pitchFamily="34" charset="0"/>
              </a:rPr>
              <a:t>Improved deployment frequency;</a:t>
            </a:r>
          </a:p>
          <a:p>
            <a:pPr lvl="2" algn="just">
              <a:spcBef>
                <a:spcPct val="0"/>
              </a:spcBef>
            </a:pPr>
            <a:r>
              <a:rPr lang="en-US" altLang="en-US" sz="1800">
                <a:solidFill>
                  <a:schemeClr val="tx1"/>
                </a:solidFill>
                <a:latin typeface="Arial" pitchFamily="34" charset="0"/>
                <a:cs typeface="Arial" pitchFamily="34" charset="0"/>
              </a:rPr>
              <a:t>Faster time to market;</a:t>
            </a:r>
          </a:p>
          <a:p>
            <a:pPr lvl="2" algn="just">
              <a:spcBef>
                <a:spcPct val="0"/>
              </a:spcBef>
            </a:pPr>
            <a:r>
              <a:rPr lang="en-US" altLang="en-US" sz="1800">
                <a:solidFill>
                  <a:schemeClr val="tx1"/>
                </a:solidFill>
                <a:latin typeface="Arial" pitchFamily="34" charset="0"/>
                <a:cs typeface="Arial" pitchFamily="34" charset="0"/>
              </a:rPr>
              <a:t>Lower failure rate of new releases;</a:t>
            </a:r>
          </a:p>
          <a:p>
            <a:pPr lvl="2" algn="just">
              <a:spcBef>
                <a:spcPct val="0"/>
              </a:spcBef>
            </a:pPr>
            <a:r>
              <a:rPr lang="en-US" altLang="en-US" sz="1800">
                <a:solidFill>
                  <a:schemeClr val="tx1"/>
                </a:solidFill>
                <a:latin typeface="Arial" pitchFamily="34" charset="0"/>
                <a:cs typeface="Arial" pitchFamily="34" charset="0"/>
              </a:rPr>
              <a:t>Shortened lead time between fixes;</a:t>
            </a:r>
          </a:p>
          <a:p>
            <a:pPr lvl="2" algn="just">
              <a:spcBef>
                <a:spcPct val="0"/>
              </a:spcBef>
            </a:pPr>
            <a:r>
              <a:rPr lang="en-US" altLang="en-US" sz="1800">
                <a:solidFill>
                  <a:schemeClr val="tx1"/>
                </a:solidFill>
                <a:latin typeface="Arial" pitchFamily="34" charset="0"/>
                <a:cs typeface="Arial" pitchFamily="34" charset="0"/>
              </a:rPr>
              <a:t>Faster mean time to recovery (in the event of a new release crashing or otherwise disabling the current system).</a:t>
            </a:r>
          </a:p>
        </p:txBody>
      </p:sp>
      <p:sp>
        <p:nvSpPr>
          <p:cNvPr id="44037"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AE7F642B-6B91-4B45-B70D-8F655FF108EA}" type="slidenum">
              <a:rPr lang="en-US" altLang="en-US" sz="1200">
                <a:solidFill>
                  <a:srgbClr val="A6A6A6"/>
                </a:solidFill>
              </a:rPr>
              <a:pPr algn="r" eaLnBrk="1" hangingPunct="1">
                <a:spcBef>
                  <a:spcPct val="0"/>
                </a:spcBef>
                <a:buClrTx/>
                <a:buSzTx/>
                <a:buFontTx/>
                <a:buNone/>
              </a:pPr>
              <a:t>34</a:t>
            </a:fld>
            <a:endParaRPr lang="en-US" altLang="en-US" sz="1200">
              <a:solidFill>
                <a:srgbClr val="A6A6A6"/>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4"/>
          <p:cNvSpPr>
            <a:spLocks noChangeArrowheads="1"/>
          </p:cNvSpPr>
          <p:nvPr/>
        </p:nvSpPr>
        <p:spPr bwMode="auto">
          <a:xfrm>
            <a:off x="4763" y="171450"/>
            <a:ext cx="6197600"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defTabSz="457200">
              <a:defRPr sz="2400">
                <a:solidFill>
                  <a:schemeClr val="tx1"/>
                </a:solidFill>
                <a:latin typeface="Arial" pitchFamily="34" charset="0"/>
              </a:defRPr>
            </a:lvl1pPr>
            <a:lvl2pPr marL="742950" indent="-285750" defTabSz="457200">
              <a:defRPr sz="2400">
                <a:solidFill>
                  <a:schemeClr val="tx1"/>
                </a:solidFill>
                <a:latin typeface="Arial" pitchFamily="34" charset="0"/>
              </a:defRPr>
            </a:lvl2pPr>
            <a:lvl3pPr marL="1143000" indent="-228600" defTabSz="457200">
              <a:defRPr sz="2400">
                <a:solidFill>
                  <a:schemeClr val="tx1"/>
                </a:solidFill>
                <a:latin typeface="Arial" pitchFamily="34" charset="0"/>
              </a:defRPr>
            </a:lvl3pPr>
            <a:lvl4pPr marL="1600200" indent="-228600" defTabSz="457200">
              <a:defRPr sz="2400">
                <a:solidFill>
                  <a:schemeClr val="tx1"/>
                </a:solidFill>
                <a:latin typeface="Arial" pitchFamily="34" charset="0"/>
              </a:defRPr>
            </a:lvl4pPr>
            <a:lvl5pPr marL="2057400" indent="-228600" defTabSz="457200">
              <a:defRPr sz="2400">
                <a:solidFill>
                  <a:schemeClr val="tx1"/>
                </a:solidFill>
                <a:latin typeface="Arial" pitchFamily="34" charset="0"/>
              </a:defRPr>
            </a:lvl5pPr>
            <a:lvl6pPr marL="2514600" indent="-228600" defTabSz="457200" eaLnBrk="0" fontAlgn="base" hangingPunct="0">
              <a:spcBef>
                <a:spcPct val="0"/>
              </a:spcBef>
              <a:spcAft>
                <a:spcPct val="0"/>
              </a:spcAft>
              <a:defRPr sz="2400">
                <a:solidFill>
                  <a:schemeClr val="tx1"/>
                </a:solidFill>
                <a:latin typeface="Arial" pitchFamily="34" charset="0"/>
              </a:defRPr>
            </a:lvl6pPr>
            <a:lvl7pPr marL="2971800" indent="-228600" defTabSz="457200" eaLnBrk="0" fontAlgn="base" hangingPunct="0">
              <a:spcBef>
                <a:spcPct val="0"/>
              </a:spcBef>
              <a:spcAft>
                <a:spcPct val="0"/>
              </a:spcAft>
              <a:defRPr sz="2400">
                <a:solidFill>
                  <a:schemeClr val="tx1"/>
                </a:solidFill>
                <a:latin typeface="Arial" pitchFamily="34" charset="0"/>
              </a:defRPr>
            </a:lvl7pPr>
            <a:lvl8pPr marL="3429000" indent="-228600" defTabSz="457200" eaLnBrk="0" fontAlgn="base" hangingPunct="0">
              <a:spcBef>
                <a:spcPct val="0"/>
              </a:spcBef>
              <a:spcAft>
                <a:spcPct val="0"/>
              </a:spcAft>
              <a:defRPr sz="2400">
                <a:solidFill>
                  <a:schemeClr val="tx1"/>
                </a:solidFill>
                <a:latin typeface="Arial" pitchFamily="34" charset="0"/>
              </a:defRPr>
            </a:lvl8pPr>
            <a:lvl9pPr marL="3886200" indent="-228600" defTabSz="457200" eaLnBrk="0" fontAlgn="base" hangingPunct="0">
              <a:spcBef>
                <a:spcPct val="0"/>
              </a:spcBef>
              <a:spcAft>
                <a:spcPct val="0"/>
              </a:spcAft>
              <a:defRPr sz="2400">
                <a:solidFill>
                  <a:schemeClr val="tx1"/>
                </a:solidFill>
                <a:latin typeface="Arial" pitchFamily="34" charset="0"/>
              </a:defRPr>
            </a:lvl9pPr>
          </a:lstStyle>
          <a:p>
            <a:r>
              <a:rPr lang="en-US" altLang="en-US" sz="3200" b="1">
                <a:solidFill>
                  <a:srgbClr val="164D90"/>
                </a:solidFill>
                <a:latin typeface="Open Sans"/>
                <a:ea typeface="Open Sans"/>
                <a:cs typeface="Open Sans"/>
              </a:rPr>
              <a:t>   Continuous Integration</a:t>
            </a:r>
          </a:p>
        </p:txBody>
      </p:sp>
      <p:sp>
        <p:nvSpPr>
          <p:cNvPr id="3" name="Content Placeholder 2"/>
          <p:cNvSpPr>
            <a:spLocks noGrp="1"/>
          </p:cNvSpPr>
          <p:nvPr>
            <p:ph idx="1"/>
          </p:nvPr>
        </p:nvSpPr>
        <p:spPr>
          <a:xfrm>
            <a:off x="838200" y="1200150"/>
            <a:ext cx="7848600" cy="3600450"/>
          </a:xfrm>
        </p:spPr>
        <p:txBody>
          <a:bodyPr rtlCol="0">
            <a:normAutofit/>
          </a:bodyPr>
          <a:lstStyle/>
          <a:p>
            <a:pPr marL="0" lvl="2" indent="0" algn="just" eaLnBrk="1" hangingPunct="1">
              <a:spcBef>
                <a:spcPts val="600"/>
              </a:spcBef>
              <a:spcAft>
                <a:spcPts val="600"/>
              </a:spcAft>
              <a:buFont typeface="Wingdings 3" pitchFamily="18" charset="2"/>
              <a:buNone/>
              <a:defRPr/>
            </a:pPr>
            <a:r>
              <a:rPr lang="en-US" sz="1800" b="1" dirty="0">
                <a:solidFill>
                  <a:schemeClr val="tx1"/>
                </a:solidFill>
                <a:latin typeface="Arial" pitchFamily="34" charset="0"/>
                <a:cs typeface="Arial" pitchFamily="34" charset="0"/>
              </a:rPr>
              <a:t>Continuous Integration is a key aspect of rapid development:</a:t>
            </a:r>
          </a:p>
          <a:p>
            <a:pPr marL="342900" lvl="2" indent="-342900" algn="just" eaLnBrk="1" hangingPunct="1">
              <a:spcBef>
                <a:spcPts val="600"/>
              </a:spcBef>
              <a:spcAft>
                <a:spcPts val="600"/>
              </a:spcAft>
              <a:defRPr/>
            </a:pPr>
            <a:r>
              <a:rPr lang="en-US" sz="1800">
                <a:solidFill>
                  <a:schemeClr val="tx1"/>
                </a:solidFill>
                <a:latin typeface="Arial" pitchFamily="34" charset="0"/>
                <a:cs typeface="Arial" pitchFamily="34" charset="0"/>
              </a:rPr>
              <a:t>Build </a:t>
            </a:r>
            <a:r>
              <a:rPr lang="en-US" sz="1800" dirty="0">
                <a:solidFill>
                  <a:schemeClr val="tx1"/>
                </a:solidFill>
                <a:latin typeface="Arial" pitchFamily="34" charset="0"/>
                <a:cs typeface="Arial" pitchFamily="34" charset="0"/>
              </a:rPr>
              <a:t>often</a:t>
            </a:r>
          </a:p>
          <a:p>
            <a:pPr marL="342900" lvl="2" indent="-342900" algn="just" eaLnBrk="1" hangingPunct="1">
              <a:spcBef>
                <a:spcPts val="600"/>
              </a:spcBef>
              <a:spcAft>
                <a:spcPts val="600"/>
              </a:spcAft>
              <a:defRPr/>
            </a:pPr>
            <a:r>
              <a:rPr lang="en-US" sz="1800" dirty="0">
                <a:solidFill>
                  <a:schemeClr val="tx1"/>
                </a:solidFill>
                <a:latin typeface="Arial" pitchFamily="34" charset="0"/>
                <a:cs typeface="Arial" pitchFamily="34" charset="0"/>
              </a:rPr>
              <a:t>Automated builds</a:t>
            </a:r>
          </a:p>
          <a:p>
            <a:pPr marL="342900" lvl="2" indent="-342900" algn="just" eaLnBrk="1" hangingPunct="1">
              <a:spcBef>
                <a:spcPts val="600"/>
              </a:spcBef>
              <a:spcAft>
                <a:spcPts val="600"/>
              </a:spcAft>
              <a:defRPr/>
            </a:pPr>
            <a:r>
              <a:rPr lang="en-US" sz="1800" dirty="0">
                <a:solidFill>
                  <a:schemeClr val="tx1"/>
                </a:solidFill>
                <a:latin typeface="Arial" pitchFamily="34" charset="0"/>
                <a:cs typeface="Arial" pitchFamily="34" charset="0"/>
              </a:rPr>
              <a:t>Automated unit tests re-run</a:t>
            </a:r>
          </a:p>
          <a:p>
            <a:pPr marL="342900" lvl="2" indent="-342900" algn="just" eaLnBrk="1" hangingPunct="1">
              <a:spcBef>
                <a:spcPts val="600"/>
              </a:spcBef>
              <a:spcAft>
                <a:spcPts val="600"/>
              </a:spcAft>
              <a:defRPr/>
            </a:pPr>
            <a:r>
              <a:rPr lang="en-US" sz="1800" dirty="0">
                <a:solidFill>
                  <a:schemeClr val="tx1"/>
                </a:solidFill>
                <a:latin typeface="Arial" pitchFamily="34" charset="0"/>
                <a:cs typeface="Arial" pitchFamily="34" charset="0"/>
              </a:rPr>
              <a:t>Automated build acceptance (smoke) testing</a:t>
            </a:r>
          </a:p>
          <a:p>
            <a:pPr marL="342900" lvl="2" indent="-342900" algn="just" eaLnBrk="1" hangingPunct="1">
              <a:spcBef>
                <a:spcPts val="600"/>
              </a:spcBef>
              <a:spcAft>
                <a:spcPts val="600"/>
              </a:spcAft>
              <a:defRPr/>
            </a:pPr>
            <a:r>
              <a:rPr lang="en-US" sz="1800" dirty="0">
                <a:solidFill>
                  <a:schemeClr val="tx1"/>
                </a:solidFill>
                <a:latin typeface="Arial" pitchFamily="34" charset="0"/>
                <a:cs typeface="Arial" pitchFamily="34" charset="0"/>
              </a:rPr>
              <a:t>Automated </a:t>
            </a:r>
            <a:r>
              <a:rPr lang="en-US" sz="1800">
                <a:solidFill>
                  <a:schemeClr val="tx1"/>
                </a:solidFill>
                <a:latin typeface="Arial" pitchFamily="34" charset="0"/>
                <a:cs typeface="Arial" pitchFamily="34" charset="0"/>
              </a:rPr>
              <a:t>functional/regression testing</a:t>
            </a:r>
            <a:endParaRPr lang="en-US" sz="1800" dirty="0">
              <a:solidFill>
                <a:schemeClr val="tx1"/>
              </a:solidFill>
              <a:latin typeface="Arial" pitchFamily="34" charset="0"/>
              <a:cs typeface="Arial" pitchFamily="34" charset="0"/>
            </a:endParaRPr>
          </a:p>
        </p:txBody>
      </p:sp>
      <p:sp>
        <p:nvSpPr>
          <p:cNvPr id="46084"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624B65A6-5EF1-46CA-8443-3E6C7D15E0FD}" type="slidenum">
              <a:rPr lang="en-US" altLang="en-US" sz="1200">
                <a:solidFill>
                  <a:srgbClr val="A6A6A6"/>
                </a:solidFill>
              </a:rPr>
              <a:pPr algn="r" eaLnBrk="1" hangingPunct="1">
                <a:spcBef>
                  <a:spcPct val="0"/>
                </a:spcBef>
                <a:buClrTx/>
                <a:buSzTx/>
                <a:buFontTx/>
                <a:buNone/>
              </a:pPr>
              <a:t>35</a:t>
            </a:fld>
            <a:endParaRPr lang="en-US" altLang="en-US" sz="1200">
              <a:solidFill>
                <a:srgbClr val="A6A6A6"/>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4"/>
          <p:cNvSpPr>
            <a:spLocks noChangeArrowheads="1"/>
          </p:cNvSpPr>
          <p:nvPr/>
        </p:nvSpPr>
        <p:spPr bwMode="auto">
          <a:xfrm>
            <a:off x="4763" y="171450"/>
            <a:ext cx="6197600"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defTabSz="457200">
              <a:defRPr sz="2400">
                <a:solidFill>
                  <a:schemeClr val="tx1"/>
                </a:solidFill>
                <a:latin typeface="Arial" pitchFamily="34" charset="0"/>
              </a:defRPr>
            </a:lvl1pPr>
            <a:lvl2pPr marL="742950" indent="-285750" defTabSz="457200">
              <a:defRPr sz="2400">
                <a:solidFill>
                  <a:schemeClr val="tx1"/>
                </a:solidFill>
                <a:latin typeface="Arial" pitchFamily="34" charset="0"/>
              </a:defRPr>
            </a:lvl2pPr>
            <a:lvl3pPr marL="1143000" indent="-228600" defTabSz="457200">
              <a:defRPr sz="2400">
                <a:solidFill>
                  <a:schemeClr val="tx1"/>
                </a:solidFill>
                <a:latin typeface="Arial" pitchFamily="34" charset="0"/>
              </a:defRPr>
            </a:lvl3pPr>
            <a:lvl4pPr marL="1600200" indent="-228600" defTabSz="457200">
              <a:defRPr sz="2400">
                <a:solidFill>
                  <a:schemeClr val="tx1"/>
                </a:solidFill>
                <a:latin typeface="Arial" pitchFamily="34" charset="0"/>
              </a:defRPr>
            </a:lvl4pPr>
            <a:lvl5pPr marL="2057400" indent="-228600" defTabSz="457200">
              <a:defRPr sz="2400">
                <a:solidFill>
                  <a:schemeClr val="tx1"/>
                </a:solidFill>
                <a:latin typeface="Arial" pitchFamily="34" charset="0"/>
              </a:defRPr>
            </a:lvl5pPr>
            <a:lvl6pPr marL="2514600" indent="-228600" defTabSz="457200" eaLnBrk="0" fontAlgn="base" hangingPunct="0">
              <a:spcBef>
                <a:spcPct val="0"/>
              </a:spcBef>
              <a:spcAft>
                <a:spcPct val="0"/>
              </a:spcAft>
              <a:defRPr sz="2400">
                <a:solidFill>
                  <a:schemeClr val="tx1"/>
                </a:solidFill>
                <a:latin typeface="Arial" pitchFamily="34" charset="0"/>
              </a:defRPr>
            </a:lvl6pPr>
            <a:lvl7pPr marL="2971800" indent="-228600" defTabSz="457200" eaLnBrk="0" fontAlgn="base" hangingPunct="0">
              <a:spcBef>
                <a:spcPct val="0"/>
              </a:spcBef>
              <a:spcAft>
                <a:spcPct val="0"/>
              </a:spcAft>
              <a:defRPr sz="2400">
                <a:solidFill>
                  <a:schemeClr val="tx1"/>
                </a:solidFill>
                <a:latin typeface="Arial" pitchFamily="34" charset="0"/>
              </a:defRPr>
            </a:lvl7pPr>
            <a:lvl8pPr marL="3429000" indent="-228600" defTabSz="457200" eaLnBrk="0" fontAlgn="base" hangingPunct="0">
              <a:spcBef>
                <a:spcPct val="0"/>
              </a:spcBef>
              <a:spcAft>
                <a:spcPct val="0"/>
              </a:spcAft>
              <a:defRPr sz="2400">
                <a:solidFill>
                  <a:schemeClr val="tx1"/>
                </a:solidFill>
                <a:latin typeface="Arial" pitchFamily="34" charset="0"/>
              </a:defRPr>
            </a:lvl8pPr>
            <a:lvl9pPr marL="3886200" indent="-228600" defTabSz="457200" eaLnBrk="0" fontAlgn="base" hangingPunct="0">
              <a:spcBef>
                <a:spcPct val="0"/>
              </a:spcBef>
              <a:spcAft>
                <a:spcPct val="0"/>
              </a:spcAft>
              <a:defRPr sz="2400">
                <a:solidFill>
                  <a:schemeClr val="tx1"/>
                </a:solidFill>
                <a:latin typeface="Arial" pitchFamily="34" charset="0"/>
              </a:defRPr>
            </a:lvl9pPr>
          </a:lstStyle>
          <a:p>
            <a:r>
              <a:rPr lang="en-US" altLang="en-US" sz="3200" b="1">
                <a:solidFill>
                  <a:srgbClr val="164D90"/>
                </a:solidFill>
                <a:latin typeface="Open Sans"/>
                <a:ea typeface="Open Sans"/>
                <a:cs typeface="Open Sans"/>
              </a:rPr>
              <a:t>   CI / CD</a:t>
            </a:r>
          </a:p>
        </p:txBody>
      </p:sp>
      <p:sp>
        <p:nvSpPr>
          <p:cNvPr id="47107" name="Content Placeholder 2"/>
          <p:cNvSpPr>
            <a:spLocks noGrp="1"/>
          </p:cNvSpPr>
          <p:nvPr>
            <p:ph idx="1"/>
          </p:nvPr>
        </p:nvSpPr>
        <p:spPr>
          <a:xfrm>
            <a:off x="838200" y="1200150"/>
            <a:ext cx="7848600" cy="3600450"/>
          </a:xfrm>
        </p:spPr>
        <p:txBody>
          <a:bodyPr/>
          <a:lstStyle/>
          <a:p>
            <a:pPr marL="0" lvl="2" indent="0" algn="just" eaLnBrk="1" hangingPunct="1">
              <a:lnSpc>
                <a:spcPct val="90000"/>
              </a:lnSpc>
              <a:spcBef>
                <a:spcPts val="600"/>
              </a:spcBef>
              <a:spcAft>
                <a:spcPts val="600"/>
              </a:spcAft>
              <a:buNone/>
            </a:pPr>
            <a:r>
              <a:rPr lang="en-US" altLang="en-US" sz="1800" b="1">
                <a:solidFill>
                  <a:srgbClr val="FF0000"/>
                </a:solidFill>
                <a:latin typeface="Arial" pitchFamily="34" charset="0"/>
                <a:cs typeface="Arial" pitchFamily="34" charset="0"/>
              </a:rPr>
              <a:t>CI / CD / CD</a:t>
            </a:r>
          </a:p>
          <a:p>
            <a:pPr marL="342900" lvl="2" indent="-342900" algn="just" eaLnBrk="1" hangingPunct="1">
              <a:lnSpc>
                <a:spcPct val="90000"/>
              </a:lnSpc>
              <a:spcBef>
                <a:spcPts val="600"/>
              </a:spcBef>
              <a:spcAft>
                <a:spcPts val="600"/>
              </a:spcAft>
            </a:pPr>
            <a:r>
              <a:rPr lang="en-US" altLang="en-US" sz="1800" b="1">
                <a:solidFill>
                  <a:srgbClr val="FF0000"/>
                </a:solidFill>
                <a:latin typeface="Arial" pitchFamily="34" charset="0"/>
                <a:cs typeface="Arial" pitchFamily="34" charset="0"/>
              </a:rPr>
              <a:t>C</a:t>
            </a:r>
            <a:r>
              <a:rPr lang="en-US" altLang="en-US" sz="1800" b="1">
                <a:solidFill>
                  <a:schemeClr val="tx1"/>
                </a:solidFill>
                <a:latin typeface="Arial" pitchFamily="34" charset="0"/>
                <a:cs typeface="Arial" pitchFamily="34" charset="0"/>
              </a:rPr>
              <a:t>ontinuous</a:t>
            </a:r>
            <a:r>
              <a:rPr lang="en-US" altLang="en-US" sz="1800" b="1">
                <a:latin typeface="Arial" pitchFamily="34" charset="0"/>
                <a:cs typeface="Arial" pitchFamily="34" charset="0"/>
              </a:rPr>
              <a:t> </a:t>
            </a:r>
            <a:r>
              <a:rPr lang="en-US" altLang="en-US" sz="1800" b="1">
                <a:solidFill>
                  <a:srgbClr val="FF0000"/>
                </a:solidFill>
                <a:latin typeface="Arial" pitchFamily="34" charset="0"/>
                <a:cs typeface="Arial" pitchFamily="34" charset="0"/>
              </a:rPr>
              <a:t>I</a:t>
            </a:r>
            <a:r>
              <a:rPr lang="en-US" altLang="en-US" sz="1800" b="1">
                <a:solidFill>
                  <a:schemeClr val="tx1"/>
                </a:solidFill>
                <a:latin typeface="Arial" pitchFamily="34" charset="0"/>
                <a:cs typeface="Arial" pitchFamily="34" charset="0"/>
              </a:rPr>
              <a:t>ntegration</a:t>
            </a:r>
            <a:r>
              <a:rPr lang="en-US" altLang="en-US" sz="1800">
                <a:solidFill>
                  <a:schemeClr val="tx1"/>
                </a:solidFill>
                <a:latin typeface="Arial" pitchFamily="34" charset="0"/>
                <a:cs typeface="Arial" pitchFamily="34" charset="0"/>
              </a:rPr>
              <a:t>: Developers practicing continuous integration merge their changes back to the main branch as often as possible.</a:t>
            </a:r>
          </a:p>
          <a:p>
            <a:pPr marL="342900" lvl="2" indent="-342900" algn="just" eaLnBrk="1" hangingPunct="1">
              <a:lnSpc>
                <a:spcPct val="90000"/>
              </a:lnSpc>
              <a:spcBef>
                <a:spcPts val="600"/>
              </a:spcBef>
              <a:spcAft>
                <a:spcPts val="600"/>
              </a:spcAft>
            </a:pPr>
            <a:r>
              <a:rPr lang="en-US" altLang="en-US" sz="1800" b="1">
                <a:solidFill>
                  <a:srgbClr val="FF0000"/>
                </a:solidFill>
                <a:latin typeface="Arial" pitchFamily="34" charset="0"/>
                <a:cs typeface="Arial" pitchFamily="34" charset="0"/>
              </a:rPr>
              <a:t>C</a:t>
            </a:r>
            <a:r>
              <a:rPr lang="en-US" altLang="en-US" sz="1800" b="1">
                <a:solidFill>
                  <a:schemeClr val="tx1"/>
                </a:solidFill>
                <a:latin typeface="Arial" pitchFamily="34" charset="0"/>
                <a:cs typeface="Arial" pitchFamily="34" charset="0"/>
              </a:rPr>
              <a:t>ontinuous </a:t>
            </a:r>
            <a:r>
              <a:rPr lang="en-US" altLang="en-US" sz="1800" b="1">
                <a:solidFill>
                  <a:srgbClr val="FF0000"/>
                </a:solidFill>
                <a:latin typeface="Arial" pitchFamily="34" charset="0"/>
                <a:cs typeface="Arial" pitchFamily="34" charset="0"/>
              </a:rPr>
              <a:t>D</a:t>
            </a:r>
            <a:r>
              <a:rPr lang="en-US" altLang="en-US" sz="1800" b="1">
                <a:solidFill>
                  <a:schemeClr val="tx1"/>
                </a:solidFill>
                <a:latin typeface="Arial" pitchFamily="34" charset="0"/>
                <a:cs typeface="Arial" pitchFamily="34" charset="0"/>
              </a:rPr>
              <a:t>elivery</a:t>
            </a:r>
            <a:r>
              <a:rPr lang="en-US" altLang="en-US" sz="1800">
                <a:solidFill>
                  <a:schemeClr val="tx1"/>
                </a:solidFill>
                <a:latin typeface="Arial" pitchFamily="34" charset="0"/>
                <a:cs typeface="Arial" pitchFamily="34" charset="0"/>
              </a:rPr>
              <a:t>: Continuous Delivery is an extension of Continuous Integration to make sure that the new changes can be deployed to testing / staging environment to go through automation test quickly in a sustainable way.</a:t>
            </a:r>
          </a:p>
          <a:p>
            <a:pPr marL="342900" lvl="2" indent="-342900" algn="just" eaLnBrk="1" hangingPunct="1">
              <a:spcBef>
                <a:spcPts val="600"/>
              </a:spcBef>
              <a:spcAft>
                <a:spcPts val="600"/>
              </a:spcAft>
            </a:pPr>
            <a:r>
              <a:rPr lang="en-US" altLang="en-US" sz="1800" b="1">
                <a:solidFill>
                  <a:srgbClr val="FF0000"/>
                </a:solidFill>
                <a:latin typeface="Arial" pitchFamily="34" charset="0"/>
                <a:cs typeface="Arial" pitchFamily="34" charset="0"/>
              </a:rPr>
              <a:t>C</a:t>
            </a:r>
            <a:r>
              <a:rPr lang="en-US" altLang="en-US" sz="1800" b="1">
                <a:solidFill>
                  <a:schemeClr val="tx1"/>
                </a:solidFill>
                <a:latin typeface="Arial" pitchFamily="34" charset="0"/>
                <a:cs typeface="Arial" pitchFamily="34" charset="0"/>
              </a:rPr>
              <a:t>ontinuous</a:t>
            </a:r>
            <a:r>
              <a:rPr lang="en-US" altLang="en-US" sz="1800" b="1">
                <a:latin typeface="Arial" pitchFamily="34" charset="0"/>
                <a:cs typeface="Arial" pitchFamily="34" charset="0"/>
              </a:rPr>
              <a:t> </a:t>
            </a:r>
            <a:r>
              <a:rPr lang="en-US" altLang="en-US" sz="1800" b="1">
                <a:solidFill>
                  <a:srgbClr val="FF0000"/>
                </a:solidFill>
                <a:latin typeface="Arial" pitchFamily="34" charset="0"/>
                <a:cs typeface="Arial" pitchFamily="34" charset="0"/>
              </a:rPr>
              <a:t>D</a:t>
            </a:r>
            <a:r>
              <a:rPr lang="en-US" altLang="en-US" sz="1800" b="1">
                <a:solidFill>
                  <a:schemeClr val="tx1"/>
                </a:solidFill>
                <a:latin typeface="Arial" pitchFamily="34" charset="0"/>
                <a:cs typeface="Arial" pitchFamily="34" charset="0"/>
              </a:rPr>
              <a:t>eployment</a:t>
            </a:r>
            <a:r>
              <a:rPr lang="en-US" altLang="en-US" sz="1800">
                <a:solidFill>
                  <a:schemeClr val="tx1"/>
                </a:solidFill>
                <a:latin typeface="Arial" pitchFamily="34" charset="0"/>
                <a:cs typeface="Arial" pitchFamily="34" charset="0"/>
              </a:rPr>
              <a:t>: Continuous Deployment goes one step further than Continuous Delivery. Every change that passes all stages of the production pipeline is released to customers. There's no human intervention.</a:t>
            </a:r>
          </a:p>
          <a:p>
            <a:pPr marL="342900" lvl="2" indent="-342900" algn="just" eaLnBrk="1" hangingPunct="1">
              <a:lnSpc>
                <a:spcPct val="90000"/>
              </a:lnSpc>
              <a:spcBef>
                <a:spcPts val="600"/>
              </a:spcBef>
              <a:spcAft>
                <a:spcPts val="600"/>
              </a:spcAft>
            </a:pPr>
            <a:endParaRPr lang="en-US" altLang="en-US" sz="1800">
              <a:latin typeface="Arial" pitchFamily="34" charset="0"/>
              <a:cs typeface="Arial" pitchFamily="34" charset="0"/>
            </a:endParaRPr>
          </a:p>
        </p:txBody>
      </p:sp>
      <p:sp>
        <p:nvSpPr>
          <p:cNvPr id="47108"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65DB50F0-E373-4F90-996A-F069E8D5997F}" type="slidenum">
              <a:rPr lang="en-US" altLang="en-US" sz="1200">
                <a:solidFill>
                  <a:srgbClr val="A6A6A6"/>
                </a:solidFill>
              </a:rPr>
              <a:pPr algn="r" eaLnBrk="1" hangingPunct="1">
                <a:spcBef>
                  <a:spcPct val="0"/>
                </a:spcBef>
                <a:buClrTx/>
                <a:buSzTx/>
                <a:buFontTx/>
                <a:buNone/>
              </a:pPr>
              <a:t>36</a:t>
            </a:fld>
            <a:endParaRPr lang="en-US" altLang="en-US" sz="1200">
              <a:solidFill>
                <a:srgbClr val="A6A6A6"/>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4"/>
          <p:cNvSpPr>
            <a:spLocks noChangeArrowheads="1"/>
          </p:cNvSpPr>
          <p:nvPr/>
        </p:nvSpPr>
        <p:spPr bwMode="auto">
          <a:xfrm>
            <a:off x="4763" y="171450"/>
            <a:ext cx="7234237"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r>
              <a:rPr lang="en-US" altLang="en-US" sz="3200" b="1">
                <a:solidFill>
                  <a:srgbClr val="164D90"/>
                </a:solidFill>
                <a:latin typeface="Open Sans"/>
                <a:ea typeface="Open Sans"/>
                <a:cs typeface="Open Sans"/>
              </a:rPr>
              <a:t>   CI/CD</a:t>
            </a:r>
          </a:p>
        </p:txBody>
      </p:sp>
      <p:sp>
        <p:nvSpPr>
          <p:cNvPr id="51203" name="Content Placeholder 2"/>
          <p:cNvSpPr>
            <a:spLocks noGrp="1"/>
          </p:cNvSpPr>
          <p:nvPr>
            <p:ph idx="1"/>
          </p:nvPr>
        </p:nvSpPr>
        <p:spPr>
          <a:xfrm>
            <a:off x="838200" y="1104900"/>
            <a:ext cx="8153400" cy="3600450"/>
          </a:xfrm>
        </p:spPr>
        <p:txBody>
          <a:bodyPr/>
          <a:lstStyle/>
          <a:p>
            <a:pPr marL="0" indent="0" eaLnBrk="1" hangingPunct="1">
              <a:buFont typeface="Arial" pitchFamily="34" charset="0"/>
              <a:buNone/>
            </a:pPr>
            <a:r>
              <a:rPr lang="en-US" altLang="en-US" b="1">
                <a:solidFill>
                  <a:schemeClr val="tx1"/>
                </a:solidFill>
                <a:latin typeface="Arial" pitchFamily="34" charset="0"/>
                <a:cs typeface="Arial" pitchFamily="34" charset="0"/>
              </a:rPr>
              <a:t>Continuous Integration – Continuous Delivery – Continuous Deployment</a:t>
            </a:r>
          </a:p>
        </p:txBody>
      </p:sp>
      <p:sp>
        <p:nvSpPr>
          <p:cNvPr id="51205"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E6C13736-D309-41D3-B4B8-6BE62D10126F}" type="slidenum">
              <a:rPr lang="en-US" altLang="en-US" sz="1200">
                <a:solidFill>
                  <a:srgbClr val="A6A6A6"/>
                </a:solidFill>
              </a:rPr>
              <a:pPr algn="r" eaLnBrk="1" hangingPunct="1">
                <a:spcBef>
                  <a:spcPct val="0"/>
                </a:spcBef>
                <a:buClrTx/>
                <a:buSzTx/>
                <a:buFontTx/>
                <a:buNone/>
              </a:pPr>
              <a:t>37</a:t>
            </a:fld>
            <a:endParaRPr lang="en-US" altLang="en-US" sz="1200">
              <a:solidFill>
                <a:srgbClr val="A6A6A6"/>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800" y="1680210"/>
            <a:ext cx="7429500" cy="195834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bwMode="auto">
          <a:xfrm>
            <a:off x="0" y="171450"/>
            <a:ext cx="8229600" cy="549275"/>
          </a:xfrm>
        </p:spPr>
        <p:txBody>
          <a:bodyPr anchor="t"/>
          <a:lstStyle/>
          <a:p>
            <a:r>
              <a:rPr lang="en-US" altLang="en-US" sz="3200">
                <a:latin typeface="Open Sans"/>
                <a:ea typeface="Open Sans"/>
                <a:cs typeface="Open Sans"/>
              </a:rPr>
              <a:t>   SUMMARY</a:t>
            </a:r>
          </a:p>
        </p:txBody>
      </p:sp>
      <p:sp>
        <p:nvSpPr>
          <p:cNvPr id="52227" name="Rectangle 3"/>
          <p:cNvSpPr>
            <a:spLocks noGrp="1" noChangeArrowheads="1"/>
          </p:cNvSpPr>
          <p:nvPr>
            <p:ph idx="1"/>
          </p:nvPr>
        </p:nvSpPr>
        <p:spPr>
          <a:xfrm>
            <a:off x="866775" y="1200150"/>
            <a:ext cx="7743825" cy="2562225"/>
          </a:xfrm>
        </p:spPr>
        <p:txBody>
          <a:bodyPr/>
          <a:lstStyle/>
          <a:p>
            <a:pPr marL="342900" lvl="2" indent="-342900" algn="just" eaLnBrk="1" hangingPunct="1">
              <a:lnSpc>
                <a:spcPct val="80000"/>
              </a:lnSpc>
              <a:spcBef>
                <a:spcPts val="600"/>
              </a:spcBef>
              <a:spcAft>
                <a:spcPts val="600"/>
              </a:spcAft>
            </a:pPr>
            <a:r>
              <a:rPr lang="en-GB" altLang="en-US" sz="1800">
                <a:solidFill>
                  <a:schemeClr val="tx1"/>
                </a:solidFill>
                <a:latin typeface="Arial" pitchFamily="34" charset="0"/>
                <a:cs typeface="Arial" pitchFamily="34" charset="0"/>
              </a:rPr>
              <a:t>Depending on the type of application to be built and or customer’s requirement, we choose a suitable SDLC model.</a:t>
            </a:r>
          </a:p>
          <a:p>
            <a:pPr marL="342900" lvl="2" indent="-342900" algn="just" eaLnBrk="1" hangingPunct="1">
              <a:lnSpc>
                <a:spcPct val="80000"/>
              </a:lnSpc>
              <a:spcBef>
                <a:spcPts val="600"/>
              </a:spcBef>
              <a:spcAft>
                <a:spcPts val="600"/>
              </a:spcAft>
            </a:pPr>
            <a:r>
              <a:rPr lang="en-GB" altLang="en-US" sz="1800">
                <a:solidFill>
                  <a:schemeClr val="tx1"/>
                </a:solidFill>
                <a:latin typeface="Arial" pitchFamily="34" charset="0"/>
                <a:cs typeface="Arial" pitchFamily="34" charset="0"/>
              </a:rPr>
              <a:t>There are several phases in the SDLC. In each phase, there are milestones and criteria for each milestone. The criteria, milestones and phases of the project help the product to be developed correctly, timely and effectively.</a:t>
            </a:r>
            <a:endParaRPr lang="en-US" altLang="en-US" sz="1800">
              <a:solidFill>
                <a:schemeClr val="tx1"/>
              </a:solidFill>
              <a:latin typeface="Arial" pitchFamily="34" charset="0"/>
              <a:cs typeface="Arial" pitchFamily="34" charset="0"/>
            </a:endParaRPr>
          </a:p>
          <a:p>
            <a:pPr marL="342900" lvl="2" indent="-342900" algn="just" eaLnBrk="1" hangingPunct="1">
              <a:lnSpc>
                <a:spcPct val="80000"/>
              </a:lnSpc>
              <a:spcBef>
                <a:spcPts val="600"/>
              </a:spcBef>
              <a:spcAft>
                <a:spcPts val="600"/>
              </a:spcAft>
            </a:pPr>
            <a:r>
              <a:rPr lang="en-US" altLang="en-US" sz="1800">
                <a:solidFill>
                  <a:schemeClr val="tx1"/>
                </a:solidFill>
                <a:latin typeface="Arial" pitchFamily="34" charset="0"/>
                <a:cs typeface="Arial" pitchFamily="34" charset="0"/>
              </a:rPr>
              <a:t>Depending on the SDLC, the testing and its implementation is affected, usually in time, knowledge about the application, documentation and amount of regression test done. </a:t>
            </a:r>
          </a:p>
          <a:p>
            <a:pPr marL="342900" lvl="2" indent="-342900" algn="just" eaLnBrk="1" hangingPunct="1">
              <a:lnSpc>
                <a:spcPct val="80000"/>
              </a:lnSpc>
              <a:spcBef>
                <a:spcPts val="600"/>
              </a:spcBef>
              <a:spcAft>
                <a:spcPts val="600"/>
              </a:spcAft>
            </a:pPr>
            <a:r>
              <a:rPr lang="en-US" altLang="en-US" sz="1800">
                <a:solidFill>
                  <a:schemeClr val="tx1"/>
                </a:solidFill>
                <a:latin typeface="Arial" pitchFamily="34" charset="0"/>
                <a:cs typeface="Arial" pitchFamily="34" charset="0"/>
              </a:rPr>
              <a:t>DevOps is a software engineering culture and practice, aiming at shorter development cycles, increased deployment frequency, and more dependable releases, in close alignment with business objectives.</a:t>
            </a:r>
          </a:p>
        </p:txBody>
      </p:sp>
      <p:sp>
        <p:nvSpPr>
          <p:cNvPr id="52228" name="Slide Number Placeholder 1"/>
          <p:cNvSpPr txBox="1">
            <a:spLocks noGrp="1"/>
          </p:cNvSpPr>
          <p:nvPr/>
        </p:nvSpPr>
        <p:spPr bwMode="auto">
          <a:xfrm>
            <a:off x="6781800" y="4857750"/>
            <a:ext cx="21336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a:solidFill>
                  <a:srgbClr val="404040"/>
                </a:solidFill>
                <a:latin typeface="Calibri" pitchFamily="34" charset="0"/>
              </a:defRPr>
            </a:lvl1pPr>
            <a:lvl2pPr marL="742950" indent="-285750">
              <a:spcBef>
                <a:spcPts val="1000"/>
              </a:spcBef>
              <a:buClr>
                <a:schemeClr val="accent1"/>
              </a:buClr>
              <a:buSzPct val="80000"/>
              <a:buFont typeface="Wingdings 3" pitchFamily="18" charset="2"/>
              <a:buChar char=""/>
              <a:defRPr sz="1600">
                <a:solidFill>
                  <a:srgbClr val="404040"/>
                </a:solidFill>
                <a:latin typeface="Calibri" pitchFamily="34" charset="0"/>
              </a:defRPr>
            </a:lvl2pPr>
            <a:lvl3pPr marL="1143000" indent="-228600">
              <a:spcBef>
                <a:spcPts val="1000"/>
              </a:spcBef>
              <a:buClr>
                <a:schemeClr val="accent1"/>
              </a:buClr>
              <a:buSzPct val="80000"/>
              <a:buFont typeface="Wingdings 3" pitchFamily="18" charset="2"/>
              <a:buChar char=""/>
              <a:defRPr sz="1400">
                <a:solidFill>
                  <a:srgbClr val="404040"/>
                </a:solidFill>
                <a:latin typeface="Calibri" pitchFamily="34" charset="0"/>
              </a:defRPr>
            </a:lvl3pPr>
            <a:lvl4pPr marL="16002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4pPr>
            <a:lvl5pPr marL="2057400" indent="-228600">
              <a:spcBef>
                <a:spcPts val="1000"/>
              </a:spcBef>
              <a:buClr>
                <a:schemeClr val="accent1"/>
              </a:buClr>
              <a:buSzPct val="80000"/>
              <a:buFont typeface="Wingdings 3" pitchFamily="18" charset="2"/>
              <a:buChar char=""/>
              <a:defRPr sz="1200">
                <a:solidFill>
                  <a:srgbClr val="404040"/>
                </a:solidFill>
                <a:latin typeface="Calibri"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200">
                <a:solidFill>
                  <a:srgbClr val="404040"/>
                </a:solidFill>
                <a:latin typeface="Calibri" pitchFamily="34" charset="0"/>
              </a:defRPr>
            </a:lvl9pPr>
          </a:lstStyle>
          <a:p>
            <a:pPr algn="r" eaLnBrk="1" hangingPunct="1">
              <a:spcBef>
                <a:spcPct val="0"/>
              </a:spcBef>
              <a:buClrTx/>
              <a:buSzTx/>
              <a:buFontTx/>
              <a:buNone/>
            </a:pPr>
            <a:fld id="{C919D691-549C-42B7-9AF3-6DC067E968B6}" type="slidenum">
              <a:rPr lang="en-US" altLang="en-US" sz="1200">
                <a:solidFill>
                  <a:srgbClr val="A6A6A6"/>
                </a:solidFill>
              </a:rPr>
              <a:pPr algn="r" eaLnBrk="1" hangingPunct="1">
                <a:spcBef>
                  <a:spcPct val="0"/>
                </a:spcBef>
                <a:buClrTx/>
                <a:buSzTx/>
                <a:buFontTx/>
                <a:buNone/>
              </a:pPr>
              <a:t>38</a:t>
            </a:fld>
            <a:endParaRPr lang="en-US" altLang="en-US" sz="1200">
              <a:solidFill>
                <a:srgbClr val="A6A6A6"/>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Flat Lay Photography of Macbook Pro Beside White Spiral Notebook and Green Mug"/>
          <p:cNvPicPr>
            <a:picLocks noChangeAspect="1" noChangeArrowheads="1"/>
          </p:cNvPicPr>
          <p:nvPr/>
        </p:nvPicPr>
        <p:blipFill rotWithShape="1">
          <a:blip r:embed="rId2">
            <a:extLst>
              <a:ext uri="{28A0092B-C50C-407E-A947-70E740481C1C}">
                <a14:useLocalDpi xmlns:a14="http://schemas.microsoft.com/office/drawing/2010/main" val="0"/>
              </a:ext>
            </a:extLst>
          </a:blip>
          <a:srcRect t="5729" b="189"/>
          <a:stretch/>
        </p:blipFill>
        <p:spPr bwMode="auto">
          <a:xfrm>
            <a:off x="0" y="-28576"/>
            <a:ext cx="9144000" cy="516168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rot="3618775">
            <a:off x="2475969" y="647547"/>
            <a:ext cx="4079129" cy="4455038"/>
          </a:xfrm>
          <a:prstGeom prst="rect">
            <a:avLst/>
          </a:prstGeom>
        </p:spPr>
      </p:pic>
      <p:pic>
        <p:nvPicPr>
          <p:cNvPr id="6" name="Picture 5"/>
          <p:cNvPicPr>
            <a:picLocks noChangeAspect="1"/>
          </p:cNvPicPr>
          <p:nvPr/>
        </p:nvPicPr>
        <p:blipFill>
          <a:blip r:embed="rId4"/>
          <a:stretch>
            <a:fillRect/>
          </a:stretch>
        </p:blipFill>
        <p:spPr>
          <a:xfrm rot="3447446">
            <a:off x="3769607" y="4395031"/>
            <a:ext cx="2692571" cy="1911701"/>
          </a:xfrm>
          <a:prstGeom prst="rect">
            <a:avLst/>
          </a:prstGeom>
        </p:spPr>
      </p:pic>
      <p:sp>
        <p:nvSpPr>
          <p:cNvPr id="11" name="Rectangle 10"/>
          <p:cNvSpPr/>
          <p:nvPr/>
        </p:nvSpPr>
        <p:spPr>
          <a:xfrm>
            <a:off x="3056822" y="3191025"/>
            <a:ext cx="816428" cy="653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solidFill>
                <a:schemeClr val="bg1"/>
              </a:solidFill>
            </a:endParaRPr>
          </a:p>
        </p:txBody>
      </p:sp>
      <p:sp>
        <p:nvSpPr>
          <p:cNvPr id="10" name="TextBox 9"/>
          <p:cNvSpPr txBox="1"/>
          <p:nvPr/>
        </p:nvSpPr>
        <p:spPr>
          <a:xfrm>
            <a:off x="1687967" y="2265993"/>
            <a:ext cx="5758543" cy="761747"/>
          </a:xfrm>
          <a:prstGeom prst="rect">
            <a:avLst/>
          </a:prstGeom>
          <a:noFill/>
        </p:spPr>
        <p:txBody>
          <a:bodyPr wrap="square" lIns="68580" tIns="34290" rIns="68580" bIns="34290" rtlCol="0">
            <a:spAutoFit/>
          </a:bodyPr>
          <a:lstStyle/>
          <a:p>
            <a:pPr algn="ctr"/>
            <a:r>
              <a:rPr lang="en-US" sz="4500" b="1">
                <a:solidFill>
                  <a:schemeClr val="bg1"/>
                </a:solidFill>
                <a:latin typeface="Open Sans" panose="020B0606030504020204" pitchFamily="34" charset="0"/>
                <a:ea typeface="Open Sans" panose="020B0606030504020204" pitchFamily="34" charset="0"/>
                <a:cs typeface="Open Sans" panose="020B0606030504020204" pitchFamily="34" charset="0"/>
              </a:rPr>
              <a:t>Thank You!</a:t>
            </a:r>
            <a:endParaRPr lang="en-US" sz="45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74683533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themeOverride>
</file>

<file path=docProps/app.xml><?xml version="1.0" encoding="utf-8"?>
<Properties xmlns="http://schemas.openxmlformats.org/officeDocument/2006/extended-properties" xmlns:vt="http://schemas.openxmlformats.org/officeDocument/2006/docPropsVTypes">
  <Template/>
  <TotalTime>22369</TotalTime>
  <Words>5800</Words>
  <Application>Microsoft Office PowerPoint</Application>
  <PresentationFormat>On-screen Show (16:9)</PresentationFormat>
  <Paragraphs>508</Paragraphs>
  <Slides>39</Slides>
  <Notes>38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39</vt:i4>
      </vt:variant>
    </vt:vector>
  </HeadingPairs>
  <TitlesOfParts>
    <vt:vector size="49" baseType="lpstr">
      <vt:lpstr>Arial</vt:lpstr>
      <vt:lpstr>Arial Narrow</vt:lpstr>
      <vt:lpstr>Calibri</vt:lpstr>
      <vt:lpstr>Century Gothic</vt:lpstr>
      <vt:lpstr>Open Sans</vt:lpstr>
      <vt:lpstr>Symbol</vt:lpstr>
      <vt:lpstr>Times New Roman</vt:lpstr>
      <vt:lpstr>Verdana</vt:lpstr>
      <vt:lpstr>Wingdings 3</vt:lpstr>
      <vt:lpstr>Ion Boardroom</vt:lpstr>
      <vt:lpstr>PowerPoint Presentation</vt:lpstr>
      <vt:lpstr>   Agenda  </vt:lpstr>
      <vt:lpstr>PowerPoint Presentation</vt:lpstr>
      <vt:lpstr>   CHAPTER 1</vt:lpstr>
      <vt:lpstr>   OBJECTIVES</vt:lpstr>
      <vt:lpstr>   SDLC and Testing</vt:lpstr>
      <vt:lpstr>   SDLC and Testing</vt:lpstr>
      <vt:lpstr>   SDLC and Testing</vt:lpstr>
      <vt:lpstr>   Waterfall Model</vt:lpstr>
      <vt:lpstr>   Testing in Waterfall Model</vt:lpstr>
      <vt:lpstr>   SDLC and Testing</vt:lpstr>
      <vt:lpstr>   Spiral Model</vt:lpstr>
      <vt:lpstr>   Testing in Spiral Model</vt:lpstr>
      <vt:lpstr>   SDLC and Testing</vt:lpstr>
      <vt:lpstr>   V-Model</vt:lpstr>
      <vt:lpstr>   Testing in V-Model</vt:lpstr>
      <vt:lpstr>   SDLC and Testing</vt:lpstr>
      <vt:lpstr>   Concurrent Model</vt:lpstr>
      <vt:lpstr>   Testing in Concurrent Model</vt:lpstr>
      <vt:lpstr>   SDLC and Testing</vt:lpstr>
      <vt:lpstr>   Agile Model</vt:lpstr>
      <vt:lpstr>   Agile Model</vt:lpstr>
      <vt:lpstr>   Agile Model</vt:lpstr>
      <vt:lpstr>   Agile Model</vt:lpstr>
      <vt:lpstr>   Testing in Agile Model</vt:lpstr>
      <vt:lpstr>   SDLC and Testing</vt:lpstr>
      <vt:lpstr>   Other SDLC Models</vt:lpstr>
      <vt:lpstr>   SDLC and Testing</vt:lpstr>
      <vt:lpstr>PowerPoint Presentation</vt:lpstr>
      <vt:lpstr>   Testing Phases and Milestones</vt:lpstr>
      <vt:lpstr>   SDLC and Testing</vt:lpstr>
      <vt:lpstr>PowerPoint Presentation</vt:lpstr>
      <vt:lpstr>PowerPoint Presentation</vt:lpstr>
      <vt:lpstr>PowerPoint Presentation</vt:lpstr>
      <vt:lpstr>PowerPoint Presentation</vt:lpstr>
      <vt:lpstr>PowerPoint Presentation</vt:lpstr>
      <vt:lpstr>PowerPoint Presentation</vt:lpstr>
      <vt:lpstr>   SUMMARY</vt:lpstr>
      <vt:lpstr>PowerPoint Presentation</vt:lpstr>
    </vt:vector>
  </TitlesOfParts>
  <Company>ltrc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General Testing Knowledge</dc:title>
  <dc:creator>mai.le</dc:creator>
  <cp:lastModifiedBy>Ánh Huyền</cp:lastModifiedBy>
  <cp:revision>1607</cp:revision>
  <dcterms:created xsi:type="dcterms:W3CDTF">2006-10-31T03:35:06Z</dcterms:created>
  <dcterms:modified xsi:type="dcterms:W3CDTF">2025-08-25T06:36:37Z</dcterms:modified>
</cp:coreProperties>
</file>